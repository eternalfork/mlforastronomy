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61" r:id="rId1"/>
  </p:sldMasterIdLst>
  <p:notesMasterIdLst>
    <p:notesMasterId r:id="rId35"/>
  </p:notesMasterIdLst>
  <p:sldIdLst>
    <p:sldId id="597" r:id="rId2"/>
    <p:sldId id="587" r:id="rId3"/>
    <p:sldId id="497" r:id="rId4"/>
    <p:sldId id="473" r:id="rId5"/>
    <p:sldId id="475" r:id="rId6"/>
    <p:sldId id="479" r:id="rId7"/>
    <p:sldId id="476" r:id="rId8"/>
    <p:sldId id="480" r:id="rId9"/>
    <p:sldId id="598" r:id="rId10"/>
    <p:sldId id="514" r:id="rId11"/>
    <p:sldId id="492" r:id="rId12"/>
    <p:sldId id="493" r:id="rId13"/>
    <p:sldId id="515" r:id="rId14"/>
    <p:sldId id="599" r:id="rId15"/>
    <p:sldId id="499" r:id="rId16"/>
    <p:sldId id="500" r:id="rId17"/>
    <p:sldId id="501" r:id="rId18"/>
    <p:sldId id="588" r:id="rId19"/>
    <p:sldId id="589" r:id="rId20"/>
    <p:sldId id="590" r:id="rId21"/>
    <p:sldId id="591" r:id="rId22"/>
    <p:sldId id="506" r:id="rId23"/>
    <p:sldId id="498" r:id="rId24"/>
    <p:sldId id="507" r:id="rId25"/>
    <p:sldId id="600" r:id="rId26"/>
    <p:sldId id="509" r:id="rId27"/>
    <p:sldId id="510" r:id="rId28"/>
    <p:sldId id="511" r:id="rId29"/>
    <p:sldId id="495" r:id="rId30"/>
    <p:sldId id="512" r:id="rId31"/>
    <p:sldId id="594" r:id="rId32"/>
    <p:sldId id="488" r:id="rId33"/>
    <p:sldId id="596" r:id="rId34"/>
  </p:sldIdLst>
  <p:sldSz cx="13004800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5pPr>
    <a:lvl6pPr marL="2286000" algn="l" defTabSz="457200" rtl="0" eaLnBrk="1" latinLnBrk="0" hangingPunct="1"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6pPr>
    <a:lvl7pPr marL="2743200" algn="l" defTabSz="457200" rtl="0" eaLnBrk="1" latinLnBrk="0" hangingPunct="1"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7pPr>
    <a:lvl8pPr marL="3200400" algn="l" defTabSz="457200" rtl="0" eaLnBrk="1" latinLnBrk="0" hangingPunct="1"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8pPr>
    <a:lvl9pPr marL="3657600" algn="l" defTabSz="457200" rtl="0" eaLnBrk="1" latinLnBrk="0" hangingPunct="1">
      <a:defRPr sz="3200" kern="1200">
        <a:solidFill>
          <a:srgbClr val="4A7594"/>
        </a:solidFill>
        <a:latin typeface="Helvetica Neue Bold Condensed" charset="0"/>
        <a:ea typeface="ヒラギノ角ゴ ProN W6" charset="0"/>
        <a:cs typeface="ヒラギノ角ゴ ProN W6" charset="0"/>
        <a:sym typeface="Helvetica Neue Bold Condensed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AAAA"/>
    <a:srgbClr val="009193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94418" autoAdjust="0"/>
  </p:normalViewPr>
  <p:slideViewPr>
    <p:cSldViewPr>
      <p:cViewPr varScale="1">
        <p:scale>
          <a:sx n="72" d="100"/>
          <a:sy n="72" d="100"/>
        </p:scale>
        <p:origin x="840" y="224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32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3ECB703B-55A8-CB49-B806-4B4D31A981B5}" type="datetimeFigureOut">
              <a:rPr lang="en-US" smtClean="0"/>
              <a:pPr/>
              <a:t>5/31/23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6FB31AFA-1213-A14C-91BC-540C88A910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65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1AFA-1213-A14C-91BC-540C88A9104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006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what happens for</a:t>
            </a:r>
            <a:r>
              <a:rPr lang="en-US" baseline="0" dirty="0"/>
              <a:t> the perfect classifier, a crappiest classifier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1AFA-1213-A14C-91BC-540C88A910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23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Micro: PR = (TP1+TP2+</a:t>
            </a:r>
            <a:r>
              <a:rPr lang="mr-IN" dirty="0"/>
              <a:t>…</a:t>
            </a:r>
            <a:r>
              <a:rPr lang="en-US" dirty="0"/>
              <a:t> )/(TP1</a:t>
            </a:r>
            <a:r>
              <a:rPr lang="en-US" baseline="0" dirty="0"/>
              <a:t> + TP2 + </a:t>
            </a:r>
            <a:r>
              <a:rPr lang="mr-IN" baseline="0" dirty="0"/>
              <a:t>…</a:t>
            </a:r>
            <a:r>
              <a:rPr lang="en-US" baseline="0" dirty="0"/>
              <a:t> FP1 +FP2</a:t>
            </a:r>
            <a:r>
              <a:rPr lang="mr-IN" baseline="0" dirty="0"/>
              <a:t>…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Macro: Average (PR1 + PR2 </a:t>
            </a:r>
            <a:r>
              <a:rPr lang="mr-IN" baseline="0" dirty="0"/>
              <a:t>…</a:t>
            </a:r>
            <a:r>
              <a:rPr lang="en-US" baseline="0" dirty="0"/>
              <a:t>. )/k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1AFA-1213-A14C-91BC-540C88A910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88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630" y="3394480"/>
            <a:ext cx="9869540" cy="23408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978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4875" y="6190285"/>
            <a:ext cx="7255053" cy="176340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70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30" indent="0" algn="ctr">
              <a:buNone/>
              <a:defRPr sz="2702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6C3B2-064B-354D-8C1F-514EB506E547}" type="datetime1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6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9356F-D5F2-F240-8665-C411DDB10310}" type="datetime1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5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581" y="3394480"/>
            <a:ext cx="9870643" cy="234086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978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4875" y="6190172"/>
            <a:ext cx="7255053" cy="179922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702">
                <a:solidFill>
                  <a:schemeClr val="tx1"/>
                </a:solidFill>
              </a:defRPr>
            </a:lvl1pPr>
            <a:lvl2pPr marL="650230" indent="0">
              <a:buNone/>
              <a:defRPr sz="2702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9FE14-C96F-2E4D-B6F3-AA2A4CFDA7DE}" type="datetime1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1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7630" y="3751885"/>
            <a:ext cx="4676299" cy="4411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0870" y="3751885"/>
            <a:ext cx="4679845" cy="4411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7E476-D7D5-6945-BA69-E09A83275445}" type="datetime1">
              <a:rPr lang="en-US" smtClean="0"/>
              <a:t>5/31/23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14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7629" y="3290218"/>
            <a:ext cx="4676301" cy="100136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702" b="0" cap="all" spc="142" baseline="0">
                <a:solidFill>
                  <a:schemeClr val="tx2"/>
                </a:solidFill>
              </a:defRPr>
            </a:lvl1pPr>
            <a:lvl2pPr marL="650230" indent="0">
              <a:buNone/>
              <a:defRPr sz="2702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629" y="4470400"/>
            <a:ext cx="4676301" cy="3693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60870" y="4470400"/>
            <a:ext cx="4679845" cy="369319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760870" y="3290218"/>
            <a:ext cx="4679845" cy="1001368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702" b="0" cap="all" spc="142" baseline="0">
                <a:solidFill>
                  <a:schemeClr val="tx2"/>
                </a:solidFill>
              </a:defRPr>
            </a:lvl1pPr>
            <a:lvl2pPr marL="650230" indent="0">
              <a:buNone/>
              <a:defRPr sz="2702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E0FA0-D9B2-4147-8208-908E8303C111}" type="datetime1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5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D7790-25FB-E54C-8B5C-4C642DDB5076}" type="datetime1">
              <a:rPr lang="en-US" smtClean="0"/>
              <a:t>5/31/23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4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5366D-45C0-654E-850E-66331EAE456A}" type="datetime1">
              <a:rPr lang="en-US" smtClean="0"/>
              <a:t>5/31/23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7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502400" y="0"/>
            <a:ext cx="6502400" cy="975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2" y="3191224"/>
            <a:ext cx="4679956" cy="1623462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98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5152" y="1144423"/>
            <a:ext cx="5136896" cy="7464755"/>
          </a:xfrm>
        </p:spPr>
        <p:txBody>
          <a:bodyPr>
            <a:normAutofit/>
          </a:bodyPr>
          <a:lstStyle>
            <a:lvl1pPr>
              <a:defRPr sz="2702">
                <a:solidFill>
                  <a:schemeClr val="tx1"/>
                </a:solidFill>
              </a:defRPr>
            </a:lvl1pPr>
            <a:lvl2pPr>
              <a:defRPr sz="2276">
                <a:solidFill>
                  <a:schemeClr val="tx1"/>
                </a:solidFill>
              </a:defRPr>
            </a:lvl2pPr>
            <a:lvl3pPr>
              <a:defRPr sz="2276">
                <a:solidFill>
                  <a:schemeClr val="tx1"/>
                </a:solidFill>
              </a:defRPr>
            </a:lvl3pPr>
            <a:lvl4pPr>
              <a:defRPr sz="2276">
                <a:solidFill>
                  <a:schemeClr val="tx1"/>
                </a:solidFill>
              </a:defRPr>
            </a:lvl4pPr>
            <a:lvl5pPr>
              <a:defRPr sz="2276">
                <a:solidFill>
                  <a:schemeClr val="tx1"/>
                </a:solidFill>
              </a:defRPr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7328" y="5048772"/>
            <a:ext cx="4047744" cy="312040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133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7A0C-CF11-F14C-BAC2-14841F16619E}" type="datetime1">
              <a:rPr lang="en-US" smtClean="0"/>
              <a:t>5/31/23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11222" y="8869274"/>
            <a:ext cx="5413544" cy="455168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Machine Learning for Physics and Astronomy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892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336" y="3191222"/>
            <a:ext cx="4681728" cy="16256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987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02401" y="0"/>
            <a:ext cx="6508904" cy="9753600"/>
          </a:xfr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4551">
                <a:solidFill>
                  <a:schemeClr val="tx1"/>
                </a:solidFill>
              </a:defRPr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7328" y="5048774"/>
            <a:ext cx="4047744" cy="312040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133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A368F6F-09DC-E54B-AB55-6E7297928F44}" type="datetime1">
              <a:rPr lang="en-US" smtClean="0"/>
              <a:t>5/31/23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10336" y="8869274"/>
            <a:ext cx="5409997" cy="455168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Machine Learning for Physics and Astronomy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0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32A6-097D-4F4F-A41A-EC7107E67D3B}" type="datetime1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29986" y="1332992"/>
            <a:ext cx="1498974" cy="70876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4155" y="1332992"/>
            <a:ext cx="6707447" cy="70876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B80F1-A54E-EA4C-A93D-A7D09BEDA789}" type="datetime1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for Physics and Astronomy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9E6DF-D4C8-A448-A59B-32DEB3070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4154" y="1372006"/>
            <a:ext cx="8444807" cy="169062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4154" y="3751887"/>
            <a:ext cx="8444807" cy="4411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03385" y="8872983"/>
            <a:ext cx="2937330" cy="4607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i="0">
                <a:solidFill>
                  <a:schemeClr val="tx1">
                    <a:alpha val="70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F55E4BC4-7CB9-CD42-A3C4-55BE39B91006}" type="datetime1">
              <a:rPr lang="en-US" smtClean="0"/>
              <a:t>5/31/23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7629" y="8869274"/>
            <a:ext cx="6480589" cy="455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 b="0" i="0">
                <a:solidFill>
                  <a:schemeClr val="tx1">
                    <a:alpha val="70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Machine Learning for Physics and Astronomy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19270" y="8843264"/>
            <a:ext cx="520192" cy="520192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564" b="0" i="0" spc="0" baseline="0">
                <a:solidFill>
                  <a:srgbClr val="FFFFFF"/>
                </a:solidFill>
                <a:latin typeface="Gill Sans MT" panose="020B0502020104020203" pitchFamily="34" charset="77"/>
              </a:defRPr>
            </a:lvl1pPr>
          </a:lstStyle>
          <a:p>
            <a:fld id="{23C9E6DF-D4C8-A448-A59B-32DEB3070F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78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hf sldNum="0" hdr="0" ftr="0" dt="0"/>
  <p:txStyles>
    <p:titleStyle>
      <a:lvl1pPr algn="ctr" defTabSz="1300460" rtl="0" eaLnBrk="1" latinLnBrk="0" hangingPunct="1">
        <a:lnSpc>
          <a:spcPct val="90000"/>
        </a:lnSpc>
        <a:spcBef>
          <a:spcPct val="0"/>
        </a:spcBef>
        <a:buNone/>
        <a:defRPr sz="3698" kern="1200" cap="all" spc="284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56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50230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75345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00460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625575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869411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>
          <a:solidFill>
            <a:schemeClr val="tx1"/>
          </a:solidFill>
          <a:latin typeface="+mn-lt"/>
          <a:ea typeface="+mn-ea"/>
          <a:cs typeface="+mn-cs"/>
        </a:defRPr>
      </a:lvl7pPr>
      <a:lvl8pPr marL="2357083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00919" indent="-325115" algn="l" defTabSz="1300460" rtl="0" eaLnBrk="1" latinLnBrk="0" hangingPunct="1">
        <a:lnSpc>
          <a:spcPct val="100000"/>
        </a:lnSpc>
        <a:spcBef>
          <a:spcPts val="1422"/>
        </a:spcBef>
        <a:buClr>
          <a:schemeClr val="accent2"/>
        </a:buClr>
        <a:buFont typeface="Arial" panose="020B0604020202020204" pitchFamily="34" charset="0"/>
        <a:buChar char="•"/>
        <a:defRPr sz="2276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7FCD31-B6A0-453B-AC5B-4A7F4219A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3004800" cy="6034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06880" y="3069336"/>
            <a:ext cx="9591040" cy="2340864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pPr defTabSz="914400"/>
            <a:r>
              <a:rPr lang="en-US" sz="3800" spc="200" dirty="0">
                <a:solidFill>
                  <a:srgbClr val="262626"/>
                </a:solidFill>
              </a:rPr>
              <a:t>Machine </a:t>
            </a:r>
            <a:r>
              <a:rPr lang="en-US" sz="3800" spc="200">
                <a:solidFill>
                  <a:srgbClr val="262626"/>
                </a:solidFill>
              </a:rPr>
              <a:t>learning </a:t>
            </a:r>
            <a:br>
              <a:rPr lang="en-US" sz="3800" spc="200">
                <a:solidFill>
                  <a:srgbClr val="262626"/>
                </a:solidFill>
              </a:rPr>
            </a:br>
            <a:r>
              <a:rPr lang="en-US" sz="3800" spc="200">
                <a:solidFill>
                  <a:srgbClr val="262626"/>
                </a:solidFill>
              </a:rPr>
              <a:t>for </a:t>
            </a:r>
            <a:r>
              <a:rPr lang="en-US" sz="3800" spc="200" dirty="0">
                <a:solidFill>
                  <a:srgbClr val="262626"/>
                </a:solidFill>
              </a:rPr>
              <a:t>physics and astronomy</a:t>
            </a:r>
            <a:br>
              <a:rPr lang="en-US" sz="3800" spc="200" dirty="0">
                <a:solidFill>
                  <a:srgbClr val="262626"/>
                </a:solidFill>
              </a:rPr>
            </a:br>
            <a:r>
              <a:rPr lang="en-US" sz="3800" spc="200" dirty="0">
                <a:solidFill>
                  <a:srgbClr val="262626"/>
                </a:solidFill>
              </a:rPr>
              <a:t>chapter 3</a:t>
            </a:r>
          </a:p>
        </p:txBody>
      </p:sp>
      <p:pic>
        <p:nvPicPr>
          <p:cNvPr id="7" name="Picture 6" descr="A black and white sign with white text&#10;&#10;Description automatically generated with low confidence">
            <a:extLst>
              <a:ext uri="{FF2B5EF4-FFF2-40B4-BE49-F238E27FC236}">
                <a16:creationId xmlns:a16="http://schemas.microsoft.com/office/drawing/2014/main" id="{5BD25916-D4C1-2749-95F2-C1F61B83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800" y="8263890"/>
            <a:ext cx="3378200" cy="1182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7DB0E6-33BA-7C43-AD1F-3025890A5962}"/>
              </a:ext>
            </a:extLst>
          </p:cNvPr>
          <p:cNvSpPr txBox="1"/>
          <p:nvPr/>
        </p:nvSpPr>
        <p:spPr>
          <a:xfrm>
            <a:off x="406400" y="384301"/>
            <a:ext cx="3144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Viviana </a:t>
            </a:r>
            <a:r>
              <a:rPr lang="en-US" dirty="0" err="1">
                <a:solidFill>
                  <a:schemeClr val="tx1"/>
                </a:solidFill>
                <a:latin typeface="+mj-lt"/>
              </a:rPr>
              <a:t>Acquaviva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" name="Picture 10" descr="A picture containing text, font, graphics, poster&#10;&#10;Description automatically generated">
            <a:extLst>
              <a:ext uri="{FF2B5EF4-FFF2-40B4-BE49-F238E27FC236}">
                <a16:creationId xmlns:a16="http://schemas.microsoft.com/office/drawing/2014/main" id="{2A24A238-B824-E84E-969A-AF0D866B5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49" y="307340"/>
            <a:ext cx="1613751" cy="171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3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7C61-8185-1D46-A59F-1B0BD1939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2209800"/>
            <a:ext cx="9735370" cy="3525544"/>
          </a:xfrm>
        </p:spPr>
        <p:txBody>
          <a:bodyPr>
            <a:normAutofit/>
          </a:bodyPr>
          <a:lstStyle/>
          <a:p>
            <a:r>
              <a:rPr lang="en-US" dirty="0"/>
              <a:t>Performance Metrics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262347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0" y="685800"/>
            <a:ext cx="10728960" cy="1192585"/>
          </a:xfrm>
        </p:spPr>
        <p:txBody>
          <a:bodyPr/>
          <a:lstStyle/>
          <a:p>
            <a:pPr algn="ctr"/>
            <a:r>
              <a:rPr lang="en-US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DT vs KNN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85204" y="2133600"/>
            <a:ext cx="69525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So far, we have looked at Decision Trees </a:t>
            </a:r>
          </a:p>
          <a:p>
            <a:r>
              <a:rPr lang="en-US" dirty="0">
                <a:latin typeface="Gill Sans MT" panose="020B0502020104020203" pitchFamily="34" charset="77"/>
              </a:rPr>
              <a:t>and k Nearest Neighbors algorithm.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1573" y="3530818"/>
            <a:ext cx="7479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Let’s think about strengths and weaknesses.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9800" y="4495800"/>
            <a:ext cx="11582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0070C0"/>
                </a:solidFill>
                <a:latin typeface="Gill Sans MT" panose="020B0502020104020203" pitchFamily="34" charset="77"/>
              </a:rPr>
              <a:t>Weaknesses:</a:t>
            </a:r>
          </a:p>
          <a:p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Both: they work well only if they have seen similar examples. </a:t>
            </a:r>
          </a:p>
          <a:p>
            <a:r>
              <a:rPr lang="en-US" sz="2600" dirty="0">
                <a:solidFill>
                  <a:srgbClr val="FF0000"/>
                </a:solidFill>
                <a:latin typeface="Gill Sans MT" panose="020B0502020104020203" pitchFamily="34" charset="77"/>
              </a:rPr>
              <a:t>Poor extrapolation properties</a:t>
            </a:r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, tend to squeeze distributions towards the mean</a:t>
            </a:r>
          </a:p>
          <a:p>
            <a:endParaRPr lang="en-US" sz="2600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r>
              <a:rPr lang="en-US" sz="2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kNN</a:t>
            </a:r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: </a:t>
            </a:r>
            <a:r>
              <a:rPr lang="en-US" sz="2600" dirty="0">
                <a:solidFill>
                  <a:srgbClr val="FF0000"/>
                </a:solidFill>
                <a:latin typeface="Gill Sans MT" panose="020B0502020104020203" pitchFamily="34" charset="77"/>
              </a:rPr>
              <a:t>needs scaling </a:t>
            </a:r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otherwise one component may be dominant. </a:t>
            </a:r>
          </a:p>
          <a:p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Can’t weigh different features differently</a:t>
            </a:r>
          </a:p>
          <a:p>
            <a:endParaRPr lang="en-US" sz="2600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DT: can only split along features, feature engineering quite important.</a:t>
            </a:r>
          </a:p>
          <a:p>
            <a:endParaRPr lang="en-US" sz="2600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r>
              <a:rPr lang="en-US" sz="2600" dirty="0">
                <a:solidFill>
                  <a:srgbClr val="0070C0"/>
                </a:solidFill>
                <a:latin typeface="Gill Sans MT" panose="020B0502020104020203" pitchFamily="34" charset="77"/>
              </a:rPr>
              <a:t>Strengths: </a:t>
            </a:r>
          </a:p>
          <a:p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DT: Interpretable, </a:t>
            </a:r>
            <a:r>
              <a:rPr lang="en-US" sz="2600" dirty="0" err="1">
                <a:solidFill>
                  <a:schemeClr val="tx1"/>
                </a:solidFill>
                <a:latin typeface="Gill Sans MT" panose="020B0502020104020203" pitchFamily="34" charset="77"/>
              </a:rPr>
              <a:t>kNN</a:t>
            </a:r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: fast </a:t>
            </a:r>
          </a:p>
          <a:p>
            <a:r>
              <a:rPr lang="en-US" sz="2600" dirty="0">
                <a:solidFill>
                  <a:schemeClr val="tx1"/>
                </a:solidFill>
                <a:latin typeface="Gill Sans MT" panose="020B0502020104020203" pitchFamily="34" charset="77"/>
              </a:rPr>
              <a:t>Both: accurate if there is a well sampled learning set</a:t>
            </a:r>
          </a:p>
        </p:txBody>
      </p:sp>
    </p:spTree>
    <p:extLst>
      <p:ext uri="{BB962C8B-B14F-4D97-AF65-F5344CB8AC3E}">
        <p14:creationId xmlns:p14="http://schemas.microsoft.com/office/powerpoint/2010/main" val="63765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3200" y="533400"/>
            <a:ext cx="10541000" cy="13716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Beyond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4600" y="2514600"/>
            <a:ext cx="11049000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Until now, we have “judged” algorithms by the percentage of correct answers. This metric is called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accuracy. 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Now imagine building an algorithm to look for rare objects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(e.g. habitable planets).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The data contains 1,000 instances.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Of those, 10 belong to the “interesting” class.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(the data set is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imbalanced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: the target values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are not distributed uniformly).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You feel lazy and propose an algorithm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that says that there are no habitable planets.</a:t>
            </a:r>
          </a:p>
          <a:p>
            <a:endParaRPr lang="en-US" sz="4000" dirty="0">
              <a:solidFill>
                <a:schemeClr val="accent5"/>
              </a:solidFill>
              <a:latin typeface="Gill Sans MT" panose="020B0502020104020203" pitchFamily="34" charset="77"/>
            </a:endParaRPr>
          </a:p>
          <a:p>
            <a:r>
              <a:rPr lang="en-US" sz="4000" dirty="0">
                <a:solidFill>
                  <a:schemeClr val="accent5">
                    <a:lumMod val="50000"/>
                  </a:schemeClr>
                </a:solidFill>
                <a:latin typeface="Gill Sans MT" panose="020B0502020104020203" pitchFamily="34" charset="77"/>
              </a:rPr>
              <a:t>What is its accuracy (% of correct predictions)?</a:t>
            </a:r>
          </a:p>
        </p:txBody>
      </p:sp>
    </p:spTree>
    <p:extLst>
      <p:ext uri="{BB962C8B-B14F-4D97-AF65-F5344CB8AC3E}">
        <p14:creationId xmlns:p14="http://schemas.microsoft.com/office/powerpoint/2010/main" val="213541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40000" y="336550"/>
            <a:ext cx="8966200" cy="1384300"/>
          </a:xfrm>
        </p:spPr>
        <p:txBody>
          <a:bodyPr>
            <a:noAutofit/>
          </a:bodyPr>
          <a:lstStyle/>
          <a:p>
            <a:r>
              <a:rPr lang="en-US" sz="4200" dirty="0"/>
              <a:t>Picking a performance metric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2297" y="2479453"/>
            <a:ext cx="52103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Gill Sans MT" panose="020B0502020104020203" pitchFamily="34" charset="77"/>
              </a:rPr>
              <a:t>“The accuracy paradox”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9690" y="3210328"/>
            <a:ext cx="6215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Accuracy = % of correct predictions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686" y="3898697"/>
            <a:ext cx="3962400" cy="2971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34153" y="4599767"/>
            <a:ext cx="27494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meaningless in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unbalanced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data set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98054" y="7375080"/>
            <a:ext cx="541366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For our dataset : 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Accuracy = 990/1000 = 99.0%! </a:t>
            </a:r>
          </a:p>
        </p:txBody>
      </p:sp>
    </p:spTree>
    <p:extLst>
      <p:ext uri="{BB962C8B-B14F-4D97-AF65-F5344CB8AC3E}">
        <p14:creationId xmlns:p14="http://schemas.microsoft.com/office/powerpoint/2010/main" val="56158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7386" y="554331"/>
            <a:ext cx="10947400" cy="1384300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Evaluating classifiers performance:</a:t>
            </a:r>
            <a:br>
              <a:rPr lang="en-US" sz="3500" dirty="0"/>
            </a:br>
            <a:r>
              <a:rPr lang="en-US" sz="3500" dirty="0"/>
              <a:t>beyond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78" y="8541264"/>
            <a:ext cx="11729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Accuracy = % of correct predictions           TP+TN/(TP+TN+FP+FN)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0768" y="2425275"/>
            <a:ext cx="718029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Gill Sans MT" panose="020B0502020104020203" pitchFamily="34" charset="77"/>
              </a:rPr>
              <a:t>For a binary classifier where the “true”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Gill Sans MT" panose="020B0502020104020203" pitchFamily="34" charset="77"/>
              </a:rPr>
              <a:t>or desired class is defined to be positive,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every metric is enclosed by four numbers:</a:t>
            </a:r>
          </a:p>
          <a:p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4444341"/>
            <a:ext cx="4330700" cy="3733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/>
          <p:cNvSpPr txBox="1"/>
          <p:nvPr/>
        </p:nvSpPr>
        <p:spPr>
          <a:xfrm>
            <a:off x="1479137" y="4438686"/>
            <a:ext cx="370947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TP = True Positives</a:t>
            </a:r>
          </a:p>
          <a:p>
            <a:pPr algn="just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TN = True Negatives</a:t>
            </a:r>
          </a:p>
          <a:p>
            <a:pPr algn="just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FP = False Positives</a:t>
            </a:r>
          </a:p>
          <a:p>
            <a:pPr algn="just"/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FN = False Negatives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1882" y="4438687"/>
            <a:ext cx="34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1800" y="5369767"/>
            <a:ext cx="1029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Gill Sans MT" panose="020B0502020104020203" pitchFamily="34" charset="77"/>
              </a:rPr>
              <a:t>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3282" y="6367308"/>
            <a:ext cx="1029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Gill Sans MT" panose="020B0502020104020203" pitchFamily="34" charset="77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3282" y="7364849"/>
            <a:ext cx="1029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Gill Sans MT" panose="020B0502020104020203" pitchFamily="34" charset="77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976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  <p:bldP spid="10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600" y="457200"/>
            <a:ext cx="7594600" cy="1676400"/>
          </a:xfrm>
        </p:spPr>
        <p:txBody>
          <a:bodyPr/>
          <a:lstStyle/>
          <a:p>
            <a:r>
              <a:rPr lang="en-US"/>
              <a:t>Alternative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335" y="2795985"/>
            <a:ext cx="1159708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precision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 = percentage of correct positive classifications TP/(TP + FP)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recall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 = percentage of “caught” positive instances = TP/(TP+FN)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3472" y="4882421"/>
            <a:ext cx="58786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For our lazy classifier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</a:rPr>
              <a:t>TP = 0; TN = 990; FP = 0; FN =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147" y="6968858"/>
            <a:ext cx="82454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Will have undefined precision and 0 recall </a:t>
            </a:r>
          </a:p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</a:rPr>
              <a:t>so we’ll be able to know that something is amiss.</a:t>
            </a:r>
          </a:p>
        </p:txBody>
      </p:sp>
    </p:spTree>
    <p:extLst>
      <p:ext uri="{BB962C8B-B14F-4D97-AF65-F5344CB8AC3E}">
        <p14:creationId xmlns:p14="http://schemas.microsoft.com/office/powerpoint/2010/main" val="30110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29450" y="6705600"/>
            <a:ext cx="1072864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  <a:latin typeface="Gill Sans MT" panose="020B0502020104020203" pitchFamily="34" charset="77"/>
              </a:rPr>
              <a:t>WHAT DO YOU CARE ABOUT?</a:t>
            </a:r>
          </a:p>
          <a:p>
            <a:endParaRPr lang="en-US" sz="3600" dirty="0">
              <a:solidFill>
                <a:schemeClr val="accent2">
                  <a:lumMod val="7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Gill Sans MT" panose="020B0502020104020203" pitchFamily="34" charset="77"/>
              </a:rPr>
              <a:t>The best metric can only be decided by you on the basis</a:t>
            </a:r>
          </a:p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Gill Sans MT" panose="020B0502020104020203" pitchFamily="34" charset="77"/>
              </a:rPr>
              <a:t>of the science you want to do (can be custom!)</a:t>
            </a:r>
          </a:p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" y="2819400"/>
            <a:ext cx="1290904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In physics (or at least astrophysics), we often talk of precision </a:t>
            </a:r>
          </a:p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as </a:t>
            </a: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77"/>
              </a:rPr>
              <a:t>purity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, or 1 </a:t>
            </a:r>
            <a:r>
              <a:rPr lang="mr-I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–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precision as </a:t>
            </a: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77"/>
              </a:rPr>
              <a:t>contamination</a:t>
            </a:r>
          </a:p>
          <a:p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Recall is IMO best visualized as </a:t>
            </a: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77"/>
              </a:rPr>
              <a:t>completeness</a:t>
            </a:r>
          </a:p>
          <a:p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Another common one is F1-score = weighted avg of precision/recall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46400" y="381000"/>
            <a:ext cx="7594600" cy="1676400"/>
          </a:xfrm>
        </p:spPr>
        <p:txBody>
          <a:bodyPr/>
          <a:lstStyle/>
          <a:p>
            <a:r>
              <a:rPr lang="en-US" dirty="0"/>
              <a:t>Alternative metrics</a:t>
            </a:r>
          </a:p>
        </p:txBody>
      </p:sp>
    </p:spTree>
    <p:extLst>
      <p:ext uri="{BB962C8B-B14F-4D97-AF65-F5344CB8AC3E}">
        <p14:creationId xmlns:p14="http://schemas.microsoft.com/office/powerpoint/2010/main" val="117331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D7A6-12B4-8940-BEA4-8B63D3DA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996" y="609600"/>
            <a:ext cx="8444807" cy="1690624"/>
          </a:xfrm>
        </p:spPr>
        <p:txBody>
          <a:bodyPr anchor="ctr"/>
          <a:lstStyle/>
          <a:p>
            <a:r>
              <a:rPr lang="en-US" dirty="0"/>
              <a:t>Precision vs recall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DF08A-A74F-9945-B543-C4BA4204DB78}"/>
              </a:ext>
            </a:extLst>
          </p:cNvPr>
          <p:cNvSpPr txBox="1"/>
          <p:nvPr/>
        </p:nvSpPr>
        <p:spPr>
          <a:xfrm>
            <a:off x="2006600" y="5890538"/>
            <a:ext cx="961647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High precision: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“Don’t waste my time”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(few FP, more FN)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High recall: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“Get them all” 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(few FN, more FP) </a:t>
            </a:r>
          </a:p>
          <a:p>
            <a:r>
              <a:rPr lang="en-US" dirty="0">
                <a:latin typeface="+mj-lt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3D428-A349-3D45-98F0-62E2B434562E}"/>
              </a:ext>
            </a:extLst>
          </p:cNvPr>
          <p:cNvSpPr txBox="1"/>
          <p:nvPr/>
        </p:nvSpPr>
        <p:spPr>
          <a:xfrm>
            <a:off x="558801" y="3048001"/>
            <a:ext cx="11963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In general, there is a trade-off between precision and recall.</a:t>
            </a:r>
          </a:p>
          <a:p>
            <a:endParaRPr lang="en-US" dirty="0">
              <a:solidFill>
                <a:schemeClr val="tx1"/>
              </a:solidFill>
              <a:latin typeface="+mj-lt"/>
            </a:endParaRPr>
          </a:p>
          <a:p>
            <a:r>
              <a:rPr lang="en-US" dirty="0">
                <a:solidFill>
                  <a:schemeClr val="tx1"/>
                </a:solidFill>
                <a:latin typeface="+mj-lt"/>
              </a:rPr>
              <a:t>It’s hard to get both types of errors (FN and FP) down, but you can choose to have fewer errors of one type.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2A479-0618-F942-B5EE-5D144CFC1649}"/>
              </a:ext>
            </a:extLst>
          </p:cNvPr>
          <p:cNvSpPr txBox="1"/>
          <p:nvPr/>
        </p:nvSpPr>
        <p:spPr>
          <a:xfrm>
            <a:off x="6814839" y="8851612"/>
            <a:ext cx="5398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* 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Heard from Cassie </a:t>
            </a:r>
            <a:r>
              <a:rPr lang="en-US" dirty="0" err="1">
                <a:solidFill>
                  <a:srgbClr val="002060"/>
                </a:solidFill>
                <a:latin typeface="+mj-lt"/>
              </a:rPr>
              <a:t>Kozyrkov</a:t>
            </a:r>
            <a:r>
              <a:rPr lang="en-US" dirty="0">
                <a:solidFill>
                  <a:srgbClr val="002060"/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161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457200"/>
            <a:ext cx="11201400" cy="149738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Visual Mnemonics: 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green over blue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169" y="3352800"/>
            <a:ext cx="1050862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00" y="503994"/>
            <a:ext cx="10541000" cy="1155700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A few words about ROC and 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2949" y="2272204"/>
            <a:ext cx="12192000" cy="1066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77"/>
              </a:rPr>
              <a:t>ROC (Receiving Operator Characteristic) is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77"/>
              </a:rPr>
              <a:t>a plot of TPR (True Positive Rate) vs FPR (False Positive Rate)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92949" y="4123531"/>
            <a:ext cx="47019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TPR = TP/(TP+FN) = recall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5311" y="4105318"/>
            <a:ext cx="409734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FPR = FP/(TN+FP)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(swap F       T in recall)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1194" y="6031752"/>
            <a:ext cx="412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How can this be a plot?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7536" y="7203420"/>
            <a:ext cx="103723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The trick is to calculate it for different probability thresholds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of belonging to the positive class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(as opposed to the “standard” 0.5)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9EEFD4-55FC-AE46-96A3-AF2F5C51F578}"/>
              </a:ext>
            </a:extLst>
          </p:cNvPr>
          <p:cNvCxnSpPr>
            <a:cxnSpLocks/>
          </p:cNvCxnSpPr>
          <p:nvPr/>
        </p:nvCxnSpPr>
        <p:spPr>
          <a:xfrm>
            <a:off x="9140581" y="4876800"/>
            <a:ext cx="533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68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200" y="304800"/>
            <a:ext cx="10541000" cy="11557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 few words about ROC and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949" y="6629400"/>
            <a:ext cx="20920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AUC =</a:t>
            </a:r>
          </a:p>
          <a:p>
            <a:r>
              <a:rPr lang="en-US" dirty="0">
                <a:latin typeface="Gill Sans MT" panose="020B0502020104020203" pitchFamily="34" charset="77"/>
              </a:rPr>
              <a:t>area under </a:t>
            </a:r>
          </a:p>
          <a:p>
            <a:r>
              <a:rPr lang="en-US" dirty="0">
                <a:latin typeface="Gill Sans MT" panose="020B0502020104020203" pitchFamily="34" charset="77"/>
              </a:rPr>
              <a:t>the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0" y="1992964"/>
            <a:ext cx="12192000" cy="1066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77"/>
              </a:rPr>
              <a:t>ROC (receiving operator characteristic) is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77"/>
              </a:rPr>
              <a:t>a plot of TPR (True Positive Rate) vs FPR (False Positive 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2949" y="4123531"/>
            <a:ext cx="47019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TPR = TP/(TP+FN) =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138" y="3877309"/>
            <a:ext cx="35999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FPR = FP/(TN+FP)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(swap F-&gt;T in recall)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F3B63ABC-7900-6544-89B3-89BA6D34FE1E}"/>
              </a:ext>
            </a:extLst>
          </p:cNvPr>
          <p:cNvSpPr/>
          <p:nvPr/>
        </p:nvSpPr>
        <p:spPr>
          <a:xfrm>
            <a:off x="4368800" y="8763000"/>
            <a:ext cx="914400" cy="914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line, screenshot, diagram&#10;&#10;Description automatically generated">
            <a:extLst>
              <a:ext uri="{FF2B5EF4-FFF2-40B4-BE49-F238E27FC236}">
                <a16:creationId xmlns:a16="http://schemas.microsoft.com/office/drawing/2014/main" id="{C9013738-2A65-1847-A30A-B4221052E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00" y="5045295"/>
            <a:ext cx="47498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5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432" y="407615"/>
            <a:ext cx="10728960" cy="1649785"/>
          </a:xfrm>
        </p:spPr>
        <p:txBody>
          <a:bodyPr>
            <a:norm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Metrics: Optimizing vs viewing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318" y="2514600"/>
            <a:ext cx="1221328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Important:</a:t>
            </a:r>
          </a:p>
          <a:p>
            <a:pPr algn="l"/>
            <a:endParaRPr lang="en-US" dirty="0">
              <a:solidFill>
                <a:schemeClr val="accent2">
                  <a:lumMod val="75000"/>
                </a:schemeClr>
              </a:solidFill>
              <a:latin typeface="Gill Sans MT" panose="020B0502020104020203" pitchFamily="34" charset="77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There is a big difference between choosing the optimal metric (e.g., precision vs accuracy) when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comparing</a:t>
            </a: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 models (for example, when we choose between </a:t>
            </a:r>
            <a:r>
              <a:rPr lang="en-US" dirty="0" err="1">
                <a:solidFill>
                  <a:schemeClr val="tx1"/>
                </a:solidFill>
                <a:latin typeface="Gill Sans MT" panose="020B0502020104020203" pitchFamily="34" charset="77"/>
              </a:rPr>
              <a:t>kNN</a:t>
            </a: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 or DT or when we select parameters) and choosing the metric that is optimized when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building</a:t>
            </a: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 models. </a:t>
            </a:r>
          </a:p>
          <a:p>
            <a:pPr algn="l"/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For example, in a decision tree, would choosing accuracy or recall change the optimal splits of a given training set? </a:t>
            </a:r>
          </a:p>
          <a:p>
            <a:pPr algn="l"/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Why or why not?</a:t>
            </a:r>
          </a:p>
          <a:p>
            <a:pPr algn="l"/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Many algorithms, especially in </a:t>
            </a:r>
            <a:r>
              <a:rPr lang="en-US" dirty="0" err="1">
                <a:solidFill>
                  <a:schemeClr val="tx1"/>
                </a:solidFill>
                <a:latin typeface="Gill Sans MT" panose="020B0502020104020203" pitchFamily="34" charset="77"/>
              </a:rPr>
              <a:t>sklearn</a:t>
            </a: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, have a hard coded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loss function</a:t>
            </a: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051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7C61-8185-1D46-A59F-1B0BD1939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1800" y="2209800"/>
            <a:ext cx="9735370" cy="3525544"/>
          </a:xfrm>
        </p:spPr>
        <p:txBody>
          <a:bodyPr>
            <a:normAutofit/>
          </a:bodyPr>
          <a:lstStyle/>
          <a:p>
            <a:r>
              <a:rPr lang="en-US" dirty="0"/>
              <a:t>Good practices: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cross validation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155641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20800" y="609600"/>
            <a:ext cx="10541000" cy="5105400"/>
          </a:xfrm>
        </p:spPr>
        <p:txBody>
          <a:bodyPr>
            <a:norm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The goal of the training set and test set split is to be able to evaluate performance on </a:t>
            </a:r>
            <a:r>
              <a:rPr lang="en-US" sz="4200" dirty="0">
                <a:solidFill>
                  <a:srgbClr val="FF000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unseen</a:t>
            </a: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 examples. 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The test set “mimics” new data.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endParaRPr lang="en-US" sz="4200" dirty="0">
              <a:latin typeface="Gill Sans MT" panose="020B0502020104020203" pitchFamily="34" charset="77"/>
              <a:ea typeface="Helvetica Neue Condensed" charset="0"/>
              <a:cs typeface="Helvetica Neue Condensed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16200" y="6400800"/>
            <a:ext cx="81419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kern="0" dirty="0">
                <a:solidFill>
                  <a:srgbClr val="0070C0"/>
                </a:solidFill>
                <a:latin typeface="Gill Sans MT" panose="020B0502020104020203" pitchFamily="34" charset="77"/>
                <a:ea typeface="ヒラギノ角ゴ ProN W6"/>
                <a:cs typeface="ヒラギノ角ゴ ProN W6"/>
              </a:rPr>
              <a:t>However, it might be better to pick </a:t>
            </a:r>
          </a:p>
          <a:p>
            <a:r>
              <a:rPr lang="en-US" sz="4200" kern="0" dirty="0">
                <a:solidFill>
                  <a:srgbClr val="0070C0"/>
                </a:solidFill>
                <a:latin typeface="Gill Sans MT" panose="020B0502020104020203" pitchFamily="34" charset="77"/>
                <a:ea typeface="ヒラギノ角ゴ ProN W6"/>
                <a:cs typeface="ヒラギノ角ゴ ProN W6"/>
              </a:rPr>
              <a:t>more than one test split.</a:t>
            </a:r>
            <a:br>
              <a:rPr lang="en-US" sz="4200" kern="0" dirty="0">
                <a:solidFill>
                  <a:srgbClr val="0070C0"/>
                </a:solidFill>
                <a:latin typeface="Gill Sans MT" panose="020B0502020104020203" pitchFamily="34" charset="77"/>
                <a:ea typeface="ヒラギノ角ゴ ProN W6"/>
                <a:cs typeface="ヒラギノ角ゴ ProN W6"/>
              </a:rPr>
            </a:br>
            <a:r>
              <a:rPr lang="en-US" sz="4200" kern="0" dirty="0">
                <a:solidFill>
                  <a:srgbClr val="0070C0"/>
                </a:solidFill>
                <a:latin typeface="Gill Sans MT" panose="020B0502020104020203" pitchFamily="34" charset="77"/>
                <a:ea typeface="ヒラギノ角ゴ ProN W6"/>
                <a:cs typeface="ヒラギノ角ゴ ProN W6"/>
              </a:rPr>
              <a:t>Why would this be a good idea?</a:t>
            </a:r>
            <a:endParaRPr lang="en-US" sz="4200" dirty="0">
              <a:solidFill>
                <a:srgbClr val="0070C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56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6286" y="304800"/>
            <a:ext cx="13004800" cy="5410200"/>
          </a:xfrm>
        </p:spPr>
        <p:txBody>
          <a:bodyPr>
            <a:noAutofit/>
          </a:bodyPr>
          <a:lstStyle/>
          <a:p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1. We use all the training data</a:t>
            </a: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2. We avoid the risk of under/overestimating performance because of a “non-typical” pick of train/test split. </a:t>
            </a: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3. We get an estimate how how much scores fluctuate because of variance in data.</a:t>
            </a: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3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endParaRPr lang="en-US" sz="3200" dirty="0">
              <a:solidFill>
                <a:srgbClr val="00B050"/>
              </a:solidFill>
              <a:latin typeface="Gill Sans MT" panose="020B0502020104020203" pitchFamily="34" charset="77"/>
              <a:ea typeface="Helvetica Neue Condensed" charset="0"/>
              <a:cs typeface="Helvetica Neue Condensed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4957" y="8458200"/>
            <a:ext cx="1175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Note: issues are particularly relevant when the learning set is small.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E90C7-62B3-1C4B-8BA2-5722BCF15A55}"/>
              </a:ext>
            </a:extLst>
          </p:cNvPr>
          <p:cNvSpPr/>
          <p:nvPr/>
        </p:nvSpPr>
        <p:spPr>
          <a:xfrm>
            <a:off x="3287486" y="6400800"/>
            <a:ext cx="65024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(think about what happened with our two train/test splits for DT/</a:t>
            </a:r>
            <a:r>
              <a:rPr lang="en-US" dirty="0" err="1">
                <a:solidFill>
                  <a:srgbClr val="0070C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kNN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4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1969" y="304800"/>
            <a:ext cx="9974262" cy="129282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9400" y="23622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959600" y="38100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307114" y="44849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TRAIN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4292600" y="4495800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2832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2738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2644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0639" y="80772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</p:spTree>
    <p:extLst>
      <p:ext uri="{BB962C8B-B14F-4D97-AF65-F5344CB8AC3E}">
        <p14:creationId xmlns:p14="http://schemas.microsoft.com/office/powerpoint/2010/main" val="21167911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1969" y="304800"/>
            <a:ext cx="9974262" cy="129282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9400" y="23622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959600" y="38100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307114" y="44849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         TRAIN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2832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2738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2644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0639" y="80772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9AFF3-1E35-314F-BFEC-1D9F7DA30213}"/>
              </a:ext>
            </a:extLst>
          </p:cNvPr>
          <p:cNvSpPr/>
          <p:nvPr/>
        </p:nvSpPr>
        <p:spPr bwMode="auto">
          <a:xfrm>
            <a:off x="5283200" y="4474025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91836105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1969" y="304800"/>
            <a:ext cx="9974262" cy="129282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9400" y="23622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959600" y="38100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307114" y="44849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                         TRAIN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6259286" y="4517571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2832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2738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2644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0639" y="80772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</p:spTree>
    <p:extLst>
      <p:ext uri="{BB962C8B-B14F-4D97-AF65-F5344CB8AC3E}">
        <p14:creationId xmlns:p14="http://schemas.microsoft.com/office/powerpoint/2010/main" val="329763096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1969" y="304800"/>
            <a:ext cx="9974262" cy="129282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9400" y="23622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959600" y="38100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307114" y="44849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       TRAIN                              </a:t>
            </a: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264400" y="4506688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2832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2738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2644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0639" y="80772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</p:spTree>
    <p:extLst>
      <p:ext uri="{BB962C8B-B14F-4D97-AF65-F5344CB8AC3E}">
        <p14:creationId xmlns:p14="http://schemas.microsoft.com/office/powerpoint/2010/main" val="73637793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81969" y="304800"/>
            <a:ext cx="9974262" cy="1292825"/>
          </a:xfrm>
        </p:spPr>
        <p:txBody>
          <a:bodyPr>
            <a:no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59400" y="23622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959600" y="38100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4307114" y="44849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            TRAIN                              </a:t>
            </a: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52832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62738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2644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8255000" y="44958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0639" y="80772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</p:spTree>
    <p:extLst>
      <p:ext uri="{BB962C8B-B14F-4D97-AF65-F5344CB8AC3E}">
        <p14:creationId xmlns:p14="http://schemas.microsoft.com/office/powerpoint/2010/main" val="45947258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4000" y="2614642"/>
            <a:ext cx="547795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J"/>
            </a:pP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  <a:sym typeface="Wingdings"/>
              </a:rPr>
              <a:t>We use all learning data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  <a:sym typeface="Wingdings"/>
              </a:rPr>
              <a:t>(all objects are equally represented)</a:t>
            </a:r>
          </a:p>
          <a:p>
            <a:pPr marL="457200" indent="-457200">
              <a:buFont typeface="Wingdings" charset="2"/>
              <a:buChar char="J"/>
            </a:pPr>
            <a:endParaRPr lang="en-US" dirty="0">
              <a:solidFill>
                <a:schemeClr val="tx1"/>
              </a:solidFill>
              <a:latin typeface="Gill Sans MT" panose="020B0502020104020203" pitchFamily="34" charset="77"/>
              <a:sym typeface="Wingdings"/>
            </a:endParaRPr>
          </a:p>
          <a:p>
            <a:pPr marL="457200" indent="-457200">
              <a:buFont typeface="Wingdings" charset="2"/>
              <a:buChar char="J"/>
            </a:pPr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The mean/standard deviation 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of scores vector</a:t>
            </a: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gives us an idea of average performance + uncertainty </a:t>
            </a:r>
          </a:p>
          <a:p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  <a:sym typeface="Wingdings"/>
              </a:rPr>
              <a:t> It takes 5x more time to run</a:t>
            </a:r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  <a:p>
            <a:endParaRPr lang="en-US" dirty="0">
              <a:solidFill>
                <a:schemeClr val="tx1"/>
              </a:solidFill>
              <a:latin typeface="Gill Sans MT" panose="020B0502020104020203" pitchFamily="34" charset="7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7B1A21-317B-2044-AD3B-998FE2610ABF}"/>
              </a:ext>
            </a:extLst>
          </p:cNvPr>
          <p:cNvSpPr/>
          <p:nvPr/>
        </p:nvSpPr>
        <p:spPr>
          <a:xfrm>
            <a:off x="7880917" y="2209800"/>
            <a:ext cx="3399521" cy="1369025"/>
          </a:xfrm>
          <a:prstGeom prst="rect">
            <a:avLst/>
          </a:prstGeom>
          <a:solidFill>
            <a:schemeClr val="accent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0046" tIns="65023" rIns="130046" bIns="65023" rtlCol="0" anchor="ctr"/>
          <a:lstStyle/>
          <a:p>
            <a:r>
              <a:rPr lang="en-US" dirty="0"/>
              <a:t>LEARNING SET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021898-4FB1-5B45-B07B-6F54FAD67C75}"/>
              </a:ext>
            </a:extLst>
          </p:cNvPr>
          <p:cNvCxnSpPr/>
          <p:nvPr/>
        </p:nvCxnSpPr>
        <p:spPr>
          <a:xfrm>
            <a:off x="9481117" y="3657600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6571BD8-5AF9-8243-9C93-47AF25B52370}"/>
              </a:ext>
            </a:extLst>
          </p:cNvPr>
          <p:cNvSpPr/>
          <p:nvPr/>
        </p:nvSpPr>
        <p:spPr bwMode="auto">
          <a:xfrm>
            <a:off x="6828631" y="4332512"/>
            <a:ext cx="4953000" cy="3352801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             TRAIN                              </a:t>
            </a:r>
          </a:p>
          <a:p>
            <a:endParaRPr lang="en-US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B54DE6-DAA4-214D-ADE1-3D2F82034BAA}"/>
              </a:ext>
            </a:extLst>
          </p:cNvPr>
          <p:cNvSpPr/>
          <p:nvPr/>
        </p:nvSpPr>
        <p:spPr bwMode="auto">
          <a:xfrm>
            <a:off x="10776517" y="4343400"/>
            <a:ext cx="990600" cy="3352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TEST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76FABA-B0B9-6F4A-9DE0-4B3408B4E4F4}"/>
              </a:ext>
            </a:extLst>
          </p:cNvPr>
          <p:cNvSpPr/>
          <p:nvPr/>
        </p:nvSpPr>
        <p:spPr bwMode="auto">
          <a:xfrm>
            <a:off x="7804717" y="43434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E6BC83-87EF-7049-A0BE-4E4304DDC744}"/>
              </a:ext>
            </a:extLst>
          </p:cNvPr>
          <p:cNvSpPr/>
          <p:nvPr/>
        </p:nvSpPr>
        <p:spPr bwMode="auto">
          <a:xfrm>
            <a:off x="8795317" y="43434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353243-CE9F-DB40-824E-E75F82C6C397}"/>
              </a:ext>
            </a:extLst>
          </p:cNvPr>
          <p:cNvSpPr/>
          <p:nvPr/>
        </p:nvSpPr>
        <p:spPr bwMode="auto">
          <a:xfrm>
            <a:off x="9785917" y="43434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AEE7A9-86D2-5145-8CE2-D5CFAB17E2F4}"/>
              </a:ext>
            </a:extLst>
          </p:cNvPr>
          <p:cNvSpPr/>
          <p:nvPr/>
        </p:nvSpPr>
        <p:spPr bwMode="auto">
          <a:xfrm>
            <a:off x="10776517" y="4343400"/>
            <a:ext cx="990600" cy="335280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7DE4D9-6FE8-8D46-ACCC-4EF73D9935CA}"/>
              </a:ext>
            </a:extLst>
          </p:cNvPr>
          <p:cNvSpPr txBox="1"/>
          <p:nvPr/>
        </p:nvSpPr>
        <p:spPr>
          <a:xfrm>
            <a:off x="8312156" y="7924800"/>
            <a:ext cx="2537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 folds (k = 5)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A41296EC-B096-684C-A8CD-071A8822E57F}"/>
              </a:ext>
            </a:extLst>
          </p:cNvPr>
          <p:cNvSpPr txBox="1">
            <a:spLocks/>
          </p:cNvSpPr>
          <p:nvPr/>
        </p:nvSpPr>
        <p:spPr>
          <a:xfrm>
            <a:off x="1781969" y="304800"/>
            <a:ext cx="9974262" cy="1292825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98" kern="1200" cap="all" spc="284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20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k-FOLD CROSS VALIDATION</a:t>
            </a:r>
            <a:endParaRPr lang="en-US" sz="4200" dirty="0">
              <a:latin typeface="Gill Sans MT" panose="020B0502020104020203" pitchFamily="34" charset="77"/>
              <a:ea typeface="Helvetica Neue Condensed" charset="0"/>
              <a:cs typeface="Helvetica Neue Condense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1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549400" y="2362200"/>
            <a:ext cx="10541000" cy="4343400"/>
          </a:xfrm>
        </p:spPr>
        <p:txBody>
          <a:bodyPr>
            <a:normAutofit/>
          </a:bodyPr>
          <a:lstStyle/>
          <a:p>
            <a:pPr algn="ctr"/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Diagnosing 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and Improving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Machine Learning</a:t>
            </a:r>
            <a:b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algorithms </a:t>
            </a:r>
            <a:endParaRPr lang="en-US" sz="4200" strike="sngStrike" dirty="0">
              <a:latin typeface="Gill Sans MT" panose="020B0502020104020203" pitchFamily="34" charset="77"/>
              <a:ea typeface="Helvetica Neue Condensed" charset="0"/>
              <a:cs typeface="Helvetica Neue Condense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39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02466" y="533400"/>
            <a:ext cx="10541000" cy="159569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Diagnosing a ML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6099" y="2568683"/>
            <a:ext cx="11785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BIAS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15106" y="2568683"/>
            <a:ext cx="2594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4099" y="3508777"/>
            <a:ext cx="295786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Algorithm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can’t capture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complexity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of rule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connecting 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input and output</a:t>
            </a: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32839" y="3508777"/>
            <a:ext cx="275908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Algorithm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is excessively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tailored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to training set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and generalizes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Gill Sans MT" panose="020B0502020104020203" pitchFamily="34" charset="77"/>
              </a:rPr>
              <a:t>poorly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064549" y="7250672"/>
            <a:ext cx="10860222" cy="770428"/>
            <a:chOff x="1074110" y="6995303"/>
            <a:chExt cx="10860222" cy="770428"/>
          </a:xfrm>
        </p:grpSpPr>
        <p:sp>
          <p:nvSpPr>
            <p:cNvPr id="8" name="TextBox 7"/>
            <p:cNvSpPr txBox="1"/>
            <p:nvPr/>
          </p:nvSpPr>
          <p:spPr>
            <a:xfrm>
              <a:off x="8577002" y="7057845"/>
              <a:ext cx="33573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2060"/>
                  </a:solidFill>
                  <a:latin typeface="Gill Sans MT" panose="020B0502020104020203" pitchFamily="34" charset="77"/>
                </a:rPr>
                <a:t>OVERFITTING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74110" y="6995303"/>
              <a:ext cx="37962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002060"/>
                  </a:solidFill>
                  <a:latin typeface="Gill Sans MT" panose="020B0502020104020203" pitchFamily="34" charset="77"/>
                </a:rPr>
                <a:t>UNDERFITTING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19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0A51-A543-B548-BD57-9D6013647069}"/>
              </a:ext>
            </a:extLst>
          </p:cNvPr>
          <p:cNvSpPr txBox="1">
            <a:spLocks/>
          </p:cNvSpPr>
          <p:nvPr/>
        </p:nvSpPr>
        <p:spPr>
          <a:xfrm>
            <a:off x="1402466" y="533400"/>
            <a:ext cx="10541000" cy="159569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98" kern="1200" cap="all" spc="284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BIAS vs variance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E83FB06-70B9-E14F-A0A1-F2924B4C693A}"/>
              </a:ext>
            </a:extLst>
          </p:cNvPr>
          <p:cNvCxnSpPr>
            <a:cxnSpLocks/>
          </p:cNvCxnSpPr>
          <p:nvPr/>
        </p:nvCxnSpPr>
        <p:spPr>
          <a:xfrm flipH="1">
            <a:off x="1363497" y="4497767"/>
            <a:ext cx="2718391" cy="164329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93B3DB-641F-EF4A-8029-CDE9B5CE3F0A}"/>
              </a:ext>
            </a:extLst>
          </p:cNvPr>
          <p:cNvCxnSpPr>
            <a:cxnSpLocks/>
          </p:cNvCxnSpPr>
          <p:nvPr/>
        </p:nvCxnSpPr>
        <p:spPr>
          <a:xfrm>
            <a:off x="4874707" y="4137573"/>
            <a:ext cx="0" cy="2105025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FC00D5D-F790-E847-B3B9-47B318684C23}"/>
              </a:ext>
            </a:extLst>
          </p:cNvPr>
          <p:cNvCxnSpPr>
            <a:cxnSpLocks/>
          </p:cNvCxnSpPr>
          <p:nvPr/>
        </p:nvCxnSpPr>
        <p:spPr>
          <a:xfrm flipH="1">
            <a:off x="4874707" y="6242598"/>
            <a:ext cx="2735179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C556230-AAEB-A04A-B3F2-F6DAF1F4BAC9}"/>
              </a:ext>
            </a:extLst>
          </p:cNvPr>
          <p:cNvSpPr txBox="1"/>
          <p:nvPr/>
        </p:nvSpPr>
        <p:spPr>
          <a:xfrm>
            <a:off x="7307011" y="6393093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D2B113-524A-C84C-A7F0-959E44B6949D}"/>
              </a:ext>
            </a:extLst>
          </p:cNvPr>
          <p:cNvSpPr txBox="1"/>
          <p:nvPr/>
        </p:nvSpPr>
        <p:spPr>
          <a:xfrm>
            <a:off x="4462751" y="425920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67C41FF-57A0-E14D-91EB-7BC6A58422AA}"/>
              </a:ext>
            </a:extLst>
          </p:cNvPr>
          <p:cNvSpPr/>
          <p:nvPr/>
        </p:nvSpPr>
        <p:spPr>
          <a:xfrm>
            <a:off x="5135986" y="6036394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C8AE16B-4EE0-1546-8B77-A7018025448D}"/>
              </a:ext>
            </a:extLst>
          </p:cNvPr>
          <p:cNvSpPr/>
          <p:nvPr/>
        </p:nvSpPr>
        <p:spPr>
          <a:xfrm>
            <a:off x="5526131" y="5984060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96AFB9D-5264-7B45-8D8D-E073C4C20B9E}"/>
              </a:ext>
            </a:extLst>
          </p:cNvPr>
          <p:cNvSpPr/>
          <p:nvPr/>
        </p:nvSpPr>
        <p:spPr>
          <a:xfrm>
            <a:off x="5928041" y="5784987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C8034AD-2CAA-F94C-B7D1-7425010ACA95}"/>
              </a:ext>
            </a:extLst>
          </p:cNvPr>
          <p:cNvSpPr/>
          <p:nvPr/>
        </p:nvSpPr>
        <p:spPr>
          <a:xfrm>
            <a:off x="6707353" y="560357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C5AD63E-96D5-134D-9B43-8A27AE533E73}"/>
              </a:ext>
            </a:extLst>
          </p:cNvPr>
          <p:cNvSpPr/>
          <p:nvPr/>
        </p:nvSpPr>
        <p:spPr>
          <a:xfrm>
            <a:off x="7467202" y="531784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DAD0EF2-6301-B14A-BA97-5A89C14A7D3B}"/>
              </a:ext>
            </a:extLst>
          </p:cNvPr>
          <p:cNvSpPr/>
          <p:nvPr/>
        </p:nvSpPr>
        <p:spPr>
          <a:xfrm>
            <a:off x="7794691" y="4977785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FA576B8-C0A9-1B45-B9A9-F87F6E910AE9}"/>
              </a:ext>
            </a:extLst>
          </p:cNvPr>
          <p:cNvSpPr/>
          <p:nvPr/>
        </p:nvSpPr>
        <p:spPr>
          <a:xfrm>
            <a:off x="7870920" y="4378363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F332D3C9-5929-5E4B-9C61-D2CDF77D0236}"/>
              </a:ext>
            </a:extLst>
          </p:cNvPr>
          <p:cNvSpPr/>
          <p:nvPr/>
        </p:nvSpPr>
        <p:spPr>
          <a:xfrm flipH="1" flipV="1">
            <a:off x="5165442" y="2736610"/>
            <a:ext cx="6017591" cy="3339647"/>
          </a:xfrm>
          <a:prstGeom prst="arc">
            <a:avLst>
              <a:gd name="adj1" fmla="val 16200000"/>
              <a:gd name="adj2" fmla="val 21569278"/>
            </a:avLst>
          </a:prstGeom>
          <a:noFill/>
          <a:ln w="31750" cap="flat" cmpd="sng" algn="ctr">
            <a:solidFill>
              <a:srgbClr val="FF0000"/>
            </a:solidFill>
            <a:prstDash val="solid"/>
            <a:miter lim="800000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655CA2A-64EB-3C48-9348-464514A257BA}"/>
              </a:ext>
            </a:extLst>
          </p:cNvPr>
          <p:cNvCxnSpPr>
            <a:cxnSpLocks/>
          </p:cNvCxnSpPr>
          <p:nvPr/>
        </p:nvCxnSpPr>
        <p:spPr>
          <a:xfrm>
            <a:off x="970756" y="4137573"/>
            <a:ext cx="0" cy="2105025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4C08911-F1FE-6744-A3B1-359135A92E1A}"/>
              </a:ext>
            </a:extLst>
          </p:cNvPr>
          <p:cNvCxnSpPr>
            <a:cxnSpLocks/>
          </p:cNvCxnSpPr>
          <p:nvPr/>
        </p:nvCxnSpPr>
        <p:spPr>
          <a:xfrm flipH="1">
            <a:off x="970756" y="6242598"/>
            <a:ext cx="2735179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9CBBABA-96DE-9D43-B284-6366751EAC9C}"/>
              </a:ext>
            </a:extLst>
          </p:cNvPr>
          <p:cNvSpPr txBox="1"/>
          <p:nvPr/>
        </p:nvSpPr>
        <p:spPr>
          <a:xfrm>
            <a:off x="558800" y="425920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AD3FBCA-AB27-9545-991F-776AA9009DCC}"/>
              </a:ext>
            </a:extLst>
          </p:cNvPr>
          <p:cNvSpPr/>
          <p:nvPr/>
        </p:nvSpPr>
        <p:spPr>
          <a:xfrm>
            <a:off x="1232035" y="6036394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425B0F5-94DF-834C-9C48-0A5AEBB73B46}"/>
              </a:ext>
            </a:extLst>
          </p:cNvPr>
          <p:cNvSpPr/>
          <p:nvPr/>
        </p:nvSpPr>
        <p:spPr>
          <a:xfrm>
            <a:off x="1622180" y="5984060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5E69858-3771-E34F-B184-5B4407BAC2BE}"/>
              </a:ext>
            </a:extLst>
          </p:cNvPr>
          <p:cNvSpPr/>
          <p:nvPr/>
        </p:nvSpPr>
        <p:spPr>
          <a:xfrm>
            <a:off x="2024090" y="5784987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4517BA8-EF8D-1C41-893D-5B5BBE107D22}"/>
              </a:ext>
            </a:extLst>
          </p:cNvPr>
          <p:cNvSpPr/>
          <p:nvPr/>
        </p:nvSpPr>
        <p:spPr>
          <a:xfrm>
            <a:off x="2803402" y="560357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66CBBD5-4D74-074A-A737-5DB248B63710}"/>
              </a:ext>
            </a:extLst>
          </p:cNvPr>
          <p:cNvSpPr/>
          <p:nvPr/>
        </p:nvSpPr>
        <p:spPr>
          <a:xfrm>
            <a:off x="3395611" y="531784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7014817-E5AF-3C42-A8E3-E8BB068D582E}"/>
              </a:ext>
            </a:extLst>
          </p:cNvPr>
          <p:cNvSpPr/>
          <p:nvPr/>
        </p:nvSpPr>
        <p:spPr>
          <a:xfrm>
            <a:off x="3723100" y="4977785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407A01E-5DF4-A14A-BDD9-2198C1F02B19}"/>
              </a:ext>
            </a:extLst>
          </p:cNvPr>
          <p:cNvSpPr/>
          <p:nvPr/>
        </p:nvSpPr>
        <p:spPr>
          <a:xfrm>
            <a:off x="3830597" y="4378363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44B1977-621F-6247-9275-0FBEE07E3BF9}"/>
              </a:ext>
            </a:extLst>
          </p:cNvPr>
          <p:cNvSpPr txBox="1"/>
          <p:nvPr/>
        </p:nvSpPr>
        <p:spPr>
          <a:xfrm>
            <a:off x="3279199" y="634413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6D1A5FE-F2FE-9D4E-AE17-03DEEF168962}"/>
              </a:ext>
            </a:extLst>
          </p:cNvPr>
          <p:cNvSpPr txBox="1"/>
          <p:nvPr/>
        </p:nvSpPr>
        <p:spPr>
          <a:xfrm>
            <a:off x="1645704" y="3423270"/>
            <a:ext cx="16866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Gill Sans MT" panose="020B0502020104020203" pitchFamily="34" charset="77"/>
                <a:ea typeface="+mn-ea"/>
                <a:cs typeface="+mn-cs"/>
              </a:rPr>
              <a:t>Linear model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B6F72E6-430E-074D-ACC5-26D6C32BEED0}"/>
              </a:ext>
            </a:extLst>
          </p:cNvPr>
          <p:cNvSpPr txBox="1"/>
          <p:nvPr/>
        </p:nvSpPr>
        <p:spPr>
          <a:xfrm>
            <a:off x="5276872" y="3394717"/>
            <a:ext cx="25647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Gill Sans MT" panose="020B0502020104020203" pitchFamily="34" charset="77"/>
                <a:ea typeface="+mn-ea"/>
                <a:cs typeface="+mn-cs"/>
              </a:rPr>
              <a:t>Degree 2 polynomial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D777369-B43E-EA45-894D-3686EA87E7A1}"/>
              </a:ext>
            </a:extLst>
          </p:cNvPr>
          <p:cNvCxnSpPr>
            <a:cxnSpLocks/>
          </p:cNvCxnSpPr>
          <p:nvPr/>
        </p:nvCxnSpPr>
        <p:spPr>
          <a:xfrm>
            <a:off x="8914265" y="4177437"/>
            <a:ext cx="0" cy="2105025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E42CC1E-4D60-DC48-9C70-D320A4AC14E3}"/>
              </a:ext>
            </a:extLst>
          </p:cNvPr>
          <p:cNvCxnSpPr>
            <a:cxnSpLocks/>
          </p:cNvCxnSpPr>
          <p:nvPr/>
        </p:nvCxnSpPr>
        <p:spPr>
          <a:xfrm flipH="1">
            <a:off x="8944745" y="6282462"/>
            <a:ext cx="2735179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AE8ABE19-627A-8144-A2EE-4BC1E04DBB02}"/>
              </a:ext>
            </a:extLst>
          </p:cNvPr>
          <p:cNvSpPr txBox="1"/>
          <p:nvPr/>
        </p:nvSpPr>
        <p:spPr>
          <a:xfrm>
            <a:off x="9168334" y="3425247"/>
            <a:ext cx="28981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prstClr val="black"/>
                </a:solidFill>
                <a:latin typeface="Gill Sans MT" panose="020B0502020104020203" pitchFamily="34" charset="77"/>
                <a:ea typeface="+mn-ea"/>
                <a:cs typeface="+mn-cs"/>
              </a:rPr>
              <a:t>High-degree polynomial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E38C0BE-DFD6-CC43-BCFF-C25D491E7941}"/>
              </a:ext>
            </a:extLst>
          </p:cNvPr>
          <p:cNvSpPr txBox="1"/>
          <p:nvPr/>
        </p:nvSpPr>
        <p:spPr>
          <a:xfrm>
            <a:off x="11432189" y="64124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CEFF19B-49C4-F940-A467-D9C57F6B62FD}"/>
              </a:ext>
            </a:extLst>
          </p:cNvPr>
          <p:cNvSpPr txBox="1"/>
          <p:nvPr/>
        </p:nvSpPr>
        <p:spPr>
          <a:xfrm>
            <a:off x="8474178" y="4246031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y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774532B-6CFF-6140-A3B4-BA9E77EB0676}"/>
              </a:ext>
            </a:extLst>
          </p:cNvPr>
          <p:cNvSpPr/>
          <p:nvPr/>
        </p:nvSpPr>
        <p:spPr>
          <a:xfrm>
            <a:off x="9186649" y="6036394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305E97C-38A7-CF46-804F-BE5BCC9D298B}"/>
              </a:ext>
            </a:extLst>
          </p:cNvPr>
          <p:cNvSpPr/>
          <p:nvPr/>
        </p:nvSpPr>
        <p:spPr>
          <a:xfrm>
            <a:off x="9576794" y="5984060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AF66809-264C-1145-8A55-001E546D07EF}"/>
              </a:ext>
            </a:extLst>
          </p:cNvPr>
          <p:cNvSpPr/>
          <p:nvPr/>
        </p:nvSpPr>
        <p:spPr>
          <a:xfrm>
            <a:off x="9978704" y="5784987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8974C749-D360-DD49-8FD5-E7E3683BC519}"/>
              </a:ext>
            </a:extLst>
          </p:cNvPr>
          <p:cNvSpPr/>
          <p:nvPr/>
        </p:nvSpPr>
        <p:spPr>
          <a:xfrm>
            <a:off x="10758016" y="560357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6C03D74-B127-0044-A410-C9B6A1A0DE2E}"/>
              </a:ext>
            </a:extLst>
          </p:cNvPr>
          <p:cNvSpPr/>
          <p:nvPr/>
        </p:nvSpPr>
        <p:spPr>
          <a:xfrm>
            <a:off x="11350225" y="5317848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6BAC04B-4141-7540-AB9C-5EDA096D8D59}"/>
              </a:ext>
            </a:extLst>
          </p:cNvPr>
          <p:cNvSpPr/>
          <p:nvPr/>
        </p:nvSpPr>
        <p:spPr>
          <a:xfrm>
            <a:off x="11677714" y="4977785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3705AEE-8393-D54B-B84D-97A47E472AD2}"/>
              </a:ext>
            </a:extLst>
          </p:cNvPr>
          <p:cNvSpPr/>
          <p:nvPr/>
        </p:nvSpPr>
        <p:spPr>
          <a:xfrm>
            <a:off x="11785211" y="4378363"/>
            <a:ext cx="86194" cy="104668"/>
          </a:xfrm>
          <a:prstGeom prst="ellipse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D8B9CD4E-01CD-254B-960B-F4E3E9B632FE}"/>
              </a:ext>
            </a:extLst>
          </p:cNvPr>
          <p:cNvSpPr/>
          <p:nvPr/>
        </p:nvSpPr>
        <p:spPr>
          <a:xfrm>
            <a:off x="9185426" y="4449732"/>
            <a:ext cx="2788920" cy="1684281"/>
          </a:xfrm>
          <a:custGeom>
            <a:avLst/>
            <a:gdLst>
              <a:gd name="connsiteX0" fmla="*/ 0 w 2788920"/>
              <a:gd name="connsiteY0" fmla="*/ 1684281 h 1684281"/>
              <a:gd name="connsiteX1" fmla="*/ 137160 w 2788920"/>
              <a:gd name="connsiteY1" fmla="*/ 1470921 h 1684281"/>
              <a:gd name="connsiteX2" fmla="*/ 426720 w 2788920"/>
              <a:gd name="connsiteY2" fmla="*/ 1577601 h 1684281"/>
              <a:gd name="connsiteX3" fmla="*/ 883920 w 2788920"/>
              <a:gd name="connsiteY3" fmla="*/ 1349001 h 1684281"/>
              <a:gd name="connsiteX4" fmla="*/ 1295400 w 2788920"/>
              <a:gd name="connsiteY4" fmla="*/ 846081 h 1684281"/>
              <a:gd name="connsiteX5" fmla="*/ 1630680 w 2788920"/>
              <a:gd name="connsiteY5" fmla="*/ 1227081 h 1684281"/>
              <a:gd name="connsiteX6" fmla="*/ 1996440 w 2788920"/>
              <a:gd name="connsiteY6" fmla="*/ 1394721 h 1684281"/>
              <a:gd name="connsiteX7" fmla="*/ 2209800 w 2788920"/>
              <a:gd name="connsiteY7" fmla="*/ 952761 h 1684281"/>
              <a:gd name="connsiteX8" fmla="*/ 2286000 w 2788920"/>
              <a:gd name="connsiteY8" fmla="*/ 175521 h 1684281"/>
              <a:gd name="connsiteX9" fmla="*/ 2484120 w 2788920"/>
              <a:gd name="connsiteY9" fmla="*/ 617481 h 1684281"/>
              <a:gd name="connsiteX10" fmla="*/ 2636520 w 2788920"/>
              <a:gd name="connsiteY10" fmla="*/ 53601 h 1684281"/>
              <a:gd name="connsiteX11" fmla="*/ 2788920 w 2788920"/>
              <a:gd name="connsiteY11" fmla="*/ 23121 h 1684281"/>
              <a:gd name="connsiteX12" fmla="*/ 2788920 w 2788920"/>
              <a:gd name="connsiteY12" fmla="*/ 23121 h 168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88920" h="1684281">
                <a:moveTo>
                  <a:pt x="0" y="1684281"/>
                </a:moveTo>
                <a:cubicBezTo>
                  <a:pt x="33020" y="1586491"/>
                  <a:pt x="66040" y="1488701"/>
                  <a:pt x="137160" y="1470921"/>
                </a:cubicBezTo>
                <a:cubicBezTo>
                  <a:pt x="208280" y="1453141"/>
                  <a:pt x="302260" y="1597921"/>
                  <a:pt x="426720" y="1577601"/>
                </a:cubicBezTo>
                <a:cubicBezTo>
                  <a:pt x="551180" y="1557281"/>
                  <a:pt x="739140" y="1470921"/>
                  <a:pt x="883920" y="1349001"/>
                </a:cubicBezTo>
                <a:cubicBezTo>
                  <a:pt x="1028700" y="1227081"/>
                  <a:pt x="1170940" y="866401"/>
                  <a:pt x="1295400" y="846081"/>
                </a:cubicBezTo>
                <a:cubicBezTo>
                  <a:pt x="1419860" y="825761"/>
                  <a:pt x="1513840" y="1135641"/>
                  <a:pt x="1630680" y="1227081"/>
                </a:cubicBezTo>
                <a:cubicBezTo>
                  <a:pt x="1747520" y="1318521"/>
                  <a:pt x="1899920" y="1440441"/>
                  <a:pt x="1996440" y="1394721"/>
                </a:cubicBezTo>
                <a:cubicBezTo>
                  <a:pt x="2092960" y="1349001"/>
                  <a:pt x="2161540" y="1155961"/>
                  <a:pt x="2209800" y="952761"/>
                </a:cubicBezTo>
                <a:cubicBezTo>
                  <a:pt x="2258060" y="749561"/>
                  <a:pt x="2240280" y="231401"/>
                  <a:pt x="2286000" y="175521"/>
                </a:cubicBezTo>
                <a:cubicBezTo>
                  <a:pt x="2331720" y="119641"/>
                  <a:pt x="2425700" y="637801"/>
                  <a:pt x="2484120" y="617481"/>
                </a:cubicBezTo>
                <a:cubicBezTo>
                  <a:pt x="2542540" y="597161"/>
                  <a:pt x="2585720" y="152661"/>
                  <a:pt x="2636520" y="53601"/>
                </a:cubicBezTo>
                <a:cubicBezTo>
                  <a:pt x="2687320" y="-45459"/>
                  <a:pt x="2788920" y="23121"/>
                  <a:pt x="2788920" y="23121"/>
                </a:cubicBezTo>
                <a:lnTo>
                  <a:pt x="2788920" y="23121"/>
                </a:lnTo>
              </a:path>
            </a:pathLst>
          </a:custGeom>
          <a:noFill/>
          <a:ln w="28575" cap="flat" cmpd="sng" algn="ctr">
            <a:solidFill>
              <a:srgbClr val="FF26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0FBFF51-F682-BB45-B867-1E95A3E74A51}"/>
              </a:ext>
            </a:extLst>
          </p:cNvPr>
          <p:cNvSpPr txBox="1"/>
          <p:nvPr/>
        </p:nvSpPr>
        <p:spPr>
          <a:xfrm>
            <a:off x="377728" y="7116535"/>
            <a:ext cx="42226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Not enough complexity:</a:t>
            </a:r>
          </a:p>
          <a:p>
            <a:r>
              <a:rPr lang="en-US" dirty="0">
                <a:latin typeface="+mj-lt"/>
              </a:rPr>
              <a:t>high bias/underfit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925B3A-C5E3-ED45-916D-FCB062F7BB63}"/>
              </a:ext>
            </a:extLst>
          </p:cNvPr>
          <p:cNvSpPr txBox="1"/>
          <p:nvPr/>
        </p:nvSpPr>
        <p:spPr>
          <a:xfrm>
            <a:off x="8769159" y="7116535"/>
            <a:ext cx="37752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Excessive complexity:</a:t>
            </a:r>
          </a:p>
          <a:p>
            <a:r>
              <a:rPr lang="en-US" dirty="0">
                <a:latin typeface="+mj-lt"/>
              </a:rPr>
              <a:t>high variance/overfit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11C5BA3-C3E7-A94C-87ED-3B973D0BDAA0}"/>
              </a:ext>
            </a:extLst>
          </p:cNvPr>
          <p:cNvSpPr txBox="1"/>
          <p:nvPr/>
        </p:nvSpPr>
        <p:spPr>
          <a:xfrm>
            <a:off x="4874707" y="7089511"/>
            <a:ext cx="3529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Good trade-off</a:t>
            </a:r>
          </a:p>
          <a:p>
            <a:r>
              <a:rPr lang="en-US" dirty="0">
                <a:latin typeface="+mj-lt"/>
              </a:rPr>
              <a:t>between complexity</a:t>
            </a:r>
          </a:p>
          <a:p>
            <a:r>
              <a:rPr lang="en-US" dirty="0">
                <a:latin typeface="+mj-lt"/>
              </a:rPr>
              <a:t>and performance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13BA162-CD6B-2A4A-9277-78C0BE59E70C}"/>
              </a:ext>
            </a:extLst>
          </p:cNvPr>
          <p:cNvSpPr txBox="1"/>
          <p:nvPr/>
        </p:nvSpPr>
        <p:spPr>
          <a:xfrm>
            <a:off x="8608435" y="9220200"/>
            <a:ext cx="4294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Slide inspired by Andrew Ng</a:t>
            </a:r>
          </a:p>
        </p:txBody>
      </p:sp>
    </p:spTree>
    <p:extLst>
      <p:ext uri="{BB962C8B-B14F-4D97-AF65-F5344CB8AC3E}">
        <p14:creationId xmlns:p14="http://schemas.microsoft.com/office/powerpoint/2010/main" val="2798420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73200" y="260169"/>
            <a:ext cx="10541000" cy="1524000"/>
          </a:xfrm>
        </p:spPr>
        <p:txBody>
          <a:bodyPr/>
          <a:lstStyle/>
          <a:p>
            <a:pPr algn="ctr"/>
            <a:r>
              <a:rPr lang="en-US" sz="40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How can we diagnose </a:t>
            </a:r>
            <a:br>
              <a:rPr lang="en-US" sz="40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0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high variance vs high bias?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2743200"/>
            <a:ext cx="1219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550" y="7462897"/>
            <a:ext cx="5720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Gill Sans MT" panose="020B0502020104020203" pitchFamily="34" charset="77"/>
              </a:rPr>
              <a:t>High bias: test and train error are</a:t>
            </a:r>
          </a:p>
          <a:p>
            <a:r>
              <a:rPr lang="en-US" dirty="0">
                <a:solidFill>
                  <a:srgbClr val="002060"/>
                </a:solidFill>
                <a:latin typeface="Gill Sans MT" panose="020B0502020104020203" pitchFamily="34" charset="77"/>
              </a:rPr>
              <a:t>similar but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4886" y="7462897"/>
            <a:ext cx="59375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Gill Sans MT" panose="020B0502020104020203" pitchFamily="34" charset="77"/>
              </a:rPr>
              <a:t>High variance: there is a gap between test and train error because algorithm does not generalize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9407" y="2167292"/>
            <a:ext cx="3762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Gill Sans MT" panose="020B0502020104020203" pitchFamily="34" charset="77"/>
              </a:rPr>
              <a:t>Figure credit: Jake </a:t>
            </a:r>
            <a:r>
              <a:rPr lang="en-US" sz="2400" dirty="0" err="1">
                <a:solidFill>
                  <a:srgbClr val="002060"/>
                </a:solidFill>
                <a:latin typeface="Gill Sans MT" panose="020B0502020104020203" pitchFamily="34" charset="77"/>
              </a:rPr>
              <a:t>VanderPlas</a:t>
            </a:r>
            <a:endParaRPr lang="en-US" sz="2400" dirty="0">
              <a:solidFill>
                <a:srgbClr val="00206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174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31122" y="370038"/>
            <a:ext cx="9266971" cy="10668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Improving high bias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010" y="903438"/>
            <a:ext cx="1145538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Tx/>
              <a:buAutoNum type="arabicPeriod"/>
            </a:pPr>
            <a:endParaRPr lang="en-US" sz="4000" dirty="0">
              <a:solidFill>
                <a:srgbClr val="002060"/>
              </a:solidFill>
              <a:latin typeface="Gill Sans MT" panose="020B0502020104020203" pitchFamily="34" charset="77"/>
            </a:endParaRPr>
          </a:p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Try using different features.</a:t>
            </a:r>
          </a:p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Try engineering new features.</a:t>
            </a:r>
          </a:p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Try a more complex algorithm/change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907" y="5335491"/>
            <a:ext cx="11120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Try reducing the number of features.</a:t>
            </a:r>
          </a:p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Try a less complex algorithm/change parameters/</a:t>
            </a:r>
          </a:p>
          <a:p>
            <a:pPr marL="742950" indent="-742950">
              <a:buFontTx/>
              <a:buAutoNum type="arabicPeriod"/>
            </a:pPr>
            <a:r>
              <a:rPr lang="en-US" sz="4000" dirty="0">
                <a:solidFill>
                  <a:srgbClr val="002060"/>
                </a:solidFill>
                <a:latin typeface="Gill Sans MT" panose="020B0502020104020203" pitchFamily="34" charset="77"/>
              </a:rPr>
              <a:t>Add regularization.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418" y="7443782"/>
            <a:ext cx="11941154" cy="2200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solidFill>
                  <a:schemeClr val="tx1"/>
                </a:solidFill>
                <a:latin typeface="Gill Sans MT" panose="020B0502020104020203" pitchFamily="34" charset="77"/>
              </a:rPr>
              <a:t>Also: Check if you need more training data.</a:t>
            </a:r>
          </a:p>
          <a:p>
            <a:r>
              <a:rPr lang="en-US" sz="4400" dirty="0">
                <a:solidFill>
                  <a:schemeClr val="tx1"/>
                </a:solidFill>
                <a:latin typeface="Gill Sans MT" panose="020B0502020104020203" pitchFamily="34" charset="77"/>
              </a:rPr>
              <a:t>Also: take all this with a huge grain of salt.</a:t>
            </a:r>
          </a:p>
          <a:p>
            <a:r>
              <a:rPr lang="en-US" sz="4400" dirty="0">
                <a:solidFill>
                  <a:srgbClr val="FF0000"/>
                </a:solidFill>
                <a:latin typeface="Gill Sans MT" panose="020B0502020104020203" pitchFamily="34" charset="77"/>
              </a:rPr>
              <a:t>Not mutually exclusive</a:t>
            </a:r>
            <a:r>
              <a:rPr lang="en-US" sz="4400" dirty="0">
                <a:solidFill>
                  <a:schemeClr val="tx1"/>
                </a:solidFill>
                <a:latin typeface="Gill Sans MT" panose="020B0502020104020203" pitchFamily="34" charset="77"/>
              </a:rPr>
              <a:t>, really meant as </a:t>
            </a:r>
            <a:r>
              <a:rPr lang="en-US" sz="4400" dirty="0">
                <a:solidFill>
                  <a:srgbClr val="FF0000"/>
                </a:solidFill>
                <a:latin typeface="Gill Sans MT" panose="020B0502020104020203" pitchFamily="34" charset="77"/>
              </a:rPr>
              <a:t>diagnostics</a:t>
            </a:r>
            <a:r>
              <a:rPr lang="en-US" sz="4400" dirty="0">
                <a:solidFill>
                  <a:schemeClr val="tx1"/>
                </a:solidFill>
                <a:latin typeface="Gill Sans MT" panose="020B0502020104020203" pitchFamily="34" charset="77"/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4396D7-42B8-884F-ACC3-B2C0705AA076}"/>
              </a:ext>
            </a:extLst>
          </p:cNvPr>
          <p:cNvSpPr txBox="1">
            <a:spLocks/>
          </p:cNvSpPr>
          <p:nvPr/>
        </p:nvSpPr>
        <p:spPr>
          <a:xfrm>
            <a:off x="2059510" y="4099392"/>
            <a:ext cx="9266971" cy="10668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13004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98" kern="1200" cap="all" spc="284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800" dirty="0"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Improving high variance  </a:t>
            </a:r>
          </a:p>
        </p:txBody>
      </p:sp>
    </p:spTree>
    <p:extLst>
      <p:ext uri="{BB962C8B-B14F-4D97-AF65-F5344CB8AC3E}">
        <p14:creationId xmlns:p14="http://schemas.microsoft.com/office/powerpoint/2010/main" val="202809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73300" y="2590800"/>
            <a:ext cx="8788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Gill Sans MT" panose="020B0502020104020203" pitchFamily="34" charset="77"/>
              </a:rPr>
              <a:t>plot performance of algorithm for train and test set</a:t>
            </a:r>
          </a:p>
          <a:p>
            <a:r>
              <a:rPr lang="en-US" dirty="0">
                <a:solidFill>
                  <a:srgbClr val="002060"/>
                </a:solidFill>
                <a:latin typeface="Gill Sans MT" panose="020B0502020104020203" pitchFamily="34" charset="77"/>
              </a:rPr>
              <a:t>as a function of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size of training set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0" y="4343400"/>
            <a:ext cx="7010400" cy="492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396" y="5420618"/>
            <a:ext cx="4453463" cy="1077218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scores still changing: </a:t>
            </a: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more training data please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5586" y="4343400"/>
            <a:ext cx="3452227" cy="1077218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curve is flat = more</a:t>
            </a:r>
          </a:p>
          <a:p>
            <a:r>
              <a:rPr lang="en-US" dirty="0">
                <a:solidFill>
                  <a:schemeClr val="bg1"/>
                </a:solidFill>
                <a:latin typeface="Gill Sans MT" panose="020B0502020104020203" pitchFamily="34" charset="77"/>
              </a:rPr>
              <a:t>data doesn’t help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4385731" y="6554408"/>
            <a:ext cx="693630" cy="252792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5875">
            <a:solidFill>
              <a:schemeClr val="bg2"/>
            </a:solidFill>
            <a:tailEnd type="triangle"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/>
          <p:nvPr/>
        </p:nvCxnSpPr>
        <p:spPr bwMode="auto">
          <a:xfrm flipH="1">
            <a:off x="9245601" y="4991100"/>
            <a:ext cx="121083" cy="647700"/>
          </a:xfrm>
          <a:prstGeom prst="straightConnector1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5875">
            <a:solidFill>
              <a:schemeClr val="bg2"/>
            </a:solidFill>
            <a:tailEnd type="triangle"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itle 1"/>
          <p:cNvSpPr>
            <a:spLocks noGrp="1"/>
          </p:cNvSpPr>
          <p:nvPr>
            <p:ph type="title" idx="4294967295"/>
          </p:nvPr>
        </p:nvSpPr>
        <p:spPr>
          <a:xfrm>
            <a:off x="1652721" y="209550"/>
            <a:ext cx="10541000" cy="2057400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Useful diagnostic tool:</a:t>
            </a:r>
            <a:br>
              <a:rPr lang="en-US" sz="50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50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learning curves</a:t>
            </a:r>
          </a:p>
        </p:txBody>
      </p:sp>
      <p:sp>
        <p:nvSpPr>
          <p:cNvPr id="3" name="Rectangle 2"/>
          <p:cNvSpPr/>
          <p:nvPr/>
        </p:nvSpPr>
        <p:spPr bwMode="auto">
          <a:xfrm rot="19598083">
            <a:off x="5335253" y="6890151"/>
            <a:ext cx="1612114" cy="395315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>
                <a:solidFill>
                  <a:srgbClr val="FF0000"/>
                </a:solidFill>
                <a:latin typeface="Gill Sans MT" panose="020B0502020104020203" pitchFamily="34" charset="77"/>
              </a:rPr>
              <a:t>test score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7B4A8-DFC9-FF4F-9202-943CF2C4E5A4}"/>
              </a:ext>
            </a:extLst>
          </p:cNvPr>
          <p:cNvSpPr txBox="1"/>
          <p:nvPr/>
        </p:nvSpPr>
        <p:spPr>
          <a:xfrm>
            <a:off x="635000" y="8334822"/>
            <a:ext cx="23844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Figure credit:</a:t>
            </a:r>
          </a:p>
          <a:p>
            <a:r>
              <a:rPr lang="en-US" sz="2800" dirty="0">
                <a:latin typeface="+mn-lt"/>
              </a:rPr>
              <a:t>Jake </a:t>
            </a:r>
            <a:r>
              <a:rPr lang="en-US" sz="2800" dirty="0" err="1">
                <a:latin typeface="+mn-lt"/>
              </a:rPr>
              <a:t>VanderPlas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934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432" y="407615"/>
            <a:ext cx="10728960" cy="126878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What happens for </a:t>
            </a:r>
            <a:br>
              <a:rPr lang="en-US" sz="4800" dirty="0"/>
            </a:br>
            <a:r>
              <a:rPr lang="en-US" sz="4800" dirty="0"/>
              <a:t>non-binary classifiers?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170432" y="3277612"/>
            <a:ext cx="2057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The confusion matrix can be built normally</a:t>
            </a:r>
          </a:p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2667000"/>
            <a:ext cx="5301488" cy="4638802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214679" y="7603904"/>
            <a:ext cx="1135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</a:rPr>
              <a:t>Note: in this case accuracy is still the % of correct predictions, but precision and recall require you to define a “positive” class and do one-vs-all </a:t>
            </a:r>
          </a:p>
          <a:p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</a:rPr>
              <a:t>(plus choose micro/macro averaging if you want one number)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8800" y="3352800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class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800" y="4533393"/>
            <a:ext cx="838200" cy="32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</a:rPr>
              <a:t>class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600" y="5486401"/>
            <a:ext cx="930758" cy="466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 class 3</a:t>
            </a:r>
            <a:r>
              <a:rPr lang="en-US" sz="1600" dirty="0"/>
              <a:t>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99558" y="6324600"/>
            <a:ext cx="3184042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99558" y="6431723"/>
            <a:ext cx="838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class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2479" y="6423310"/>
            <a:ext cx="838200" cy="32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F0000"/>
                </a:solidFill>
              </a:rPr>
              <a:t>class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5468" y="6324600"/>
            <a:ext cx="930758" cy="466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 class 3</a:t>
            </a:r>
            <a:r>
              <a:rPr lang="en-US" sz="1600" dirty="0"/>
              <a:t>ss</a:t>
            </a:r>
          </a:p>
        </p:txBody>
      </p:sp>
    </p:spTree>
    <p:extLst>
      <p:ext uri="{BB962C8B-B14F-4D97-AF65-F5344CB8AC3E}">
        <p14:creationId xmlns:p14="http://schemas.microsoft.com/office/powerpoint/2010/main" val="14681206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5600" y="1447800"/>
            <a:ext cx="10160000" cy="6324600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Note: which algorithm is the best?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A) High bias low variance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B) High variance low bias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C) Lowest gap between train/test scores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D) Highest test scores</a:t>
            </a:r>
          </a:p>
        </p:txBody>
      </p:sp>
    </p:spTree>
    <p:extLst>
      <p:ext uri="{BB962C8B-B14F-4D97-AF65-F5344CB8AC3E}">
        <p14:creationId xmlns:p14="http://schemas.microsoft.com/office/powerpoint/2010/main" val="1731173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5600" y="1447800"/>
            <a:ext cx="10160000" cy="6324600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Note: which algorithm is the best?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A) High bias low variance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B) High variance low bias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C) Lowest gap between train/test scores</a:t>
            </a:r>
            <a:br>
              <a:rPr lang="en-US" sz="4200" dirty="0">
                <a:solidFill>
                  <a:schemeClr val="tx1">
                    <a:lumMod val="95000"/>
                    <a:lumOff val="5000"/>
                  </a:schemeClr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</a:br>
            <a:r>
              <a:rPr lang="en-US" sz="4200" dirty="0">
                <a:solidFill>
                  <a:srgbClr val="FF000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D) Highest test scores</a:t>
            </a:r>
          </a:p>
        </p:txBody>
      </p:sp>
    </p:spTree>
    <p:extLst>
      <p:ext uri="{BB962C8B-B14F-4D97-AF65-F5344CB8AC3E}">
        <p14:creationId xmlns:p14="http://schemas.microsoft.com/office/powerpoint/2010/main" val="346567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0" y="381000"/>
            <a:ext cx="10883899" cy="1917700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Updated Summary of how to build a ML model </a:t>
            </a:r>
          </a:p>
        </p:txBody>
      </p:sp>
      <p:sp>
        <p:nvSpPr>
          <p:cNvPr id="3" name="Rectangle 2"/>
          <p:cNvSpPr/>
          <p:nvPr/>
        </p:nvSpPr>
        <p:spPr>
          <a:xfrm>
            <a:off x="330201" y="2819400"/>
            <a:ext cx="1257299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Choose a class of model (aka a machine learning algorithm) by importing the appropriate estimator class from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Scikit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-Learn.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Choose model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hyperparameters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 by instantiating this class with desired values.  Alternatively: optimize </a:t>
            </a:r>
            <a:r>
              <a:rPr lang="en-US" sz="2800" dirty="0" err="1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hyperparameters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 (later).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Arrange data into a feature matrix and target vector, if necessary.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Split the learning set into training/test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using k fold cross validation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Build the model to your data by calling the ``fit()`` method.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Apply the model to new data:  predict labels for unknown data using the ``predict()`` method. 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Estimate the performance (averaged over the k folds)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by using one of the metrics in the "metrics" method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 of the model instance (accuracy, precision, recall </a:t>
            </a:r>
            <a:r>
              <a:rPr lang="mr-IN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…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 or custom).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Figure out what is not working out: 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77"/>
                <a:ea typeface="Helvetica Neue Condensed" charset="0"/>
                <a:cs typeface="Helvetica Neue Condensed" charset="0"/>
              </a:rPr>
              <a:t>Check training vs test score, learning curves, diagnose high variance vs high bias and decide how to move forward.</a:t>
            </a:r>
          </a:p>
        </p:txBody>
      </p:sp>
    </p:spTree>
    <p:extLst>
      <p:ext uri="{BB962C8B-B14F-4D97-AF65-F5344CB8AC3E}">
        <p14:creationId xmlns:p14="http://schemas.microsoft.com/office/powerpoint/2010/main" val="1058070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81051CA-A727-A046-B872-B96DAD7DA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-1860"/>
            <a:ext cx="12471344" cy="975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058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74187</TotalTime>
  <Pages>0</Pages>
  <Words>1687</Words>
  <Characters>0</Characters>
  <Application>Microsoft Macintosh PowerPoint</Application>
  <PresentationFormat>Custom</PresentationFormat>
  <Lines>0</Lines>
  <Paragraphs>299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Gill Sans MT</vt:lpstr>
      <vt:lpstr>Helvetica Neue Bold Condensed</vt:lpstr>
      <vt:lpstr>Wingdings</vt:lpstr>
      <vt:lpstr>Parcel</vt:lpstr>
      <vt:lpstr>Machine learning  for physics and astronomy chapter 3</vt:lpstr>
      <vt:lpstr>Performance Metrics</vt:lpstr>
      <vt:lpstr>DT vs KNN recap</vt:lpstr>
      <vt:lpstr>Beyond accuracy</vt:lpstr>
      <vt:lpstr>Picking a performance metric </vt:lpstr>
      <vt:lpstr>Evaluating classifiers performance: beyond accuracy</vt:lpstr>
      <vt:lpstr>Alternative metrics</vt:lpstr>
      <vt:lpstr>Alternative metrics</vt:lpstr>
      <vt:lpstr>Precision vs recall</vt:lpstr>
      <vt:lpstr>Visual Mnemonics:  green over blue</vt:lpstr>
      <vt:lpstr>A few words about ROC and AUC</vt:lpstr>
      <vt:lpstr>A few words about ROC and AUC</vt:lpstr>
      <vt:lpstr>Metrics: Optimizing vs viewing</vt:lpstr>
      <vt:lpstr>Good practices:  cross validation</vt:lpstr>
      <vt:lpstr>The goal of the training set and test set split is to be able to evaluate performance on unseen examples.   The test set “mimics” new data.  </vt:lpstr>
      <vt:lpstr>  1. We use all the training data  2. We avoid the risk of under/overestimating performance because of a “non-typical” pick of train/test split.   3. We get an estimate how how much scores fluctuate because of variance in data.  </vt:lpstr>
      <vt:lpstr>k-FOLD CROSS VALIDATION</vt:lpstr>
      <vt:lpstr>k-FOLD CROSS VALIDATION</vt:lpstr>
      <vt:lpstr>k-FOLD CROSS VALIDATION</vt:lpstr>
      <vt:lpstr>k-FOLD CROSS VALIDATION</vt:lpstr>
      <vt:lpstr>k-FOLD CROSS VALIDATION</vt:lpstr>
      <vt:lpstr>PowerPoint Presentation</vt:lpstr>
      <vt:lpstr>Diagnosing  and Improving Machine Learning algorithms </vt:lpstr>
      <vt:lpstr>Diagnosing a ML algorithm</vt:lpstr>
      <vt:lpstr>PowerPoint Presentation</vt:lpstr>
      <vt:lpstr>How can we diagnose  high variance vs high bias?</vt:lpstr>
      <vt:lpstr>Improving high bias  </vt:lpstr>
      <vt:lpstr>Useful diagnostic tool: learning curves</vt:lpstr>
      <vt:lpstr>What happens for  non-binary classifiers?</vt:lpstr>
      <vt:lpstr>Note: which algorithm is the best?  A) High bias low variance B) High variance low bias C) Lowest gap between train/test scores D) Highest test scores</vt:lpstr>
      <vt:lpstr>Note: which algorithm is the best?  A) High bias low variance B) High variance low bias C) Lowest gap between train/test scores D) Highest test scores</vt:lpstr>
      <vt:lpstr>Updated Summary of how to build a ML model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in Computational Astrophysics: Faraway Galaxies and Dark Energy </dc:title>
  <dc:subject/>
  <dc:creator/>
  <cp:keywords/>
  <dc:description/>
  <cp:lastModifiedBy>Viviana Acquaviva</cp:lastModifiedBy>
  <cp:revision>305</cp:revision>
  <cp:lastPrinted>2021-11-03T20:48:24Z</cp:lastPrinted>
  <dcterms:modified xsi:type="dcterms:W3CDTF">2023-05-31T20:26:48Z</dcterms:modified>
</cp:coreProperties>
</file>