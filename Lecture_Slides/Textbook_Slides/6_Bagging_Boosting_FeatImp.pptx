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961" r:id="rId1"/>
    <p:sldMasterId id="2147483973" r:id="rId2"/>
  </p:sldMasterIdLst>
  <p:notesMasterIdLst>
    <p:notesMasterId r:id="rId41"/>
  </p:notesMasterIdLst>
  <p:sldIdLst>
    <p:sldId id="605" r:id="rId3"/>
    <p:sldId id="257" r:id="rId4"/>
    <p:sldId id="258" r:id="rId5"/>
    <p:sldId id="259" r:id="rId6"/>
    <p:sldId id="260" r:id="rId7"/>
    <p:sldId id="606" r:id="rId8"/>
    <p:sldId id="262" r:id="rId9"/>
    <p:sldId id="263" r:id="rId10"/>
    <p:sldId id="264" r:id="rId11"/>
    <p:sldId id="607" r:id="rId12"/>
    <p:sldId id="266" r:id="rId13"/>
    <p:sldId id="267" r:id="rId14"/>
    <p:sldId id="268" r:id="rId15"/>
    <p:sldId id="590" r:id="rId16"/>
    <p:sldId id="583" r:id="rId17"/>
    <p:sldId id="278" r:id="rId18"/>
    <p:sldId id="295" r:id="rId19"/>
    <p:sldId id="584" r:id="rId20"/>
    <p:sldId id="585" r:id="rId21"/>
    <p:sldId id="297" r:id="rId22"/>
    <p:sldId id="281" r:id="rId23"/>
    <p:sldId id="291" r:id="rId24"/>
    <p:sldId id="292" r:id="rId25"/>
    <p:sldId id="293" r:id="rId26"/>
    <p:sldId id="282" r:id="rId27"/>
    <p:sldId id="294" r:id="rId28"/>
    <p:sldId id="586" r:id="rId29"/>
    <p:sldId id="589" r:id="rId30"/>
    <p:sldId id="587" r:id="rId31"/>
    <p:sldId id="300" r:id="rId32"/>
    <p:sldId id="283" r:id="rId33"/>
    <p:sldId id="269" r:id="rId34"/>
    <p:sldId id="271" r:id="rId35"/>
    <p:sldId id="272" r:id="rId36"/>
    <p:sldId id="301" r:id="rId37"/>
    <p:sldId id="608" r:id="rId38"/>
    <p:sldId id="609" r:id="rId39"/>
    <p:sldId id="588" r:id="rId40"/>
  </p:sldIdLst>
  <p:sldSz cx="13004800" cy="9753600"/>
  <p:notesSz cx="6858000" cy="9144000"/>
  <p:defaultTextStyle>
    <a:defPPr>
      <a:defRPr lang="en-US"/>
    </a:defPPr>
    <a:lvl1pPr algn="ctr" rtl="0" fontAlgn="base">
      <a:spcBef>
        <a:spcPct val="0"/>
      </a:spcBef>
      <a:spcAft>
        <a:spcPct val="0"/>
      </a:spcAft>
      <a:defRPr sz="3200" kern="1200">
        <a:solidFill>
          <a:srgbClr val="4A7594"/>
        </a:solidFill>
        <a:latin typeface="Helvetica Neue Bold Condensed" charset="0"/>
        <a:ea typeface="ヒラギノ角ゴ ProN W6" charset="0"/>
        <a:cs typeface="ヒラギノ角ゴ ProN W6" charset="0"/>
        <a:sym typeface="Helvetica Neue Bold Condensed" charset="0"/>
      </a:defRPr>
    </a:lvl1pPr>
    <a:lvl2pPr marL="457200" algn="ctr" rtl="0" fontAlgn="base">
      <a:spcBef>
        <a:spcPct val="0"/>
      </a:spcBef>
      <a:spcAft>
        <a:spcPct val="0"/>
      </a:spcAft>
      <a:defRPr sz="3200" kern="1200">
        <a:solidFill>
          <a:srgbClr val="4A7594"/>
        </a:solidFill>
        <a:latin typeface="Helvetica Neue Bold Condensed" charset="0"/>
        <a:ea typeface="ヒラギノ角ゴ ProN W6" charset="0"/>
        <a:cs typeface="ヒラギノ角ゴ ProN W6" charset="0"/>
        <a:sym typeface="Helvetica Neue Bold Condensed" charset="0"/>
      </a:defRPr>
    </a:lvl2pPr>
    <a:lvl3pPr marL="914400" algn="ctr" rtl="0" fontAlgn="base">
      <a:spcBef>
        <a:spcPct val="0"/>
      </a:spcBef>
      <a:spcAft>
        <a:spcPct val="0"/>
      </a:spcAft>
      <a:defRPr sz="3200" kern="1200">
        <a:solidFill>
          <a:srgbClr val="4A7594"/>
        </a:solidFill>
        <a:latin typeface="Helvetica Neue Bold Condensed" charset="0"/>
        <a:ea typeface="ヒラギノ角ゴ ProN W6" charset="0"/>
        <a:cs typeface="ヒラギノ角ゴ ProN W6" charset="0"/>
        <a:sym typeface="Helvetica Neue Bold Condensed" charset="0"/>
      </a:defRPr>
    </a:lvl3pPr>
    <a:lvl4pPr marL="1371600" algn="ctr" rtl="0" fontAlgn="base">
      <a:spcBef>
        <a:spcPct val="0"/>
      </a:spcBef>
      <a:spcAft>
        <a:spcPct val="0"/>
      </a:spcAft>
      <a:defRPr sz="3200" kern="1200">
        <a:solidFill>
          <a:srgbClr val="4A7594"/>
        </a:solidFill>
        <a:latin typeface="Helvetica Neue Bold Condensed" charset="0"/>
        <a:ea typeface="ヒラギノ角ゴ ProN W6" charset="0"/>
        <a:cs typeface="ヒラギノ角ゴ ProN W6" charset="0"/>
        <a:sym typeface="Helvetica Neue Bold Condensed" charset="0"/>
      </a:defRPr>
    </a:lvl4pPr>
    <a:lvl5pPr marL="1828800" algn="ctr" rtl="0" fontAlgn="base">
      <a:spcBef>
        <a:spcPct val="0"/>
      </a:spcBef>
      <a:spcAft>
        <a:spcPct val="0"/>
      </a:spcAft>
      <a:defRPr sz="3200" kern="1200">
        <a:solidFill>
          <a:srgbClr val="4A7594"/>
        </a:solidFill>
        <a:latin typeface="Helvetica Neue Bold Condensed" charset="0"/>
        <a:ea typeface="ヒラギノ角ゴ ProN W6" charset="0"/>
        <a:cs typeface="ヒラギノ角ゴ ProN W6" charset="0"/>
        <a:sym typeface="Helvetica Neue Bold Condensed" charset="0"/>
      </a:defRPr>
    </a:lvl5pPr>
    <a:lvl6pPr marL="2286000" algn="l" defTabSz="457200" rtl="0" eaLnBrk="1" latinLnBrk="0" hangingPunct="1">
      <a:defRPr sz="3200" kern="1200">
        <a:solidFill>
          <a:srgbClr val="4A7594"/>
        </a:solidFill>
        <a:latin typeface="Helvetica Neue Bold Condensed" charset="0"/>
        <a:ea typeface="ヒラギノ角ゴ ProN W6" charset="0"/>
        <a:cs typeface="ヒラギノ角ゴ ProN W6" charset="0"/>
        <a:sym typeface="Helvetica Neue Bold Condensed" charset="0"/>
      </a:defRPr>
    </a:lvl6pPr>
    <a:lvl7pPr marL="2743200" algn="l" defTabSz="457200" rtl="0" eaLnBrk="1" latinLnBrk="0" hangingPunct="1">
      <a:defRPr sz="3200" kern="1200">
        <a:solidFill>
          <a:srgbClr val="4A7594"/>
        </a:solidFill>
        <a:latin typeface="Helvetica Neue Bold Condensed" charset="0"/>
        <a:ea typeface="ヒラギノ角ゴ ProN W6" charset="0"/>
        <a:cs typeface="ヒラギノ角ゴ ProN W6" charset="0"/>
        <a:sym typeface="Helvetica Neue Bold Condensed" charset="0"/>
      </a:defRPr>
    </a:lvl7pPr>
    <a:lvl8pPr marL="3200400" algn="l" defTabSz="457200" rtl="0" eaLnBrk="1" latinLnBrk="0" hangingPunct="1">
      <a:defRPr sz="3200" kern="1200">
        <a:solidFill>
          <a:srgbClr val="4A7594"/>
        </a:solidFill>
        <a:latin typeface="Helvetica Neue Bold Condensed" charset="0"/>
        <a:ea typeface="ヒラギノ角ゴ ProN W6" charset="0"/>
        <a:cs typeface="ヒラギノ角ゴ ProN W6" charset="0"/>
        <a:sym typeface="Helvetica Neue Bold Condensed" charset="0"/>
      </a:defRPr>
    </a:lvl8pPr>
    <a:lvl9pPr marL="3657600" algn="l" defTabSz="457200" rtl="0" eaLnBrk="1" latinLnBrk="0" hangingPunct="1">
      <a:defRPr sz="3200" kern="1200">
        <a:solidFill>
          <a:srgbClr val="4A7594"/>
        </a:solidFill>
        <a:latin typeface="Helvetica Neue Bold Condensed" charset="0"/>
        <a:ea typeface="ヒラギノ角ゴ ProN W6" charset="0"/>
        <a:cs typeface="ヒラギノ角ゴ ProN W6" charset="0"/>
        <a:sym typeface="Helvetica Neue Bold Condensed" charset="0"/>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6FF"/>
    <a:srgbClr val="AAAAAA"/>
    <a:srgbClr val="009193"/>
    <a:srgbClr val="FF85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909" autoAdjust="0"/>
    <p:restoredTop sz="94418" autoAdjust="0"/>
  </p:normalViewPr>
  <p:slideViewPr>
    <p:cSldViewPr>
      <p:cViewPr varScale="1">
        <p:scale>
          <a:sx n="72" d="100"/>
          <a:sy n="72" d="100"/>
        </p:scale>
        <p:origin x="1240" y="224"/>
      </p:cViewPr>
      <p:guideLst>
        <p:guide orient="horz" pos="3072"/>
        <p:guide pos="4096"/>
      </p:guideLst>
    </p:cSldViewPr>
  </p:slideViewPr>
  <p:outlineViewPr>
    <p:cViewPr>
      <p:scale>
        <a:sx n="33" d="100"/>
        <a:sy n="33" d="100"/>
      </p:scale>
      <p:origin x="0" y="3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Gill Sans MT" panose="020B0502020104020203" pitchFamily="34" charset="77"/>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Gill Sans MT" panose="020B0502020104020203" pitchFamily="34" charset="77"/>
              </a:defRPr>
            </a:lvl1pPr>
          </a:lstStyle>
          <a:p>
            <a:fld id="{3ECB703B-55A8-CB49-B806-4B4D31A981B5}" type="datetimeFigureOut">
              <a:rPr lang="en-US" smtClean="0"/>
              <a:pPr/>
              <a:t>5/26/23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Gill Sans MT" panose="020B0502020104020203" pitchFamily="34" charset="77"/>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Gill Sans MT" panose="020B0502020104020203" pitchFamily="34" charset="77"/>
              </a:defRPr>
            </a:lvl1pPr>
          </a:lstStyle>
          <a:p>
            <a:fld id="{6FB31AFA-1213-A14C-91BC-540C88A91049}" type="slidenum">
              <a:rPr lang="en-US" smtClean="0"/>
              <a:pPr/>
              <a:t>‹#›</a:t>
            </a:fld>
            <a:endParaRPr lang="en-US" dirty="0"/>
          </a:p>
        </p:txBody>
      </p:sp>
    </p:spTree>
    <p:extLst>
      <p:ext uri="{BB962C8B-B14F-4D97-AF65-F5344CB8AC3E}">
        <p14:creationId xmlns:p14="http://schemas.microsoft.com/office/powerpoint/2010/main" val="1120650476"/>
      </p:ext>
    </p:extLst>
  </p:cSld>
  <p:clrMap bg1="lt1" tx1="dk1" bg2="lt2" tx2="dk2" accent1="accent1" accent2="accent2" accent3="accent3" accent4="accent4" accent5="accent5" accent6="accent6" hlink="hlink" folHlink="folHlink"/>
  <p:notesStyle>
    <a:lvl1pPr marL="0" algn="l" defTabSz="457200" rtl="0" eaLnBrk="1" latinLnBrk="0" hangingPunct="1">
      <a:defRPr sz="1200" b="0" i="0" kern="1200">
        <a:solidFill>
          <a:schemeClr val="tx1"/>
        </a:solidFill>
        <a:latin typeface="Gill Sans MT" panose="020B0502020104020203" pitchFamily="34" charset="77"/>
        <a:ea typeface="+mn-ea"/>
        <a:cs typeface="+mn-cs"/>
      </a:defRPr>
    </a:lvl1pPr>
    <a:lvl2pPr marL="457200" algn="l" defTabSz="457200" rtl="0" eaLnBrk="1" latinLnBrk="0" hangingPunct="1">
      <a:defRPr sz="1200" b="0" i="0" kern="1200">
        <a:solidFill>
          <a:schemeClr val="tx1"/>
        </a:solidFill>
        <a:latin typeface="Gill Sans MT" panose="020B0502020104020203" pitchFamily="34" charset="77"/>
        <a:ea typeface="+mn-ea"/>
        <a:cs typeface="+mn-cs"/>
      </a:defRPr>
    </a:lvl2pPr>
    <a:lvl3pPr marL="914400" algn="l" defTabSz="457200" rtl="0" eaLnBrk="1" latinLnBrk="0" hangingPunct="1">
      <a:defRPr sz="1200" b="0" i="0" kern="1200">
        <a:solidFill>
          <a:schemeClr val="tx1"/>
        </a:solidFill>
        <a:latin typeface="Gill Sans MT" panose="020B0502020104020203" pitchFamily="34" charset="77"/>
        <a:ea typeface="+mn-ea"/>
        <a:cs typeface="+mn-cs"/>
      </a:defRPr>
    </a:lvl3pPr>
    <a:lvl4pPr marL="1371600" algn="l" defTabSz="457200" rtl="0" eaLnBrk="1" latinLnBrk="0" hangingPunct="1">
      <a:defRPr sz="1200" b="0" i="0" kern="1200">
        <a:solidFill>
          <a:schemeClr val="tx1"/>
        </a:solidFill>
        <a:latin typeface="Gill Sans MT" panose="020B0502020104020203" pitchFamily="34" charset="77"/>
        <a:ea typeface="+mn-ea"/>
        <a:cs typeface="+mn-cs"/>
      </a:defRPr>
    </a:lvl4pPr>
    <a:lvl5pPr marL="1828800" algn="l" defTabSz="457200" rtl="0" eaLnBrk="1" latinLnBrk="0" hangingPunct="1">
      <a:defRPr sz="1200" b="0" i="0" kern="1200">
        <a:solidFill>
          <a:schemeClr val="tx1"/>
        </a:solidFill>
        <a:latin typeface="Gill Sans MT" panose="020B0502020104020203" pitchFamily="34" charset="77"/>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FB31AFA-1213-A14C-91BC-540C88A91049}" type="slidenum">
              <a:rPr kumimoji="0" lang="en-US" sz="1200" b="0" i="0" u="none" strike="noStrike" kern="1200" cap="none" spc="0" normalizeH="0" baseline="0" noProof="0" smtClean="0">
                <a:ln>
                  <a:noFill/>
                </a:ln>
                <a:solidFill>
                  <a:srgbClr val="4A7594"/>
                </a:solidFill>
                <a:effectLst/>
                <a:uLnTx/>
                <a:uFillTx/>
                <a:latin typeface="Gill Sans MT" panose="020B0502020104020203" pitchFamily="34" charset="77"/>
                <a:ea typeface="ヒラギノ角ゴ ProN W6" charset="0"/>
                <a:sym typeface="Helvetica Neue Bold Condensed" charset="0"/>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sz="1200" b="0" i="0" u="none" strike="noStrike" kern="1200" cap="none" spc="0" normalizeH="0" baseline="0" noProof="0" dirty="0">
              <a:ln>
                <a:noFill/>
              </a:ln>
              <a:solidFill>
                <a:srgbClr val="4A7594"/>
              </a:solidFill>
              <a:effectLst/>
              <a:uLnTx/>
              <a:uFillTx/>
              <a:latin typeface="Gill Sans MT" panose="020B0502020104020203" pitchFamily="34" charset="77"/>
              <a:ea typeface="ヒラギノ角ゴ ProN W6" charset="0"/>
              <a:sym typeface="Helvetica Neue Bold Condensed" charset="0"/>
            </a:endParaRPr>
          </a:p>
        </p:txBody>
      </p:sp>
    </p:spTree>
    <p:extLst>
      <p:ext uri="{BB962C8B-B14F-4D97-AF65-F5344CB8AC3E}">
        <p14:creationId xmlns:p14="http://schemas.microsoft.com/office/powerpoint/2010/main" val="771006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notebooks are publicly available</a:t>
            </a:r>
          </a:p>
        </p:txBody>
      </p:sp>
      <p:sp>
        <p:nvSpPr>
          <p:cNvPr id="4" name="Slide Number Placeholder 3"/>
          <p:cNvSpPr>
            <a:spLocks noGrp="1"/>
          </p:cNvSpPr>
          <p:nvPr>
            <p:ph type="sldNum" sz="quarter" idx="5"/>
          </p:nvPr>
        </p:nvSpPr>
        <p:spPr/>
        <p:txBody>
          <a:bodyPr/>
          <a:lstStyle/>
          <a:p>
            <a:fld id="{6FB31AFA-1213-A14C-91BC-540C88A91049}" type="slidenum">
              <a:rPr lang="en-US" smtClean="0"/>
              <a:pPr/>
              <a:t>7</a:t>
            </a:fld>
            <a:endParaRPr lang="en-US" dirty="0"/>
          </a:p>
        </p:txBody>
      </p:sp>
    </p:spTree>
    <p:extLst>
      <p:ext uri="{BB962C8B-B14F-4D97-AF65-F5344CB8AC3E}">
        <p14:creationId xmlns:p14="http://schemas.microsoft.com/office/powerpoint/2010/main" val="1802554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BF64-E391-B94F-9CE6-B80F03D741FE}" type="slidenum">
              <a:rPr lang="en-US" smtClean="0"/>
              <a:t>18</a:t>
            </a:fld>
            <a:endParaRPr lang="en-US"/>
          </a:p>
        </p:txBody>
      </p:sp>
    </p:spTree>
    <p:extLst>
      <p:ext uri="{BB962C8B-B14F-4D97-AF65-F5344CB8AC3E}">
        <p14:creationId xmlns:p14="http://schemas.microsoft.com/office/powerpoint/2010/main" val="168759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BF64-E391-B94F-9CE6-B80F03D741FE}" type="slidenum">
              <a:rPr lang="en-US" smtClean="0"/>
              <a:t>38</a:t>
            </a:fld>
            <a:endParaRPr lang="en-US"/>
          </a:p>
        </p:txBody>
      </p:sp>
    </p:spTree>
    <p:extLst>
      <p:ext uri="{BB962C8B-B14F-4D97-AF65-F5344CB8AC3E}">
        <p14:creationId xmlns:p14="http://schemas.microsoft.com/office/powerpoint/2010/main" val="749677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67630" y="3394480"/>
            <a:ext cx="9869540" cy="2340864"/>
          </a:xfrm>
          <a:solidFill>
            <a:srgbClr val="FFFFFF"/>
          </a:solidFill>
          <a:ln w="38100">
            <a:solidFill>
              <a:srgbClr val="404040"/>
            </a:solidFill>
          </a:ln>
        </p:spPr>
        <p:txBody>
          <a:bodyPr lIns="274320" rIns="274320" anchor="ctr" anchorCtr="1">
            <a:normAutofit/>
          </a:bodyPr>
          <a:lstStyle>
            <a:lvl1pPr algn="ctr">
              <a:defRPr sz="4978">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874875" y="6190285"/>
            <a:ext cx="7255053" cy="1763405"/>
          </a:xfrm>
          <a:noFill/>
        </p:spPr>
        <p:txBody>
          <a:bodyPr>
            <a:normAutofit/>
          </a:bodyPr>
          <a:lstStyle>
            <a:lvl1pPr marL="0" indent="0" algn="ctr">
              <a:buNone/>
              <a:defRPr sz="2702">
                <a:solidFill>
                  <a:schemeClr val="tx1">
                    <a:lumMod val="75000"/>
                    <a:lumOff val="25000"/>
                  </a:schemeClr>
                </a:solidFill>
              </a:defRPr>
            </a:lvl1pPr>
            <a:lvl2pPr marL="650230" indent="0" algn="ctr">
              <a:buNone/>
              <a:defRPr sz="2702"/>
            </a:lvl2pPr>
            <a:lvl3pPr marL="1300460" indent="0" algn="ctr">
              <a:buNone/>
              <a:defRPr sz="2560"/>
            </a:lvl3pPr>
            <a:lvl4pPr marL="1950690" indent="0" algn="ctr">
              <a:buNone/>
              <a:defRPr sz="2276"/>
            </a:lvl4pPr>
            <a:lvl5pPr marL="2600919" indent="0" algn="ctr">
              <a:buNone/>
              <a:defRPr sz="2276"/>
            </a:lvl5pPr>
            <a:lvl6pPr marL="3251149" indent="0" algn="ctr">
              <a:buNone/>
              <a:defRPr sz="2276"/>
            </a:lvl6pPr>
            <a:lvl7pPr marL="3901379" indent="0" algn="ctr">
              <a:buNone/>
              <a:defRPr sz="2276"/>
            </a:lvl7pPr>
            <a:lvl8pPr marL="4551609" indent="0" algn="ctr">
              <a:buNone/>
              <a:defRPr sz="2276"/>
            </a:lvl8pPr>
            <a:lvl9pPr marL="5201839" indent="0" algn="ctr">
              <a:buNone/>
              <a:defRPr sz="2276"/>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8C1B375-16D5-F343-9C0E-AD3735F106C7}" type="datetimeFigureOut">
              <a:rPr lang="en-US" smtClean="0"/>
              <a:t>5/26/23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118246618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C1B375-16D5-F343-9C0E-AD3735F106C7}" type="datetimeFigureOut">
              <a:rPr lang="en-US" smtClean="0"/>
              <a:t>5/26/23</a:t>
            </a:fld>
            <a:endParaRPr lang="en-US"/>
          </a:p>
        </p:txBody>
      </p:sp>
      <p:sp>
        <p:nvSpPr>
          <p:cNvPr id="8" name="Footer Placeholder 7"/>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974522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73581" y="3394480"/>
            <a:ext cx="9870643" cy="2340864"/>
          </a:xfrm>
          <a:solidFill>
            <a:srgbClr val="FFFFFF"/>
          </a:solidFill>
          <a:ln w="38100">
            <a:solidFill>
              <a:srgbClr val="404040"/>
            </a:solidFill>
          </a:ln>
        </p:spPr>
        <p:txBody>
          <a:bodyPr lIns="274320" rIns="274320" anchor="ctr" anchorCtr="1">
            <a:normAutofit/>
          </a:bodyPr>
          <a:lstStyle>
            <a:lvl1pPr>
              <a:defRPr sz="4978">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74875" y="6190172"/>
            <a:ext cx="7255053" cy="1799228"/>
          </a:xfrm>
        </p:spPr>
        <p:txBody>
          <a:bodyPr anchor="t" anchorCtr="1">
            <a:normAutofit/>
          </a:bodyPr>
          <a:lstStyle>
            <a:lvl1pPr marL="0" indent="0">
              <a:buNone/>
              <a:defRPr sz="2702">
                <a:solidFill>
                  <a:schemeClr val="tx1"/>
                </a:solidFill>
              </a:defRPr>
            </a:lvl1pPr>
            <a:lvl2pPr marL="650230" indent="0">
              <a:buNone/>
              <a:defRPr sz="2702">
                <a:solidFill>
                  <a:schemeClr val="tx1">
                    <a:tint val="75000"/>
                  </a:schemeClr>
                </a:solidFill>
              </a:defRPr>
            </a:lvl2pPr>
            <a:lvl3pPr marL="1300460" indent="0">
              <a:buNone/>
              <a:defRPr sz="2560">
                <a:solidFill>
                  <a:schemeClr val="tx1">
                    <a:tint val="75000"/>
                  </a:schemeClr>
                </a:solidFill>
              </a:defRPr>
            </a:lvl3pPr>
            <a:lvl4pPr marL="1950690" indent="0">
              <a:buNone/>
              <a:defRPr sz="2276">
                <a:solidFill>
                  <a:schemeClr val="tx1">
                    <a:tint val="75000"/>
                  </a:schemeClr>
                </a:solidFill>
              </a:defRPr>
            </a:lvl4pPr>
            <a:lvl5pPr marL="2600919" indent="0">
              <a:buNone/>
              <a:defRPr sz="2276">
                <a:solidFill>
                  <a:schemeClr val="tx1">
                    <a:tint val="75000"/>
                  </a:schemeClr>
                </a:solidFill>
              </a:defRPr>
            </a:lvl5pPr>
            <a:lvl6pPr marL="3251149" indent="0">
              <a:buNone/>
              <a:defRPr sz="2276">
                <a:solidFill>
                  <a:schemeClr val="tx1">
                    <a:tint val="75000"/>
                  </a:schemeClr>
                </a:solidFill>
              </a:defRPr>
            </a:lvl6pPr>
            <a:lvl7pPr marL="3901379" indent="0">
              <a:buNone/>
              <a:defRPr sz="2276">
                <a:solidFill>
                  <a:schemeClr val="tx1">
                    <a:tint val="75000"/>
                  </a:schemeClr>
                </a:solidFill>
              </a:defRPr>
            </a:lvl7pPr>
            <a:lvl8pPr marL="4551609" indent="0">
              <a:buNone/>
              <a:defRPr sz="2276">
                <a:solidFill>
                  <a:schemeClr val="tx1">
                    <a:tint val="75000"/>
                  </a:schemeClr>
                </a:solidFill>
              </a:defRPr>
            </a:lvl8pPr>
            <a:lvl9pPr marL="5201839" indent="0">
              <a:buNone/>
              <a:defRPr sz="2276">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C8C1B375-16D5-F343-9C0E-AD3735F106C7}" type="datetimeFigureOut">
              <a:rPr lang="en-US" smtClean="0"/>
              <a:t>5/26/23</a:t>
            </a:fld>
            <a:endParaRPr lang="en-US"/>
          </a:p>
        </p:txBody>
      </p:sp>
      <p:sp>
        <p:nvSpPr>
          <p:cNvPr id="8" name="Footer Placeholder 7"/>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49801274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67630" y="3751885"/>
            <a:ext cx="4676299" cy="44117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760870" y="3751885"/>
            <a:ext cx="4679845" cy="44117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8C1B375-16D5-F343-9C0E-AD3735F106C7}" type="datetimeFigureOut">
              <a:rPr lang="en-US" smtClean="0"/>
              <a:t>5/26/23</a:t>
            </a:fld>
            <a:endParaRPr lang="en-US"/>
          </a:p>
        </p:txBody>
      </p:sp>
      <p:sp>
        <p:nvSpPr>
          <p:cNvPr id="9" name="Footer Placeholder 8"/>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975114556"/>
      </p:ext>
    </p:extLst>
  </p:cSld>
  <p:clrMapOvr>
    <a:masterClrMapping/>
  </p:clrMapOvr>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67629" y="3290218"/>
            <a:ext cx="4676301" cy="1001368"/>
          </a:xfrm>
        </p:spPr>
        <p:txBody>
          <a:bodyPr anchor="b" anchorCtr="1">
            <a:normAutofit/>
          </a:bodyPr>
          <a:lstStyle>
            <a:lvl1pPr marL="0" indent="0" algn="ctr">
              <a:buNone/>
              <a:defRPr sz="2702" b="0" cap="all" spc="142" baseline="0">
                <a:solidFill>
                  <a:schemeClr val="tx2"/>
                </a:solidFill>
              </a:defRPr>
            </a:lvl1pPr>
            <a:lvl2pPr marL="650230" indent="0">
              <a:buNone/>
              <a:defRPr sz="2702"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a:t>Click to edit Master text styles</a:t>
            </a:r>
          </a:p>
        </p:txBody>
      </p:sp>
      <p:sp>
        <p:nvSpPr>
          <p:cNvPr id="4" name="Content Placeholder 3"/>
          <p:cNvSpPr>
            <a:spLocks noGrp="1"/>
          </p:cNvSpPr>
          <p:nvPr>
            <p:ph sz="half" idx="2"/>
          </p:nvPr>
        </p:nvSpPr>
        <p:spPr>
          <a:xfrm>
            <a:off x="1567629" y="4470400"/>
            <a:ext cx="4676301" cy="3693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760870" y="4470400"/>
            <a:ext cx="4679845" cy="3693193"/>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760870" y="3290218"/>
            <a:ext cx="4679845" cy="1001368"/>
          </a:xfrm>
        </p:spPr>
        <p:txBody>
          <a:bodyPr anchor="b" anchorCtr="1">
            <a:normAutofit/>
          </a:bodyPr>
          <a:lstStyle>
            <a:lvl1pPr marL="0" indent="0" algn="ctr">
              <a:buNone/>
              <a:defRPr sz="2702" b="0" cap="all" spc="142" baseline="0">
                <a:solidFill>
                  <a:schemeClr val="tx2"/>
                </a:solidFill>
              </a:defRPr>
            </a:lvl1pPr>
            <a:lvl2pPr marL="650230" indent="0">
              <a:buNone/>
              <a:defRPr sz="2702"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a:t>Click to edit Master text styles</a:t>
            </a:r>
          </a:p>
        </p:txBody>
      </p:sp>
      <p:sp>
        <p:nvSpPr>
          <p:cNvPr id="7" name="Date Placeholder 6"/>
          <p:cNvSpPr>
            <a:spLocks noGrp="1"/>
          </p:cNvSpPr>
          <p:nvPr>
            <p:ph type="dt" sz="half" idx="10"/>
          </p:nvPr>
        </p:nvSpPr>
        <p:spPr/>
        <p:txBody>
          <a:bodyPr/>
          <a:lstStyle/>
          <a:p>
            <a:fld id="{C8C1B375-16D5-F343-9C0E-AD3735F106C7}" type="datetimeFigureOut">
              <a:rPr lang="en-US" smtClean="0"/>
              <a:t>5/26/23</a:t>
            </a:fld>
            <a:endParaRPr lang="en-US"/>
          </a:p>
        </p:txBody>
      </p:sp>
      <p:sp>
        <p:nvSpPr>
          <p:cNvPr id="8" name="Footer Placeholder 7"/>
          <p:cNvSpPr>
            <a:spLocks noGrp="1"/>
          </p:cNvSpPr>
          <p:nvPr>
            <p:ph type="ftr" sz="quarter" idx="11"/>
          </p:nvPr>
        </p:nvSpPr>
        <p:spPr/>
        <p:txBody>
          <a:bodyPr/>
          <a:lstStyle/>
          <a:p>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511651884"/>
      </p:ext>
    </p:extLst>
  </p:cSld>
  <p:clrMapOvr>
    <a:masterClrMapping/>
  </p:clrMapOvr>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1B375-16D5-F343-9C0E-AD3735F106C7}" type="datetimeFigureOut">
              <a:rPr lang="en-US" smtClean="0"/>
              <a:t>5/26/23</a:t>
            </a:fld>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26244229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C1B375-16D5-F343-9C0E-AD3735F106C7}" type="datetimeFigureOut">
              <a:rPr lang="en-US" smtClean="0"/>
              <a:t>5/26/23</a:t>
            </a:fld>
            <a:endParaRPr lang="en-US"/>
          </a:p>
        </p:txBody>
      </p:sp>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88897444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6502400" y="0"/>
            <a:ext cx="6502400" cy="975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1222" y="3191224"/>
            <a:ext cx="4679956" cy="1623462"/>
          </a:xfrm>
          <a:solidFill>
            <a:srgbClr val="FFFFFF"/>
          </a:solidFill>
          <a:ln>
            <a:solidFill>
              <a:srgbClr val="404040"/>
            </a:solidFill>
          </a:ln>
        </p:spPr>
        <p:txBody>
          <a:bodyPr anchor="ctr" anchorCtr="1">
            <a:normAutofit/>
          </a:bodyPr>
          <a:lstStyle>
            <a:lvl1pPr>
              <a:defRPr sz="2987">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7185152" y="1144423"/>
            <a:ext cx="5136896" cy="7464755"/>
          </a:xfrm>
        </p:spPr>
        <p:txBody>
          <a:bodyPr>
            <a:normAutofit/>
          </a:bodyPr>
          <a:lstStyle>
            <a:lvl1pPr>
              <a:defRPr sz="2702">
                <a:solidFill>
                  <a:schemeClr val="tx1"/>
                </a:solidFill>
              </a:defRPr>
            </a:lvl1pPr>
            <a:lvl2pPr>
              <a:defRPr sz="2276">
                <a:solidFill>
                  <a:schemeClr val="tx1"/>
                </a:solidFill>
              </a:defRPr>
            </a:lvl2pPr>
            <a:lvl3pPr>
              <a:defRPr sz="2276">
                <a:solidFill>
                  <a:schemeClr val="tx1"/>
                </a:solidFill>
              </a:defRPr>
            </a:lvl3pPr>
            <a:lvl4pPr>
              <a:defRPr sz="2276">
                <a:solidFill>
                  <a:schemeClr val="tx1"/>
                </a:solidFill>
              </a:defRPr>
            </a:lvl4pPr>
            <a:lvl5pPr>
              <a:defRPr sz="2276">
                <a:solidFill>
                  <a:schemeClr val="tx1"/>
                </a:solidFill>
              </a:defRPr>
            </a:lvl5pPr>
            <a:lvl6pPr>
              <a:defRPr sz="2276"/>
            </a:lvl6pPr>
            <a:lvl7pPr>
              <a:defRPr sz="2276"/>
            </a:lvl7pPr>
            <a:lvl8pPr>
              <a:defRPr sz="2276"/>
            </a:lvl8pPr>
            <a:lvl9pPr>
              <a:defRPr sz="227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27328" y="5048772"/>
            <a:ext cx="4047744" cy="3120407"/>
          </a:xfrm>
        </p:spPr>
        <p:txBody>
          <a:bodyPr anchor="t" anchorCtr="1">
            <a:normAutofit/>
          </a:bodyPr>
          <a:lstStyle>
            <a:lvl1pPr marL="0" indent="0" algn="ctr">
              <a:buNone/>
              <a:defRPr sz="2133">
                <a:solidFill>
                  <a:schemeClr val="tx1">
                    <a:lumMod val="85000"/>
                    <a:lumOff val="15000"/>
                  </a:schemeClr>
                </a:solidFill>
              </a:defRPr>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a:t>Click to edit Master text styles</a:t>
            </a:r>
          </a:p>
        </p:txBody>
      </p:sp>
      <p:sp>
        <p:nvSpPr>
          <p:cNvPr id="9" name="Date Placeholder 8"/>
          <p:cNvSpPr>
            <a:spLocks noGrp="1"/>
          </p:cNvSpPr>
          <p:nvPr>
            <p:ph type="dt" sz="half" idx="10"/>
          </p:nvPr>
        </p:nvSpPr>
        <p:spPr/>
        <p:txBody>
          <a:bodyPr/>
          <a:lstStyle/>
          <a:p>
            <a:fld id="{C8C1B375-16D5-F343-9C0E-AD3735F106C7}" type="datetimeFigureOut">
              <a:rPr lang="en-US" smtClean="0"/>
              <a:t>5/26/23</a:t>
            </a:fld>
            <a:endParaRPr lang="en-US"/>
          </a:p>
        </p:txBody>
      </p:sp>
      <p:sp>
        <p:nvSpPr>
          <p:cNvPr id="10" name="Footer Placeholder 9"/>
          <p:cNvSpPr>
            <a:spLocks noGrp="1"/>
          </p:cNvSpPr>
          <p:nvPr>
            <p:ph type="ftr" sz="quarter" idx="11"/>
          </p:nvPr>
        </p:nvSpPr>
        <p:spPr>
          <a:xfrm>
            <a:off x="911222" y="8869274"/>
            <a:ext cx="5413544" cy="455168"/>
          </a:xfrm>
        </p:spPr>
        <p:txBody>
          <a:bodyPr>
            <a:normAutofit/>
          </a:bodyPr>
          <a:lstStyle>
            <a:lvl1pPr>
              <a:defRPr>
                <a:solidFill>
                  <a:schemeClr val="tx1">
                    <a:alpha val="70000"/>
                  </a:schemeClr>
                </a:solidFill>
              </a:defRPr>
            </a:lvl1pPr>
          </a:lstStyle>
          <a:p>
            <a:endParaRPr lang="en-US"/>
          </a:p>
        </p:txBody>
      </p:sp>
    </p:spTree>
    <p:extLst>
      <p:ext uri="{BB962C8B-B14F-4D97-AF65-F5344CB8AC3E}">
        <p14:creationId xmlns:p14="http://schemas.microsoft.com/office/powerpoint/2010/main" val="1826189261"/>
      </p:ext>
    </p:extLst>
  </p:cSld>
  <p:clrMapOvr>
    <a:masterClrMapping/>
  </p:clrMapOvr>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0336" y="3191222"/>
            <a:ext cx="4681728" cy="1625600"/>
          </a:xfrm>
          <a:solidFill>
            <a:srgbClr val="FFFFFF"/>
          </a:solidFill>
          <a:ln>
            <a:solidFill>
              <a:srgbClr val="262626"/>
            </a:solidFill>
          </a:ln>
        </p:spPr>
        <p:txBody>
          <a:bodyPr anchor="ctr" anchorCtr="1">
            <a:noAutofit/>
          </a:bodyPr>
          <a:lstStyle>
            <a:lvl1pPr>
              <a:defRPr sz="2987">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502401" y="0"/>
            <a:ext cx="6508904" cy="9753600"/>
          </a:xfrm>
          <a:solidFill>
            <a:schemeClr val="bg1"/>
          </a:solidFill>
        </p:spPr>
        <p:txBody>
          <a:bodyPr anchor="t"/>
          <a:lstStyle>
            <a:lvl1pPr marL="0" indent="0">
              <a:buNone/>
              <a:defRPr sz="4551">
                <a:solidFill>
                  <a:schemeClr val="tx1"/>
                </a:solidFill>
              </a:defRPr>
            </a:lvl1pPr>
            <a:lvl2pPr marL="650230" indent="0">
              <a:buNone/>
              <a:defRPr sz="3982"/>
            </a:lvl2pPr>
            <a:lvl3pPr marL="1300460" indent="0">
              <a:buNone/>
              <a:defRPr sz="3413"/>
            </a:lvl3pPr>
            <a:lvl4pPr marL="1950690" indent="0">
              <a:buNone/>
              <a:defRPr sz="2844"/>
            </a:lvl4pPr>
            <a:lvl5pPr marL="2600919" indent="0">
              <a:buNone/>
              <a:defRPr sz="2844"/>
            </a:lvl5pPr>
            <a:lvl6pPr marL="3251149" indent="0">
              <a:buNone/>
              <a:defRPr sz="2844"/>
            </a:lvl6pPr>
            <a:lvl7pPr marL="3901379" indent="0">
              <a:buNone/>
              <a:defRPr sz="2844"/>
            </a:lvl7pPr>
            <a:lvl8pPr marL="4551609" indent="0">
              <a:buNone/>
              <a:defRPr sz="2844"/>
            </a:lvl8pPr>
            <a:lvl9pPr marL="5201839" indent="0">
              <a:buNone/>
              <a:defRPr sz="2844"/>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1227328" y="5048774"/>
            <a:ext cx="4047744" cy="3120408"/>
          </a:xfrm>
        </p:spPr>
        <p:txBody>
          <a:bodyPr anchor="t" anchorCtr="1">
            <a:normAutofit/>
          </a:bodyPr>
          <a:lstStyle>
            <a:lvl1pPr marL="0" indent="0" algn="ctr">
              <a:buNone/>
              <a:defRPr sz="2133">
                <a:solidFill>
                  <a:schemeClr val="tx1">
                    <a:lumMod val="85000"/>
                    <a:lumOff val="15000"/>
                  </a:schemeClr>
                </a:solidFill>
              </a:defRPr>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C8C1B375-16D5-F343-9C0E-AD3735F106C7}" type="datetimeFigureOut">
              <a:rPr lang="en-US" smtClean="0"/>
              <a:t>5/26/23</a:t>
            </a:fld>
            <a:endParaRPr lang="en-US"/>
          </a:p>
        </p:txBody>
      </p:sp>
      <p:sp>
        <p:nvSpPr>
          <p:cNvPr id="9" name="Footer Placeholder 8"/>
          <p:cNvSpPr>
            <a:spLocks noGrp="1"/>
          </p:cNvSpPr>
          <p:nvPr>
            <p:ph type="ftr" sz="quarter" idx="11"/>
          </p:nvPr>
        </p:nvSpPr>
        <p:spPr>
          <a:xfrm>
            <a:off x="910336" y="8869274"/>
            <a:ext cx="5409997" cy="455168"/>
          </a:xfrm>
        </p:spPr>
        <p:txBody>
          <a:bodyPr>
            <a:normAutofit/>
          </a:bodyPr>
          <a:lstStyle>
            <a:lvl1pPr>
              <a:defRPr>
                <a:solidFill>
                  <a:schemeClr val="tx1">
                    <a:alpha val="70000"/>
                  </a:schemeClr>
                </a:solidFill>
              </a:defRPr>
            </a:lvl1pPr>
          </a:lstStyle>
          <a:p>
            <a:endParaRPr lang="en-US"/>
          </a:p>
        </p:txBody>
      </p:sp>
      <p:sp>
        <p:nvSpPr>
          <p:cNvPr id="10" name="Slide Number Placeholder 9"/>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179400713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C1B375-16D5-F343-9C0E-AD3735F106C7}" type="datetimeFigureOut">
              <a:rPr lang="en-US" smtClean="0"/>
              <a:t>5/26/23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12565091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29986" y="1332992"/>
            <a:ext cx="1498974" cy="708761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84155" y="1332992"/>
            <a:ext cx="6707447" cy="708761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C1B375-16D5-F343-9C0E-AD3735F106C7}" type="datetimeFigureOut">
              <a:rPr lang="en-US" smtClean="0"/>
              <a:t>5/26/23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12588011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67630" y="3394480"/>
            <a:ext cx="9869540" cy="2340864"/>
          </a:xfrm>
          <a:solidFill>
            <a:srgbClr val="FFFFFF"/>
          </a:solidFill>
          <a:ln w="38100">
            <a:solidFill>
              <a:srgbClr val="404040"/>
            </a:solidFill>
          </a:ln>
        </p:spPr>
        <p:txBody>
          <a:bodyPr lIns="274320" rIns="274320" anchor="ctr" anchorCtr="1">
            <a:normAutofit/>
          </a:bodyPr>
          <a:lstStyle>
            <a:lvl1pPr algn="ctr">
              <a:defRPr sz="4978">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874875" y="6190285"/>
            <a:ext cx="7255053" cy="1763405"/>
          </a:xfrm>
          <a:noFill/>
        </p:spPr>
        <p:txBody>
          <a:bodyPr>
            <a:normAutofit/>
          </a:bodyPr>
          <a:lstStyle>
            <a:lvl1pPr marL="0" indent="0" algn="ctr">
              <a:buNone/>
              <a:defRPr sz="2702">
                <a:solidFill>
                  <a:schemeClr val="tx1">
                    <a:lumMod val="75000"/>
                    <a:lumOff val="25000"/>
                  </a:schemeClr>
                </a:solidFill>
              </a:defRPr>
            </a:lvl1pPr>
            <a:lvl2pPr marL="650230" indent="0" algn="ctr">
              <a:buNone/>
              <a:defRPr sz="2702"/>
            </a:lvl2pPr>
            <a:lvl3pPr marL="1300460" indent="0" algn="ctr">
              <a:buNone/>
              <a:defRPr sz="2560"/>
            </a:lvl3pPr>
            <a:lvl4pPr marL="1950690" indent="0" algn="ctr">
              <a:buNone/>
              <a:defRPr sz="2276"/>
            </a:lvl4pPr>
            <a:lvl5pPr marL="2600919" indent="0" algn="ctr">
              <a:buNone/>
              <a:defRPr sz="2276"/>
            </a:lvl5pPr>
            <a:lvl6pPr marL="3251149" indent="0" algn="ctr">
              <a:buNone/>
              <a:defRPr sz="2276"/>
            </a:lvl6pPr>
            <a:lvl7pPr marL="3901379" indent="0" algn="ctr">
              <a:buNone/>
              <a:defRPr sz="2276"/>
            </a:lvl7pPr>
            <a:lvl8pPr marL="4551609" indent="0" algn="ctr">
              <a:buNone/>
              <a:defRPr sz="2276"/>
            </a:lvl8pPr>
            <a:lvl9pPr marL="5201839" indent="0" algn="ctr">
              <a:buNone/>
              <a:defRPr sz="2276"/>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6CC6C3B2-064B-354D-8C1F-514EB506E547}" type="datetime1">
              <a:rPr lang="en-US" smtClean="0"/>
              <a:t>5/26/23</a:t>
            </a:fld>
            <a:endParaRPr lang="en-US"/>
          </a:p>
        </p:txBody>
      </p:sp>
      <p:sp>
        <p:nvSpPr>
          <p:cNvPr id="8" name="Footer Placeholder 7"/>
          <p:cNvSpPr>
            <a:spLocks noGrp="1"/>
          </p:cNvSpPr>
          <p:nvPr>
            <p:ph type="ftr" sz="quarter" idx="11"/>
          </p:nvPr>
        </p:nvSpPr>
        <p:spPr/>
        <p:txBody>
          <a:bodyPr/>
          <a:lstStyle/>
          <a:p>
            <a:r>
              <a:rPr lang="en-US"/>
              <a:t>Machine Learning for Physics and Astronomy</a:t>
            </a:r>
          </a:p>
        </p:txBody>
      </p:sp>
      <p:sp>
        <p:nvSpPr>
          <p:cNvPr id="9" name="Slide Number Placeholder 8"/>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21801436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459356F-D5F2-F240-8665-C411DDB10310}" type="datetime1">
              <a:rPr lang="en-US" smtClean="0"/>
              <a:t>5/26/23</a:t>
            </a:fld>
            <a:endParaRPr lang="en-US"/>
          </a:p>
        </p:txBody>
      </p:sp>
      <p:sp>
        <p:nvSpPr>
          <p:cNvPr id="8" name="Footer Placeholder 7"/>
          <p:cNvSpPr>
            <a:spLocks noGrp="1"/>
          </p:cNvSpPr>
          <p:nvPr>
            <p:ph type="ftr" sz="quarter" idx="11"/>
          </p:nvPr>
        </p:nvSpPr>
        <p:spPr/>
        <p:txBody>
          <a:bodyPr/>
          <a:lstStyle/>
          <a:p>
            <a:r>
              <a:rPr lang="en-US"/>
              <a:t>Machine Learning for Physics and Astronomy</a:t>
            </a:r>
          </a:p>
        </p:txBody>
      </p:sp>
      <p:sp>
        <p:nvSpPr>
          <p:cNvPr id="9" name="Slide Number Placeholder 8"/>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142582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73581" y="3394480"/>
            <a:ext cx="9870643" cy="2340864"/>
          </a:xfrm>
          <a:solidFill>
            <a:srgbClr val="FFFFFF"/>
          </a:solidFill>
          <a:ln w="38100">
            <a:solidFill>
              <a:srgbClr val="404040"/>
            </a:solidFill>
          </a:ln>
        </p:spPr>
        <p:txBody>
          <a:bodyPr lIns="274320" rIns="274320" anchor="ctr" anchorCtr="1">
            <a:normAutofit/>
          </a:bodyPr>
          <a:lstStyle>
            <a:lvl1pPr>
              <a:defRPr sz="4978">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74875" y="6190172"/>
            <a:ext cx="7255053" cy="1799228"/>
          </a:xfrm>
        </p:spPr>
        <p:txBody>
          <a:bodyPr anchor="t" anchorCtr="1">
            <a:normAutofit/>
          </a:bodyPr>
          <a:lstStyle>
            <a:lvl1pPr marL="0" indent="0">
              <a:buNone/>
              <a:defRPr sz="2702">
                <a:solidFill>
                  <a:schemeClr val="tx1"/>
                </a:solidFill>
              </a:defRPr>
            </a:lvl1pPr>
            <a:lvl2pPr marL="650230" indent="0">
              <a:buNone/>
              <a:defRPr sz="2702">
                <a:solidFill>
                  <a:schemeClr val="tx1">
                    <a:tint val="75000"/>
                  </a:schemeClr>
                </a:solidFill>
              </a:defRPr>
            </a:lvl2pPr>
            <a:lvl3pPr marL="1300460" indent="0">
              <a:buNone/>
              <a:defRPr sz="2560">
                <a:solidFill>
                  <a:schemeClr val="tx1">
                    <a:tint val="75000"/>
                  </a:schemeClr>
                </a:solidFill>
              </a:defRPr>
            </a:lvl3pPr>
            <a:lvl4pPr marL="1950690" indent="0">
              <a:buNone/>
              <a:defRPr sz="2276">
                <a:solidFill>
                  <a:schemeClr val="tx1">
                    <a:tint val="75000"/>
                  </a:schemeClr>
                </a:solidFill>
              </a:defRPr>
            </a:lvl4pPr>
            <a:lvl5pPr marL="2600919" indent="0">
              <a:buNone/>
              <a:defRPr sz="2276">
                <a:solidFill>
                  <a:schemeClr val="tx1">
                    <a:tint val="75000"/>
                  </a:schemeClr>
                </a:solidFill>
              </a:defRPr>
            </a:lvl5pPr>
            <a:lvl6pPr marL="3251149" indent="0">
              <a:buNone/>
              <a:defRPr sz="2276">
                <a:solidFill>
                  <a:schemeClr val="tx1">
                    <a:tint val="75000"/>
                  </a:schemeClr>
                </a:solidFill>
              </a:defRPr>
            </a:lvl6pPr>
            <a:lvl7pPr marL="3901379" indent="0">
              <a:buNone/>
              <a:defRPr sz="2276">
                <a:solidFill>
                  <a:schemeClr val="tx1">
                    <a:tint val="75000"/>
                  </a:schemeClr>
                </a:solidFill>
              </a:defRPr>
            </a:lvl7pPr>
            <a:lvl8pPr marL="4551609" indent="0">
              <a:buNone/>
              <a:defRPr sz="2276">
                <a:solidFill>
                  <a:schemeClr val="tx1">
                    <a:tint val="75000"/>
                  </a:schemeClr>
                </a:solidFill>
              </a:defRPr>
            </a:lvl8pPr>
            <a:lvl9pPr marL="5201839" indent="0">
              <a:buNone/>
              <a:defRPr sz="2276">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B559FE14-C96F-2E4D-B6F3-AA2A4CFDA7DE}" type="datetime1">
              <a:rPr lang="en-US" smtClean="0"/>
              <a:t>5/26/23</a:t>
            </a:fld>
            <a:endParaRPr lang="en-US"/>
          </a:p>
        </p:txBody>
      </p:sp>
      <p:sp>
        <p:nvSpPr>
          <p:cNvPr id="8" name="Footer Placeholder 7"/>
          <p:cNvSpPr>
            <a:spLocks noGrp="1"/>
          </p:cNvSpPr>
          <p:nvPr>
            <p:ph type="ftr" sz="quarter" idx="11"/>
          </p:nvPr>
        </p:nvSpPr>
        <p:spPr/>
        <p:txBody>
          <a:bodyPr/>
          <a:lstStyle/>
          <a:p>
            <a:r>
              <a:rPr lang="en-US"/>
              <a:t>Machine Learning for Physics and Astronomy</a:t>
            </a:r>
          </a:p>
        </p:txBody>
      </p:sp>
      <p:sp>
        <p:nvSpPr>
          <p:cNvPr id="9" name="Slide Number Placeholder 8"/>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1122058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67630" y="3751885"/>
            <a:ext cx="4676299" cy="44117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760870" y="3751885"/>
            <a:ext cx="4679845" cy="44117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717E476-D7D5-6945-BA69-E09A83275445}" type="datetime1">
              <a:rPr lang="en-US" smtClean="0"/>
              <a:t>5/26/23</a:t>
            </a:fld>
            <a:endParaRPr lang="en-US"/>
          </a:p>
        </p:txBody>
      </p:sp>
      <p:sp>
        <p:nvSpPr>
          <p:cNvPr id="9" name="Footer Placeholder 8"/>
          <p:cNvSpPr>
            <a:spLocks noGrp="1"/>
          </p:cNvSpPr>
          <p:nvPr>
            <p:ph type="ftr" sz="quarter" idx="11"/>
          </p:nvPr>
        </p:nvSpPr>
        <p:spPr/>
        <p:txBody>
          <a:bodyPr/>
          <a:lstStyle/>
          <a:p>
            <a:r>
              <a:rPr lang="en-US"/>
              <a:t>Machine Learning for Physics and Astronomy</a:t>
            </a:r>
          </a:p>
        </p:txBody>
      </p:sp>
      <p:sp>
        <p:nvSpPr>
          <p:cNvPr id="10" name="Slide Number Placeholder 9"/>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366444665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67629" y="3290218"/>
            <a:ext cx="4676301" cy="1001368"/>
          </a:xfrm>
        </p:spPr>
        <p:txBody>
          <a:bodyPr anchor="b" anchorCtr="1">
            <a:normAutofit/>
          </a:bodyPr>
          <a:lstStyle>
            <a:lvl1pPr marL="0" indent="0" algn="ctr">
              <a:buNone/>
              <a:defRPr sz="2702" b="0" cap="all" spc="142" baseline="0">
                <a:solidFill>
                  <a:schemeClr val="tx2"/>
                </a:solidFill>
              </a:defRPr>
            </a:lvl1pPr>
            <a:lvl2pPr marL="650230" indent="0">
              <a:buNone/>
              <a:defRPr sz="2702"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a:t>Click to edit Master text styles</a:t>
            </a:r>
          </a:p>
        </p:txBody>
      </p:sp>
      <p:sp>
        <p:nvSpPr>
          <p:cNvPr id="4" name="Content Placeholder 3"/>
          <p:cNvSpPr>
            <a:spLocks noGrp="1"/>
          </p:cNvSpPr>
          <p:nvPr>
            <p:ph sz="half" idx="2"/>
          </p:nvPr>
        </p:nvSpPr>
        <p:spPr>
          <a:xfrm>
            <a:off x="1567629" y="4470400"/>
            <a:ext cx="4676301" cy="3693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760870" y="4470400"/>
            <a:ext cx="4679845" cy="3693193"/>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760870" y="3290218"/>
            <a:ext cx="4679845" cy="1001368"/>
          </a:xfrm>
        </p:spPr>
        <p:txBody>
          <a:bodyPr anchor="b" anchorCtr="1">
            <a:normAutofit/>
          </a:bodyPr>
          <a:lstStyle>
            <a:lvl1pPr marL="0" indent="0" algn="ctr">
              <a:buNone/>
              <a:defRPr sz="2702" b="0" cap="all" spc="142" baseline="0">
                <a:solidFill>
                  <a:schemeClr val="tx2"/>
                </a:solidFill>
              </a:defRPr>
            </a:lvl1pPr>
            <a:lvl2pPr marL="650230" indent="0">
              <a:buNone/>
              <a:defRPr sz="2702"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a:t>Click to edit Master text styles</a:t>
            </a:r>
          </a:p>
        </p:txBody>
      </p:sp>
      <p:sp>
        <p:nvSpPr>
          <p:cNvPr id="7" name="Date Placeholder 6"/>
          <p:cNvSpPr>
            <a:spLocks noGrp="1"/>
          </p:cNvSpPr>
          <p:nvPr>
            <p:ph type="dt" sz="half" idx="10"/>
          </p:nvPr>
        </p:nvSpPr>
        <p:spPr/>
        <p:txBody>
          <a:bodyPr/>
          <a:lstStyle/>
          <a:p>
            <a:fld id="{411E0FA0-D9B2-4147-8208-908E8303C111}" type="datetime1">
              <a:rPr lang="en-US" smtClean="0"/>
              <a:t>5/26/23</a:t>
            </a:fld>
            <a:endParaRPr lang="en-US"/>
          </a:p>
        </p:txBody>
      </p:sp>
      <p:sp>
        <p:nvSpPr>
          <p:cNvPr id="8" name="Footer Placeholder 7"/>
          <p:cNvSpPr>
            <a:spLocks noGrp="1"/>
          </p:cNvSpPr>
          <p:nvPr>
            <p:ph type="ftr" sz="quarter" idx="11"/>
          </p:nvPr>
        </p:nvSpPr>
        <p:spPr/>
        <p:txBody>
          <a:bodyPr/>
          <a:lstStyle/>
          <a:p>
            <a:r>
              <a:rPr lang="en-US"/>
              <a:t>Machine Learning for Physics and Astronomy</a:t>
            </a:r>
          </a:p>
        </p:txBody>
      </p:sp>
      <p:sp>
        <p:nvSpPr>
          <p:cNvPr id="9" name="Slide Number Placeholder 8"/>
          <p:cNvSpPr>
            <a:spLocks noGrp="1"/>
          </p:cNvSpPr>
          <p:nvPr>
            <p:ph type="sldNum" sz="quarter" idx="12"/>
          </p:nvPr>
        </p:nvSpPr>
        <p:spPr/>
        <p:txBody>
          <a:bodyPr/>
          <a:lstStyle/>
          <a:p>
            <a:fld id="{23C9E6DF-D4C8-A448-A59B-32DEB3070FF7}"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54668938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02D7790-25FB-E54C-8B5C-4C642DDB5076}" type="datetime1">
              <a:rPr lang="en-US" smtClean="0"/>
              <a:t>5/26/23</a:t>
            </a:fld>
            <a:endParaRPr lang="en-US"/>
          </a:p>
        </p:txBody>
      </p:sp>
      <p:sp>
        <p:nvSpPr>
          <p:cNvPr id="4" name="Footer Placeholder 3"/>
          <p:cNvSpPr>
            <a:spLocks noGrp="1"/>
          </p:cNvSpPr>
          <p:nvPr>
            <p:ph type="ftr" sz="quarter" idx="11"/>
          </p:nvPr>
        </p:nvSpPr>
        <p:spPr/>
        <p:txBody>
          <a:bodyPr/>
          <a:lstStyle/>
          <a:p>
            <a:r>
              <a:rPr lang="en-US"/>
              <a:t>Machine Learning for Physics and Astronomy</a:t>
            </a:r>
          </a:p>
        </p:txBody>
      </p:sp>
      <p:sp>
        <p:nvSpPr>
          <p:cNvPr id="5" name="Slide Number Placeholder 4"/>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106333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85366D-45C0-654E-850E-66331EAE456A}" type="datetime1">
              <a:rPr lang="en-US" smtClean="0"/>
              <a:t>5/26/23</a:t>
            </a:fld>
            <a:endParaRPr lang="en-US"/>
          </a:p>
        </p:txBody>
      </p:sp>
      <p:sp>
        <p:nvSpPr>
          <p:cNvPr id="3" name="Footer Placeholder 2"/>
          <p:cNvSpPr>
            <a:spLocks noGrp="1"/>
          </p:cNvSpPr>
          <p:nvPr>
            <p:ph type="ftr" sz="quarter" idx="11"/>
          </p:nvPr>
        </p:nvSpPr>
        <p:spPr/>
        <p:txBody>
          <a:bodyPr/>
          <a:lstStyle/>
          <a:p>
            <a:r>
              <a:rPr lang="en-US"/>
              <a:t>Machine Learning for Physics and Astronomy</a:t>
            </a:r>
          </a:p>
        </p:txBody>
      </p:sp>
      <p:sp>
        <p:nvSpPr>
          <p:cNvPr id="4" name="Slide Number Placeholder 3"/>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1438005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6502400" y="0"/>
            <a:ext cx="6502400" cy="975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1222" y="3191224"/>
            <a:ext cx="4679956" cy="1623462"/>
          </a:xfrm>
          <a:solidFill>
            <a:srgbClr val="FFFFFF"/>
          </a:solidFill>
          <a:ln>
            <a:solidFill>
              <a:srgbClr val="404040"/>
            </a:solidFill>
          </a:ln>
        </p:spPr>
        <p:txBody>
          <a:bodyPr anchor="ctr" anchorCtr="1">
            <a:normAutofit/>
          </a:bodyPr>
          <a:lstStyle>
            <a:lvl1pPr>
              <a:defRPr sz="2987">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7185152" y="1144423"/>
            <a:ext cx="5136896" cy="7464755"/>
          </a:xfrm>
        </p:spPr>
        <p:txBody>
          <a:bodyPr>
            <a:normAutofit/>
          </a:bodyPr>
          <a:lstStyle>
            <a:lvl1pPr>
              <a:defRPr sz="2702">
                <a:solidFill>
                  <a:schemeClr val="tx1"/>
                </a:solidFill>
              </a:defRPr>
            </a:lvl1pPr>
            <a:lvl2pPr>
              <a:defRPr sz="2276">
                <a:solidFill>
                  <a:schemeClr val="tx1"/>
                </a:solidFill>
              </a:defRPr>
            </a:lvl2pPr>
            <a:lvl3pPr>
              <a:defRPr sz="2276">
                <a:solidFill>
                  <a:schemeClr val="tx1"/>
                </a:solidFill>
              </a:defRPr>
            </a:lvl3pPr>
            <a:lvl4pPr>
              <a:defRPr sz="2276">
                <a:solidFill>
                  <a:schemeClr val="tx1"/>
                </a:solidFill>
              </a:defRPr>
            </a:lvl4pPr>
            <a:lvl5pPr>
              <a:defRPr sz="2276">
                <a:solidFill>
                  <a:schemeClr val="tx1"/>
                </a:solidFill>
              </a:defRPr>
            </a:lvl5pPr>
            <a:lvl6pPr>
              <a:defRPr sz="2276"/>
            </a:lvl6pPr>
            <a:lvl7pPr>
              <a:defRPr sz="2276"/>
            </a:lvl7pPr>
            <a:lvl8pPr>
              <a:defRPr sz="2276"/>
            </a:lvl8pPr>
            <a:lvl9pPr>
              <a:defRPr sz="227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27328" y="5048772"/>
            <a:ext cx="4047744" cy="3120407"/>
          </a:xfrm>
        </p:spPr>
        <p:txBody>
          <a:bodyPr anchor="t" anchorCtr="1">
            <a:normAutofit/>
          </a:bodyPr>
          <a:lstStyle>
            <a:lvl1pPr marL="0" indent="0" algn="ctr">
              <a:buNone/>
              <a:defRPr sz="2133">
                <a:solidFill>
                  <a:schemeClr val="tx1">
                    <a:lumMod val="85000"/>
                    <a:lumOff val="15000"/>
                  </a:schemeClr>
                </a:solidFill>
              </a:defRPr>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a:t>Click to edit Master text styles</a:t>
            </a:r>
          </a:p>
        </p:txBody>
      </p:sp>
      <p:sp>
        <p:nvSpPr>
          <p:cNvPr id="9" name="Date Placeholder 8"/>
          <p:cNvSpPr>
            <a:spLocks noGrp="1"/>
          </p:cNvSpPr>
          <p:nvPr>
            <p:ph type="dt" sz="half" idx="10"/>
          </p:nvPr>
        </p:nvSpPr>
        <p:spPr/>
        <p:txBody>
          <a:bodyPr/>
          <a:lstStyle/>
          <a:p>
            <a:fld id="{D6387A0C-CF11-F14C-BAC2-14841F16619E}" type="datetime1">
              <a:rPr lang="en-US" smtClean="0"/>
              <a:t>5/26/23</a:t>
            </a:fld>
            <a:endParaRPr lang="en-US"/>
          </a:p>
        </p:txBody>
      </p:sp>
      <p:sp>
        <p:nvSpPr>
          <p:cNvPr id="10" name="Footer Placeholder 9"/>
          <p:cNvSpPr>
            <a:spLocks noGrp="1"/>
          </p:cNvSpPr>
          <p:nvPr>
            <p:ph type="ftr" sz="quarter" idx="11"/>
          </p:nvPr>
        </p:nvSpPr>
        <p:spPr>
          <a:xfrm>
            <a:off x="911222" y="8869274"/>
            <a:ext cx="5413544" cy="455168"/>
          </a:xfrm>
        </p:spPr>
        <p:txBody>
          <a:bodyPr>
            <a:normAutofit/>
          </a:bodyPr>
          <a:lstStyle>
            <a:lvl1pPr>
              <a:defRPr>
                <a:solidFill>
                  <a:schemeClr val="tx1">
                    <a:alpha val="70000"/>
                  </a:schemeClr>
                </a:solidFill>
              </a:defRPr>
            </a:lvl1pPr>
          </a:lstStyle>
          <a:p>
            <a:r>
              <a:rPr lang="en-US"/>
              <a:t>Machine Learning for Physics and Astronomy</a:t>
            </a:r>
          </a:p>
        </p:txBody>
      </p:sp>
      <p:sp>
        <p:nvSpPr>
          <p:cNvPr id="11" name="Slide Number Placeholder 10"/>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3375727013"/>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0336" y="3191222"/>
            <a:ext cx="4681728" cy="1625600"/>
          </a:xfrm>
          <a:solidFill>
            <a:srgbClr val="FFFFFF"/>
          </a:solidFill>
          <a:ln>
            <a:solidFill>
              <a:srgbClr val="262626"/>
            </a:solidFill>
          </a:ln>
        </p:spPr>
        <p:txBody>
          <a:bodyPr anchor="ctr" anchorCtr="1">
            <a:noAutofit/>
          </a:bodyPr>
          <a:lstStyle>
            <a:lvl1pPr>
              <a:defRPr sz="2987">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502401" y="0"/>
            <a:ext cx="6508904" cy="9753600"/>
          </a:xfrm>
          <a:solidFill>
            <a:schemeClr val="bg1"/>
          </a:solidFill>
        </p:spPr>
        <p:txBody>
          <a:bodyPr anchor="t"/>
          <a:lstStyle>
            <a:lvl1pPr marL="0" indent="0">
              <a:buNone/>
              <a:defRPr sz="4551">
                <a:solidFill>
                  <a:schemeClr val="tx1"/>
                </a:solidFill>
              </a:defRPr>
            </a:lvl1pPr>
            <a:lvl2pPr marL="650230" indent="0">
              <a:buNone/>
              <a:defRPr sz="3982"/>
            </a:lvl2pPr>
            <a:lvl3pPr marL="1300460" indent="0">
              <a:buNone/>
              <a:defRPr sz="3413"/>
            </a:lvl3pPr>
            <a:lvl4pPr marL="1950690" indent="0">
              <a:buNone/>
              <a:defRPr sz="2844"/>
            </a:lvl4pPr>
            <a:lvl5pPr marL="2600919" indent="0">
              <a:buNone/>
              <a:defRPr sz="2844"/>
            </a:lvl5pPr>
            <a:lvl6pPr marL="3251149" indent="0">
              <a:buNone/>
              <a:defRPr sz="2844"/>
            </a:lvl6pPr>
            <a:lvl7pPr marL="3901379" indent="0">
              <a:buNone/>
              <a:defRPr sz="2844"/>
            </a:lvl7pPr>
            <a:lvl8pPr marL="4551609" indent="0">
              <a:buNone/>
              <a:defRPr sz="2844"/>
            </a:lvl8pPr>
            <a:lvl9pPr marL="5201839" indent="0">
              <a:buNone/>
              <a:defRPr sz="2844"/>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1227328" y="5048774"/>
            <a:ext cx="4047744" cy="3120408"/>
          </a:xfrm>
        </p:spPr>
        <p:txBody>
          <a:bodyPr anchor="t" anchorCtr="1">
            <a:normAutofit/>
          </a:bodyPr>
          <a:lstStyle>
            <a:lvl1pPr marL="0" indent="0" algn="ctr">
              <a:buNone/>
              <a:defRPr sz="2133">
                <a:solidFill>
                  <a:schemeClr val="tx1">
                    <a:lumMod val="85000"/>
                    <a:lumOff val="15000"/>
                  </a:schemeClr>
                </a:solidFill>
              </a:defRPr>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3A368F6F-09DC-E54B-AB55-6E7297928F44}" type="datetime1">
              <a:rPr lang="en-US" smtClean="0"/>
              <a:t>5/26/23</a:t>
            </a:fld>
            <a:endParaRPr lang="en-US"/>
          </a:p>
        </p:txBody>
      </p:sp>
      <p:sp>
        <p:nvSpPr>
          <p:cNvPr id="9" name="Footer Placeholder 8"/>
          <p:cNvSpPr>
            <a:spLocks noGrp="1"/>
          </p:cNvSpPr>
          <p:nvPr>
            <p:ph type="ftr" sz="quarter" idx="11"/>
          </p:nvPr>
        </p:nvSpPr>
        <p:spPr>
          <a:xfrm>
            <a:off x="910336" y="8869274"/>
            <a:ext cx="5409997" cy="455168"/>
          </a:xfrm>
        </p:spPr>
        <p:txBody>
          <a:bodyPr>
            <a:normAutofit/>
          </a:bodyPr>
          <a:lstStyle>
            <a:lvl1pPr>
              <a:defRPr>
                <a:solidFill>
                  <a:schemeClr val="tx1">
                    <a:alpha val="70000"/>
                  </a:schemeClr>
                </a:solidFill>
              </a:defRPr>
            </a:lvl1pPr>
          </a:lstStyle>
          <a:p>
            <a:r>
              <a:rPr lang="en-US"/>
              <a:t>Machine Learning for Physics and Astronomy</a:t>
            </a:r>
          </a:p>
        </p:txBody>
      </p:sp>
      <p:sp>
        <p:nvSpPr>
          <p:cNvPr id="10" name="Slide Number Placeholder 9"/>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39944912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0432A6-097D-4F4F-A41A-EC7107E67D3B}" type="datetime1">
              <a:rPr lang="en-US" smtClean="0"/>
              <a:t>5/26/23</a:t>
            </a:fld>
            <a:endParaRPr lang="en-US"/>
          </a:p>
        </p:txBody>
      </p:sp>
      <p:sp>
        <p:nvSpPr>
          <p:cNvPr id="5" name="Footer Placeholder 4"/>
          <p:cNvSpPr>
            <a:spLocks noGrp="1"/>
          </p:cNvSpPr>
          <p:nvPr>
            <p:ph type="ftr" sz="quarter" idx="11"/>
          </p:nvPr>
        </p:nvSpPr>
        <p:spPr/>
        <p:txBody>
          <a:bodyPr/>
          <a:lstStyle/>
          <a:p>
            <a:r>
              <a:rPr lang="en-US"/>
              <a:t>Machine Learning for Physics and Astronomy</a:t>
            </a:r>
          </a:p>
        </p:txBody>
      </p:sp>
      <p:sp>
        <p:nvSpPr>
          <p:cNvPr id="6" name="Slide Number Placeholder 5"/>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24485822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29986" y="1332992"/>
            <a:ext cx="1498974" cy="708761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84155" y="1332992"/>
            <a:ext cx="6707447" cy="708761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8B80F1-A54E-EA4C-A93D-A7D09BEDA789}" type="datetime1">
              <a:rPr lang="en-US" smtClean="0"/>
              <a:t>5/26/23</a:t>
            </a:fld>
            <a:endParaRPr lang="en-US"/>
          </a:p>
        </p:txBody>
      </p:sp>
      <p:sp>
        <p:nvSpPr>
          <p:cNvPr id="5" name="Footer Placeholder 4"/>
          <p:cNvSpPr>
            <a:spLocks noGrp="1"/>
          </p:cNvSpPr>
          <p:nvPr>
            <p:ph type="ftr" sz="quarter" idx="11"/>
          </p:nvPr>
        </p:nvSpPr>
        <p:spPr/>
        <p:txBody>
          <a:bodyPr/>
          <a:lstStyle/>
          <a:p>
            <a:r>
              <a:rPr lang="en-US"/>
              <a:t>Machine Learning for Physics and Astronomy</a:t>
            </a:r>
          </a:p>
        </p:txBody>
      </p:sp>
      <p:sp>
        <p:nvSpPr>
          <p:cNvPr id="6" name="Slide Number Placeholder 5"/>
          <p:cNvSpPr>
            <a:spLocks noGrp="1"/>
          </p:cNvSpPr>
          <p:nvPr>
            <p:ph type="sldNum" sz="quarter" idx="12"/>
          </p:nvPr>
        </p:nvSpPr>
        <p:spPr/>
        <p:txBody>
          <a:bodyPr/>
          <a:lstStyle/>
          <a:p>
            <a:fld id="{23C9E6DF-D4C8-A448-A59B-32DEB3070FF7}" type="slidenum">
              <a:rPr lang="en-US" smtClean="0"/>
              <a:t>‹#›</a:t>
            </a:fld>
            <a:endParaRPr lang="en-US"/>
          </a:p>
        </p:txBody>
      </p:sp>
    </p:spTree>
    <p:extLst>
      <p:ext uri="{BB962C8B-B14F-4D97-AF65-F5344CB8AC3E}">
        <p14:creationId xmlns:p14="http://schemas.microsoft.com/office/powerpoint/2010/main" val="397807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4154" y="1372006"/>
            <a:ext cx="8444807" cy="1690624"/>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4154" y="3751887"/>
            <a:ext cx="8444807" cy="441170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503385" y="8872983"/>
            <a:ext cx="2937330" cy="460754"/>
          </a:xfrm>
          <a:prstGeom prst="rect">
            <a:avLst/>
          </a:prstGeom>
        </p:spPr>
        <p:txBody>
          <a:bodyPr vert="horz" lIns="91440" tIns="45720" rIns="91440" bIns="45720" rtlCol="0" anchor="ctr"/>
          <a:lstStyle>
            <a:lvl1pPr algn="r">
              <a:defRPr sz="1422" b="0" i="0">
                <a:solidFill>
                  <a:schemeClr val="tx1">
                    <a:alpha val="70000"/>
                  </a:schemeClr>
                </a:solidFill>
                <a:latin typeface="Gill Sans MT" panose="020B0502020104020203" pitchFamily="34" charset="77"/>
              </a:defRPr>
            </a:lvl1pPr>
          </a:lstStyle>
          <a:p>
            <a:fld id="{C8C1B375-16D5-F343-9C0E-AD3735F106C7}" type="datetimeFigureOut">
              <a:rPr lang="en-US" smtClean="0"/>
              <a:pPr/>
              <a:t>5/26/23</a:t>
            </a:fld>
            <a:endParaRPr lang="en-US" dirty="0"/>
          </a:p>
        </p:txBody>
      </p:sp>
      <p:sp>
        <p:nvSpPr>
          <p:cNvPr id="5" name="Footer Placeholder 4"/>
          <p:cNvSpPr>
            <a:spLocks noGrp="1"/>
          </p:cNvSpPr>
          <p:nvPr>
            <p:ph type="ftr" sz="quarter" idx="3"/>
          </p:nvPr>
        </p:nvSpPr>
        <p:spPr>
          <a:xfrm>
            <a:off x="1567629" y="8869274"/>
            <a:ext cx="6480589" cy="455168"/>
          </a:xfrm>
          <a:prstGeom prst="rect">
            <a:avLst/>
          </a:prstGeom>
        </p:spPr>
        <p:txBody>
          <a:bodyPr vert="horz" lIns="91440" tIns="45720" rIns="91440" bIns="45720" rtlCol="0" anchor="ctr"/>
          <a:lstStyle>
            <a:lvl1pPr algn="l">
              <a:defRPr sz="1422" b="0" i="0">
                <a:solidFill>
                  <a:schemeClr val="tx1">
                    <a:alpha val="70000"/>
                  </a:schemeClr>
                </a:solidFill>
                <a:latin typeface="Gill Sans MT" panose="020B0502020104020203" pitchFamily="34" charset="77"/>
              </a:defRPr>
            </a:lvl1pPr>
          </a:lstStyle>
          <a:p>
            <a:endParaRPr lang="en-US" dirty="0"/>
          </a:p>
        </p:txBody>
      </p:sp>
      <p:sp>
        <p:nvSpPr>
          <p:cNvPr id="6" name="Slide Number Placeholder 5"/>
          <p:cNvSpPr>
            <a:spLocks noGrp="1"/>
          </p:cNvSpPr>
          <p:nvPr>
            <p:ph type="sldNum" sz="quarter" idx="4"/>
          </p:nvPr>
        </p:nvSpPr>
        <p:spPr>
          <a:xfrm>
            <a:off x="11719270" y="8843264"/>
            <a:ext cx="520192" cy="520192"/>
          </a:xfrm>
          <a:prstGeom prst="ellipse">
            <a:avLst/>
          </a:prstGeom>
          <a:solidFill>
            <a:srgbClr val="1D1D1D">
              <a:alpha val="69804"/>
            </a:srgbClr>
          </a:solidFill>
        </p:spPr>
        <p:txBody>
          <a:bodyPr vert="horz" lIns="18288" tIns="45720" rIns="18288" bIns="45720" rtlCol="0" anchor="ctr">
            <a:noAutofit/>
          </a:bodyPr>
          <a:lstStyle>
            <a:lvl1pPr algn="ctr">
              <a:defRPr sz="1564" b="0" i="0" spc="0" baseline="0">
                <a:solidFill>
                  <a:srgbClr val="FFFFFF"/>
                </a:solidFill>
                <a:latin typeface="Gill Sans MT" panose="020B0502020104020203" pitchFamily="34" charset="77"/>
              </a:defRPr>
            </a:lvl1pPr>
          </a:lstStyle>
          <a:p>
            <a:fld id="{23C9E6DF-D4C8-A448-A59B-32DEB3070FF7}" type="slidenum">
              <a:rPr lang="en-US" smtClean="0"/>
              <a:pPr/>
              <a:t>‹#›</a:t>
            </a:fld>
            <a:endParaRPr lang="en-US" dirty="0"/>
          </a:p>
        </p:txBody>
      </p:sp>
    </p:spTree>
    <p:extLst>
      <p:ext uri="{BB962C8B-B14F-4D97-AF65-F5344CB8AC3E}">
        <p14:creationId xmlns:p14="http://schemas.microsoft.com/office/powerpoint/2010/main" val="2368783445"/>
      </p:ext>
    </p:extLst>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Lst>
  <p:transition/>
  <p:txStyles>
    <p:titleStyle>
      <a:lvl1pPr algn="ctr" defTabSz="1300460" rtl="0" eaLnBrk="1" latinLnBrk="0" hangingPunct="1">
        <a:lnSpc>
          <a:spcPct val="90000"/>
        </a:lnSpc>
        <a:spcBef>
          <a:spcPct val="0"/>
        </a:spcBef>
        <a:buNone/>
        <a:defRPr sz="3698" kern="1200" cap="all" spc="284" baseline="0">
          <a:solidFill>
            <a:schemeClr val="tx1">
              <a:lumMod val="85000"/>
              <a:lumOff val="15000"/>
            </a:schemeClr>
          </a:solidFill>
          <a:latin typeface="+mj-lt"/>
          <a:ea typeface="+mj-ea"/>
          <a:cs typeface="+mj-cs"/>
        </a:defRPr>
      </a:lvl1pPr>
    </p:titleStyle>
    <p:bodyStyle>
      <a:lvl1pPr marL="325115" indent="-325115" algn="l" defTabSz="1300460" rtl="0" eaLnBrk="1" latinLnBrk="0" hangingPunct="1">
        <a:lnSpc>
          <a:spcPct val="100000"/>
        </a:lnSpc>
        <a:spcBef>
          <a:spcPts val="1422"/>
        </a:spcBef>
        <a:buClr>
          <a:schemeClr val="accent2"/>
        </a:buClr>
        <a:buFont typeface="Arial" panose="020B0604020202020204" pitchFamily="34" charset="0"/>
        <a:buChar char="•"/>
        <a:defRPr sz="2560" kern="1200">
          <a:solidFill>
            <a:schemeClr val="tx1">
              <a:lumMod val="85000"/>
              <a:lumOff val="15000"/>
            </a:schemeClr>
          </a:solidFill>
          <a:latin typeface="+mn-lt"/>
          <a:ea typeface="+mn-ea"/>
          <a:cs typeface="+mn-cs"/>
        </a:defRPr>
      </a:lvl1pPr>
      <a:lvl2pPr marL="650230"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a:solidFill>
            <a:schemeClr val="tx1">
              <a:lumMod val="85000"/>
              <a:lumOff val="15000"/>
            </a:schemeClr>
          </a:solidFill>
          <a:latin typeface="+mn-lt"/>
          <a:ea typeface="+mn-ea"/>
          <a:cs typeface="+mn-cs"/>
        </a:defRPr>
      </a:lvl2pPr>
      <a:lvl3pPr marL="975345"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a:solidFill>
            <a:schemeClr val="tx1">
              <a:lumMod val="85000"/>
              <a:lumOff val="15000"/>
            </a:schemeClr>
          </a:solidFill>
          <a:latin typeface="+mn-lt"/>
          <a:ea typeface="+mn-ea"/>
          <a:cs typeface="+mn-cs"/>
        </a:defRPr>
      </a:lvl3pPr>
      <a:lvl4pPr marL="1300460"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a:solidFill>
            <a:schemeClr val="tx1">
              <a:lumMod val="85000"/>
              <a:lumOff val="15000"/>
            </a:schemeClr>
          </a:solidFill>
          <a:latin typeface="+mn-lt"/>
          <a:ea typeface="+mn-ea"/>
          <a:cs typeface="+mn-cs"/>
        </a:defRPr>
      </a:lvl4pPr>
      <a:lvl5pPr marL="1625575"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a:solidFill>
            <a:schemeClr val="tx1">
              <a:lumMod val="85000"/>
              <a:lumOff val="15000"/>
            </a:schemeClr>
          </a:solidFill>
          <a:latin typeface="+mn-lt"/>
          <a:ea typeface="+mn-ea"/>
          <a:cs typeface="+mn-cs"/>
        </a:defRPr>
      </a:lvl5pPr>
      <a:lvl6pPr marL="1869411"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a:solidFill>
            <a:schemeClr val="tx1"/>
          </a:solidFill>
          <a:latin typeface="+mn-lt"/>
          <a:ea typeface="+mn-ea"/>
          <a:cs typeface="+mn-cs"/>
        </a:defRPr>
      </a:lvl6pPr>
      <a:lvl7pPr marL="2113247"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a:solidFill>
            <a:schemeClr val="tx1"/>
          </a:solidFill>
          <a:latin typeface="+mn-lt"/>
          <a:ea typeface="+mn-ea"/>
          <a:cs typeface="+mn-cs"/>
        </a:defRPr>
      </a:lvl7pPr>
      <a:lvl8pPr marL="2357083"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baseline="0">
          <a:solidFill>
            <a:schemeClr val="tx1"/>
          </a:solidFill>
          <a:latin typeface="+mn-lt"/>
          <a:ea typeface="+mn-ea"/>
          <a:cs typeface="+mn-cs"/>
        </a:defRPr>
      </a:lvl8pPr>
      <a:lvl9pPr marL="2600919"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baseline="0">
          <a:solidFill>
            <a:schemeClr val="tx1"/>
          </a:solidFill>
          <a:latin typeface="+mn-lt"/>
          <a:ea typeface="+mn-ea"/>
          <a:cs typeface="+mn-cs"/>
        </a:defRPr>
      </a:lvl9pPr>
    </p:bodyStyle>
    <p:otherStyle>
      <a:defPPr>
        <a:defRPr lang="en-US"/>
      </a:defPPr>
      <a:lvl1pPr marL="0" algn="l" defTabSz="1300460" rtl="0" eaLnBrk="1" latinLnBrk="0" hangingPunct="1">
        <a:defRPr sz="2560" kern="1200">
          <a:solidFill>
            <a:schemeClr val="tx1"/>
          </a:solidFill>
          <a:latin typeface="+mn-lt"/>
          <a:ea typeface="+mn-ea"/>
          <a:cs typeface="+mn-cs"/>
        </a:defRPr>
      </a:lvl1pPr>
      <a:lvl2pPr marL="650230" algn="l" defTabSz="1300460" rtl="0" eaLnBrk="1" latinLnBrk="0" hangingPunct="1">
        <a:defRPr sz="2560" kern="1200">
          <a:solidFill>
            <a:schemeClr val="tx1"/>
          </a:solidFill>
          <a:latin typeface="+mn-lt"/>
          <a:ea typeface="+mn-ea"/>
          <a:cs typeface="+mn-cs"/>
        </a:defRPr>
      </a:lvl2pPr>
      <a:lvl3pPr marL="1300460" algn="l" defTabSz="1300460" rtl="0" eaLnBrk="1" latinLnBrk="0" hangingPunct="1">
        <a:defRPr sz="2560" kern="1200">
          <a:solidFill>
            <a:schemeClr val="tx1"/>
          </a:solidFill>
          <a:latin typeface="+mn-lt"/>
          <a:ea typeface="+mn-ea"/>
          <a:cs typeface="+mn-cs"/>
        </a:defRPr>
      </a:lvl3pPr>
      <a:lvl4pPr marL="1950690" algn="l" defTabSz="1300460" rtl="0" eaLnBrk="1" latinLnBrk="0" hangingPunct="1">
        <a:defRPr sz="2560" kern="1200">
          <a:solidFill>
            <a:schemeClr val="tx1"/>
          </a:solidFill>
          <a:latin typeface="+mn-lt"/>
          <a:ea typeface="+mn-ea"/>
          <a:cs typeface="+mn-cs"/>
        </a:defRPr>
      </a:lvl4pPr>
      <a:lvl5pPr marL="2600919" algn="l" defTabSz="1300460" rtl="0" eaLnBrk="1" latinLnBrk="0" hangingPunct="1">
        <a:defRPr sz="2560" kern="1200">
          <a:solidFill>
            <a:schemeClr val="tx1"/>
          </a:solidFill>
          <a:latin typeface="+mn-lt"/>
          <a:ea typeface="+mn-ea"/>
          <a:cs typeface="+mn-cs"/>
        </a:defRPr>
      </a:lvl5pPr>
      <a:lvl6pPr marL="3251149" algn="l" defTabSz="1300460" rtl="0" eaLnBrk="1" latinLnBrk="0" hangingPunct="1">
        <a:defRPr sz="2560" kern="1200">
          <a:solidFill>
            <a:schemeClr val="tx1"/>
          </a:solidFill>
          <a:latin typeface="+mn-lt"/>
          <a:ea typeface="+mn-ea"/>
          <a:cs typeface="+mn-cs"/>
        </a:defRPr>
      </a:lvl6pPr>
      <a:lvl7pPr marL="3901379" algn="l" defTabSz="1300460" rtl="0" eaLnBrk="1" latinLnBrk="0" hangingPunct="1">
        <a:defRPr sz="2560" kern="1200">
          <a:solidFill>
            <a:schemeClr val="tx1"/>
          </a:solidFill>
          <a:latin typeface="+mn-lt"/>
          <a:ea typeface="+mn-ea"/>
          <a:cs typeface="+mn-cs"/>
        </a:defRPr>
      </a:lvl7pPr>
      <a:lvl8pPr marL="4551609" algn="l" defTabSz="1300460" rtl="0" eaLnBrk="1" latinLnBrk="0" hangingPunct="1">
        <a:defRPr sz="2560" kern="1200">
          <a:solidFill>
            <a:schemeClr val="tx1"/>
          </a:solidFill>
          <a:latin typeface="+mn-lt"/>
          <a:ea typeface="+mn-ea"/>
          <a:cs typeface="+mn-cs"/>
        </a:defRPr>
      </a:lvl8pPr>
      <a:lvl9pPr marL="5201839" algn="l" defTabSz="1300460" rtl="0" eaLnBrk="1" latinLnBrk="0" hangingPunct="1">
        <a:defRPr sz="256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4154" y="1372006"/>
            <a:ext cx="8444807" cy="1690624"/>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4154" y="3751887"/>
            <a:ext cx="8444807" cy="441170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503385" y="8872983"/>
            <a:ext cx="2937330" cy="460754"/>
          </a:xfrm>
          <a:prstGeom prst="rect">
            <a:avLst/>
          </a:prstGeom>
        </p:spPr>
        <p:txBody>
          <a:bodyPr vert="horz" lIns="91440" tIns="45720" rIns="91440" bIns="45720" rtlCol="0" anchor="ctr"/>
          <a:lstStyle>
            <a:lvl1pPr algn="r">
              <a:defRPr sz="1422" b="0" i="0">
                <a:solidFill>
                  <a:schemeClr val="tx1">
                    <a:alpha val="70000"/>
                  </a:schemeClr>
                </a:solidFill>
                <a:latin typeface="Gill Sans MT" panose="020B0502020104020203" pitchFamily="34" charset="77"/>
              </a:defRPr>
            </a:lvl1pPr>
          </a:lstStyle>
          <a:p>
            <a:fld id="{F55E4BC4-7CB9-CD42-A3C4-55BE39B91006}" type="datetime1">
              <a:rPr lang="en-US" smtClean="0"/>
              <a:t>5/26/23</a:t>
            </a:fld>
            <a:endParaRPr lang="en-US" dirty="0"/>
          </a:p>
        </p:txBody>
      </p:sp>
      <p:sp>
        <p:nvSpPr>
          <p:cNvPr id="5" name="Footer Placeholder 4"/>
          <p:cNvSpPr>
            <a:spLocks noGrp="1"/>
          </p:cNvSpPr>
          <p:nvPr>
            <p:ph type="ftr" sz="quarter" idx="3"/>
          </p:nvPr>
        </p:nvSpPr>
        <p:spPr>
          <a:xfrm>
            <a:off x="1567629" y="8869274"/>
            <a:ext cx="6480589" cy="455168"/>
          </a:xfrm>
          <a:prstGeom prst="rect">
            <a:avLst/>
          </a:prstGeom>
        </p:spPr>
        <p:txBody>
          <a:bodyPr vert="horz" lIns="91440" tIns="45720" rIns="91440" bIns="45720" rtlCol="0" anchor="ctr"/>
          <a:lstStyle>
            <a:lvl1pPr algn="l">
              <a:defRPr sz="1422" b="0" i="0">
                <a:solidFill>
                  <a:schemeClr val="tx1">
                    <a:alpha val="70000"/>
                  </a:schemeClr>
                </a:solidFill>
                <a:latin typeface="Gill Sans MT" panose="020B0502020104020203" pitchFamily="34" charset="77"/>
              </a:defRPr>
            </a:lvl1pPr>
          </a:lstStyle>
          <a:p>
            <a:r>
              <a:rPr lang="en-US"/>
              <a:t>Machine Learning for Physics and Astronomy</a:t>
            </a:r>
            <a:endParaRPr lang="en-US" dirty="0"/>
          </a:p>
        </p:txBody>
      </p:sp>
      <p:sp>
        <p:nvSpPr>
          <p:cNvPr id="6" name="Slide Number Placeholder 5"/>
          <p:cNvSpPr>
            <a:spLocks noGrp="1"/>
          </p:cNvSpPr>
          <p:nvPr>
            <p:ph type="sldNum" sz="quarter" idx="4"/>
          </p:nvPr>
        </p:nvSpPr>
        <p:spPr>
          <a:xfrm>
            <a:off x="11719270" y="8843264"/>
            <a:ext cx="520192" cy="520192"/>
          </a:xfrm>
          <a:prstGeom prst="ellipse">
            <a:avLst/>
          </a:prstGeom>
          <a:solidFill>
            <a:srgbClr val="1D1D1D">
              <a:alpha val="69804"/>
            </a:srgbClr>
          </a:solidFill>
        </p:spPr>
        <p:txBody>
          <a:bodyPr vert="horz" lIns="18288" tIns="45720" rIns="18288" bIns="45720" rtlCol="0" anchor="ctr">
            <a:noAutofit/>
          </a:bodyPr>
          <a:lstStyle>
            <a:lvl1pPr algn="ctr">
              <a:defRPr sz="1564" b="0" i="0" spc="0" baseline="0">
                <a:solidFill>
                  <a:srgbClr val="FFFFFF"/>
                </a:solidFill>
                <a:latin typeface="Gill Sans MT" panose="020B0502020104020203" pitchFamily="34" charset="77"/>
              </a:defRPr>
            </a:lvl1pPr>
          </a:lstStyle>
          <a:p>
            <a:fld id="{23C9E6DF-D4C8-A448-A59B-32DEB3070FF7}" type="slidenum">
              <a:rPr lang="en-US" smtClean="0"/>
              <a:pPr/>
              <a:t>‹#›</a:t>
            </a:fld>
            <a:endParaRPr lang="en-US" dirty="0"/>
          </a:p>
        </p:txBody>
      </p:sp>
    </p:spTree>
    <p:extLst>
      <p:ext uri="{BB962C8B-B14F-4D97-AF65-F5344CB8AC3E}">
        <p14:creationId xmlns:p14="http://schemas.microsoft.com/office/powerpoint/2010/main" val="1433943394"/>
      </p:ext>
    </p:extLst>
  </p:cSld>
  <p:clrMap bg1="lt1" tx1="dk1" bg2="lt2" tx2="dk2" accent1="accent1" accent2="accent2" accent3="accent3" accent4="accent4" accent5="accent5" accent6="accent6" hlink="hlink" folHlink="folHlink"/>
  <p:sldLayoutIdLst>
    <p:sldLayoutId id="2147483974" r:id="rId1"/>
    <p:sldLayoutId id="2147483975" r:id="rId2"/>
    <p:sldLayoutId id="2147483976" r:id="rId3"/>
    <p:sldLayoutId id="2147483977" r:id="rId4"/>
    <p:sldLayoutId id="2147483978" r:id="rId5"/>
    <p:sldLayoutId id="2147483979" r:id="rId6"/>
    <p:sldLayoutId id="2147483980" r:id="rId7"/>
    <p:sldLayoutId id="2147483981" r:id="rId8"/>
    <p:sldLayoutId id="2147483982" r:id="rId9"/>
    <p:sldLayoutId id="2147483983" r:id="rId10"/>
    <p:sldLayoutId id="2147483984" r:id="rId11"/>
  </p:sldLayoutIdLst>
  <p:hf sldNum="0" hdr="0" ftr="0" dt="0"/>
  <p:txStyles>
    <p:titleStyle>
      <a:lvl1pPr algn="ctr" defTabSz="1300460" rtl="0" eaLnBrk="1" latinLnBrk="0" hangingPunct="1">
        <a:lnSpc>
          <a:spcPct val="90000"/>
        </a:lnSpc>
        <a:spcBef>
          <a:spcPct val="0"/>
        </a:spcBef>
        <a:buNone/>
        <a:defRPr sz="3698" kern="1200" cap="all" spc="284" baseline="0">
          <a:solidFill>
            <a:schemeClr val="tx1">
              <a:lumMod val="85000"/>
              <a:lumOff val="15000"/>
            </a:schemeClr>
          </a:solidFill>
          <a:latin typeface="+mj-lt"/>
          <a:ea typeface="+mj-ea"/>
          <a:cs typeface="+mj-cs"/>
        </a:defRPr>
      </a:lvl1pPr>
    </p:titleStyle>
    <p:bodyStyle>
      <a:lvl1pPr marL="325115" indent="-325115" algn="l" defTabSz="1300460" rtl="0" eaLnBrk="1" latinLnBrk="0" hangingPunct="1">
        <a:lnSpc>
          <a:spcPct val="100000"/>
        </a:lnSpc>
        <a:spcBef>
          <a:spcPts val="1422"/>
        </a:spcBef>
        <a:buClr>
          <a:schemeClr val="accent2"/>
        </a:buClr>
        <a:buFont typeface="Arial" panose="020B0604020202020204" pitchFamily="34" charset="0"/>
        <a:buChar char="•"/>
        <a:defRPr sz="2560" kern="1200">
          <a:solidFill>
            <a:schemeClr val="tx1">
              <a:lumMod val="85000"/>
              <a:lumOff val="15000"/>
            </a:schemeClr>
          </a:solidFill>
          <a:latin typeface="+mn-lt"/>
          <a:ea typeface="+mn-ea"/>
          <a:cs typeface="+mn-cs"/>
        </a:defRPr>
      </a:lvl1pPr>
      <a:lvl2pPr marL="650230"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a:solidFill>
            <a:schemeClr val="tx1">
              <a:lumMod val="85000"/>
              <a:lumOff val="15000"/>
            </a:schemeClr>
          </a:solidFill>
          <a:latin typeface="+mn-lt"/>
          <a:ea typeface="+mn-ea"/>
          <a:cs typeface="+mn-cs"/>
        </a:defRPr>
      </a:lvl2pPr>
      <a:lvl3pPr marL="975345"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a:solidFill>
            <a:schemeClr val="tx1">
              <a:lumMod val="85000"/>
              <a:lumOff val="15000"/>
            </a:schemeClr>
          </a:solidFill>
          <a:latin typeface="+mn-lt"/>
          <a:ea typeface="+mn-ea"/>
          <a:cs typeface="+mn-cs"/>
        </a:defRPr>
      </a:lvl3pPr>
      <a:lvl4pPr marL="1300460"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a:solidFill>
            <a:schemeClr val="tx1">
              <a:lumMod val="85000"/>
              <a:lumOff val="15000"/>
            </a:schemeClr>
          </a:solidFill>
          <a:latin typeface="+mn-lt"/>
          <a:ea typeface="+mn-ea"/>
          <a:cs typeface="+mn-cs"/>
        </a:defRPr>
      </a:lvl4pPr>
      <a:lvl5pPr marL="1625575"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a:solidFill>
            <a:schemeClr val="tx1">
              <a:lumMod val="85000"/>
              <a:lumOff val="15000"/>
            </a:schemeClr>
          </a:solidFill>
          <a:latin typeface="+mn-lt"/>
          <a:ea typeface="+mn-ea"/>
          <a:cs typeface="+mn-cs"/>
        </a:defRPr>
      </a:lvl5pPr>
      <a:lvl6pPr marL="1869411"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a:solidFill>
            <a:schemeClr val="tx1"/>
          </a:solidFill>
          <a:latin typeface="+mn-lt"/>
          <a:ea typeface="+mn-ea"/>
          <a:cs typeface="+mn-cs"/>
        </a:defRPr>
      </a:lvl6pPr>
      <a:lvl7pPr marL="2113247"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a:solidFill>
            <a:schemeClr val="tx1"/>
          </a:solidFill>
          <a:latin typeface="+mn-lt"/>
          <a:ea typeface="+mn-ea"/>
          <a:cs typeface="+mn-cs"/>
        </a:defRPr>
      </a:lvl7pPr>
      <a:lvl8pPr marL="2357083"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baseline="0">
          <a:solidFill>
            <a:schemeClr val="tx1"/>
          </a:solidFill>
          <a:latin typeface="+mn-lt"/>
          <a:ea typeface="+mn-ea"/>
          <a:cs typeface="+mn-cs"/>
        </a:defRPr>
      </a:lvl8pPr>
      <a:lvl9pPr marL="2600919" indent="-325115" algn="l" defTabSz="1300460" rtl="0" eaLnBrk="1" latinLnBrk="0" hangingPunct="1">
        <a:lnSpc>
          <a:spcPct val="100000"/>
        </a:lnSpc>
        <a:spcBef>
          <a:spcPts val="1422"/>
        </a:spcBef>
        <a:buClr>
          <a:schemeClr val="accent2"/>
        </a:buClr>
        <a:buFont typeface="Arial" panose="020B0604020202020204" pitchFamily="34" charset="0"/>
        <a:buChar char="•"/>
        <a:defRPr sz="2276" kern="1200" baseline="0">
          <a:solidFill>
            <a:schemeClr val="tx1"/>
          </a:solidFill>
          <a:latin typeface="+mn-lt"/>
          <a:ea typeface="+mn-ea"/>
          <a:cs typeface="+mn-cs"/>
        </a:defRPr>
      </a:lvl9pPr>
    </p:bodyStyle>
    <p:otherStyle>
      <a:defPPr>
        <a:defRPr lang="en-US"/>
      </a:defPPr>
      <a:lvl1pPr marL="0" algn="l" defTabSz="1300460" rtl="0" eaLnBrk="1" latinLnBrk="0" hangingPunct="1">
        <a:defRPr sz="2560" kern="1200">
          <a:solidFill>
            <a:schemeClr val="tx1"/>
          </a:solidFill>
          <a:latin typeface="+mn-lt"/>
          <a:ea typeface="+mn-ea"/>
          <a:cs typeface="+mn-cs"/>
        </a:defRPr>
      </a:lvl1pPr>
      <a:lvl2pPr marL="650230" algn="l" defTabSz="1300460" rtl="0" eaLnBrk="1" latinLnBrk="0" hangingPunct="1">
        <a:defRPr sz="2560" kern="1200">
          <a:solidFill>
            <a:schemeClr val="tx1"/>
          </a:solidFill>
          <a:latin typeface="+mn-lt"/>
          <a:ea typeface="+mn-ea"/>
          <a:cs typeface="+mn-cs"/>
        </a:defRPr>
      </a:lvl2pPr>
      <a:lvl3pPr marL="1300460" algn="l" defTabSz="1300460" rtl="0" eaLnBrk="1" latinLnBrk="0" hangingPunct="1">
        <a:defRPr sz="2560" kern="1200">
          <a:solidFill>
            <a:schemeClr val="tx1"/>
          </a:solidFill>
          <a:latin typeface="+mn-lt"/>
          <a:ea typeface="+mn-ea"/>
          <a:cs typeface="+mn-cs"/>
        </a:defRPr>
      </a:lvl3pPr>
      <a:lvl4pPr marL="1950690" algn="l" defTabSz="1300460" rtl="0" eaLnBrk="1" latinLnBrk="0" hangingPunct="1">
        <a:defRPr sz="2560" kern="1200">
          <a:solidFill>
            <a:schemeClr val="tx1"/>
          </a:solidFill>
          <a:latin typeface="+mn-lt"/>
          <a:ea typeface="+mn-ea"/>
          <a:cs typeface="+mn-cs"/>
        </a:defRPr>
      </a:lvl4pPr>
      <a:lvl5pPr marL="2600919" algn="l" defTabSz="1300460" rtl="0" eaLnBrk="1" latinLnBrk="0" hangingPunct="1">
        <a:defRPr sz="2560" kern="1200">
          <a:solidFill>
            <a:schemeClr val="tx1"/>
          </a:solidFill>
          <a:latin typeface="+mn-lt"/>
          <a:ea typeface="+mn-ea"/>
          <a:cs typeface="+mn-cs"/>
        </a:defRPr>
      </a:lvl5pPr>
      <a:lvl6pPr marL="3251149" algn="l" defTabSz="1300460" rtl="0" eaLnBrk="1" latinLnBrk="0" hangingPunct="1">
        <a:defRPr sz="2560" kern="1200">
          <a:solidFill>
            <a:schemeClr val="tx1"/>
          </a:solidFill>
          <a:latin typeface="+mn-lt"/>
          <a:ea typeface="+mn-ea"/>
          <a:cs typeface="+mn-cs"/>
        </a:defRPr>
      </a:lvl6pPr>
      <a:lvl7pPr marL="3901379" algn="l" defTabSz="1300460" rtl="0" eaLnBrk="1" latinLnBrk="0" hangingPunct="1">
        <a:defRPr sz="2560" kern="1200">
          <a:solidFill>
            <a:schemeClr val="tx1"/>
          </a:solidFill>
          <a:latin typeface="+mn-lt"/>
          <a:ea typeface="+mn-ea"/>
          <a:cs typeface="+mn-cs"/>
        </a:defRPr>
      </a:lvl7pPr>
      <a:lvl8pPr marL="4551609" algn="l" defTabSz="1300460" rtl="0" eaLnBrk="1" latinLnBrk="0" hangingPunct="1">
        <a:defRPr sz="2560" kern="1200">
          <a:solidFill>
            <a:schemeClr val="tx1"/>
          </a:solidFill>
          <a:latin typeface="+mn-lt"/>
          <a:ea typeface="+mn-ea"/>
          <a:cs typeface="+mn-cs"/>
        </a:defRPr>
      </a:lvl8pPr>
      <a:lvl9pPr marL="5201839" algn="l" defTabSz="1300460" rtl="0" eaLnBrk="1" latinLnBrk="0" hangingPunct="1">
        <a:defRPr sz="256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quantdare.com/what-is-the-difference-between-bagging-and-boosting/"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quantdare.com/what-is-the-difference-between-bagging-and-boosting/"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nbviewer.jupyter.org/github/groverpr/Machine-Learning/blob/master/notebooks/01_Gradient_Boosting_Scratch.ipynb" TargetMode="External"/><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twitter.com/rasbt/status/1550836760128675840?lang=en"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scikit-learn.org/stable/auto_examples/ensemble/plot_forest_importances_faces.html"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scikit-learn.org/stable/auto_examples/inspection/plot_permutation_importance.html#sphx-glr-auto-examples-inspection-plot-permutation-importance-py"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github.com/slundberg/shap"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youtube.com/watch?v=sRktKszFmSk"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docs.google.com/document/d/1AKWUL-c9I2cUI9BHHdkiMAtTjMOunkOrAuvky5C8Lj0/edit" TargetMode="External"/><Relationship Id="rId5" Type="http://schemas.openxmlformats.org/officeDocument/2006/relationships/hyperlink" Target="https://nbviewer.jupyter.org/github/groverpr/Machine-Learning/blob/master/notebooks/01_Gradient_Boosting_Scratch.ipynb)" TargetMode="External"/><Relationship Id="rId4" Type="http://schemas.openxmlformats.org/officeDocument/2006/relationships/hyperlink" Target="https://medium.com/mlreview/gradient-boosting-from-scratch-1e317ae4587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D7FCD31-B6A0-453B-AC5B-4A7F4219A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3004800" cy="603422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Gill Sans MT" panose="020B0502020104020203"/>
              <a:ea typeface="+mn-ea"/>
              <a:cs typeface="+mn-cs"/>
              <a:sym typeface="Helvetica Neue Bold Condensed" charset="0"/>
            </a:endParaRPr>
          </a:p>
        </p:txBody>
      </p:sp>
      <p:sp>
        <p:nvSpPr>
          <p:cNvPr id="4" name="Title 1"/>
          <p:cNvSpPr>
            <a:spLocks noGrp="1"/>
          </p:cNvSpPr>
          <p:nvPr>
            <p:ph type="title"/>
          </p:nvPr>
        </p:nvSpPr>
        <p:spPr>
          <a:xfrm>
            <a:off x="1706880" y="3069336"/>
            <a:ext cx="9591040" cy="2340864"/>
          </a:xfrm>
        </p:spPr>
        <p:txBody>
          <a:bodyPr vert="horz" lIns="274320" tIns="182880" rIns="274320" bIns="182880" rtlCol="0" anchor="ctr" anchorCtr="1">
            <a:normAutofit/>
          </a:bodyPr>
          <a:lstStyle/>
          <a:p>
            <a:pPr defTabSz="914400"/>
            <a:r>
              <a:rPr lang="en-US" sz="3800" spc="200" dirty="0">
                <a:solidFill>
                  <a:srgbClr val="262626"/>
                </a:solidFill>
              </a:rPr>
              <a:t>Machine learning </a:t>
            </a:r>
            <a:br>
              <a:rPr lang="en-US" sz="3800" spc="200" dirty="0">
                <a:solidFill>
                  <a:srgbClr val="262626"/>
                </a:solidFill>
              </a:rPr>
            </a:br>
            <a:r>
              <a:rPr lang="en-US" sz="3800" spc="200" dirty="0">
                <a:solidFill>
                  <a:srgbClr val="262626"/>
                </a:solidFill>
              </a:rPr>
              <a:t>for physics and astronomy</a:t>
            </a:r>
            <a:br>
              <a:rPr lang="en-US" sz="3800" spc="200" dirty="0">
                <a:solidFill>
                  <a:srgbClr val="262626"/>
                </a:solidFill>
              </a:rPr>
            </a:br>
            <a:r>
              <a:rPr lang="en-US" sz="3800" spc="200" dirty="0">
                <a:solidFill>
                  <a:srgbClr val="262626"/>
                </a:solidFill>
              </a:rPr>
              <a:t>chapter 6</a:t>
            </a:r>
          </a:p>
        </p:txBody>
      </p:sp>
      <p:pic>
        <p:nvPicPr>
          <p:cNvPr id="7" name="Picture 6" descr="A black and white sign with white text&#10;&#10;Description automatically generated with low confidence">
            <a:extLst>
              <a:ext uri="{FF2B5EF4-FFF2-40B4-BE49-F238E27FC236}">
                <a16:creationId xmlns:a16="http://schemas.microsoft.com/office/drawing/2014/main" id="{5BD25916-D4C1-2749-95F2-C1F61B833073}"/>
              </a:ext>
            </a:extLst>
          </p:cNvPr>
          <p:cNvPicPr>
            <a:picLocks noChangeAspect="1"/>
          </p:cNvPicPr>
          <p:nvPr/>
        </p:nvPicPr>
        <p:blipFill>
          <a:blip r:embed="rId3"/>
          <a:stretch>
            <a:fillRect/>
          </a:stretch>
        </p:blipFill>
        <p:spPr>
          <a:xfrm>
            <a:off x="9321800" y="8263890"/>
            <a:ext cx="3378200" cy="1182370"/>
          </a:xfrm>
          <a:prstGeom prst="rect">
            <a:avLst/>
          </a:prstGeom>
        </p:spPr>
      </p:pic>
      <p:sp>
        <p:nvSpPr>
          <p:cNvPr id="8" name="TextBox 7">
            <a:extLst>
              <a:ext uri="{FF2B5EF4-FFF2-40B4-BE49-F238E27FC236}">
                <a16:creationId xmlns:a16="http://schemas.microsoft.com/office/drawing/2014/main" id="{8F7DB0E6-33BA-7C43-AD1F-3025890A5962}"/>
              </a:ext>
            </a:extLst>
          </p:cNvPr>
          <p:cNvSpPr txBox="1"/>
          <p:nvPr/>
        </p:nvSpPr>
        <p:spPr>
          <a:xfrm>
            <a:off x="406400" y="384301"/>
            <a:ext cx="3144643" cy="58477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Gill Sans MT" panose="020B0502020104020203"/>
                <a:ea typeface="ヒラギノ角ゴ ProN W6" charset="0"/>
                <a:sym typeface="Helvetica Neue Bold Condensed" charset="0"/>
              </a:rPr>
              <a:t>Viviana </a:t>
            </a:r>
            <a:r>
              <a:rPr kumimoji="0" lang="en-US" sz="3200" b="0" i="0" u="none" strike="noStrike" kern="1200" cap="none" spc="0" normalizeH="0" baseline="0" noProof="0" dirty="0" err="1">
                <a:ln>
                  <a:noFill/>
                </a:ln>
                <a:solidFill>
                  <a:prstClr val="black"/>
                </a:solidFill>
                <a:effectLst/>
                <a:uLnTx/>
                <a:uFillTx/>
                <a:latin typeface="Gill Sans MT" panose="020B0502020104020203"/>
                <a:ea typeface="ヒラギノ角ゴ ProN W6" charset="0"/>
                <a:sym typeface="Helvetica Neue Bold Condensed" charset="0"/>
              </a:rPr>
              <a:t>Acquaviva</a:t>
            </a:r>
            <a:endParaRPr kumimoji="0" lang="en-US" sz="3200" b="0" i="0" u="none" strike="noStrike" kern="1200" cap="none" spc="0" normalizeH="0" baseline="0" noProof="0" dirty="0">
              <a:ln>
                <a:noFill/>
              </a:ln>
              <a:solidFill>
                <a:prstClr val="black"/>
              </a:solidFill>
              <a:effectLst/>
              <a:uLnTx/>
              <a:uFillTx/>
              <a:latin typeface="Gill Sans MT" panose="020B0502020104020203"/>
              <a:ea typeface="ヒラギノ角ゴ ProN W6" charset="0"/>
              <a:sym typeface="Helvetica Neue Bold Condensed" charset="0"/>
            </a:endParaRPr>
          </a:p>
        </p:txBody>
      </p:sp>
      <p:pic>
        <p:nvPicPr>
          <p:cNvPr id="11" name="Picture 10" descr="A picture containing text, font, graphics, poster&#10;&#10;Description automatically generated">
            <a:extLst>
              <a:ext uri="{FF2B5EF4-FFF2-40B4-BE49-F238E27FC236}">
                <a16:creationId xmlns:a16="http://schemas.microsoft.com/office/drawing/2014/main" id="{2A24A238-B824-E84E-969A-AF0D866B5596}"/>
              </a:ext>
            </a:extLst>
          </p:cNvPr>
          <p:cNvPicPr>
            <a:picLocks noChangeAspect="1"/>
          </p:cNvPicPr>
          <p:nvPr/>
        </p:nvPicPr>
        <p:blipFill>
          <a:blip r:embed="rId4"/>
          <a:stretch>
            <a:fillRect/>
          </a:stretch>
        </p:blipFill>
        <p:spPr>
          <a:xfrm>
            <a:off x="10984649" y="307340"/>
            <a:ext cx="1613751" cy="1718645"/>
          </a:xfrm>
          <a:prstGeom prst="rect">
            <a:avLst/>
          </a:prstGeom>
        </p:spPr>
      </p:pic>
    </p:spTree>
    <p:extLst>
      <p:ext uri="{BB962C8B-B14F-4D97-AF65-F5344CB8AC3E}">
        <p14:creationId xmlns:p14="http://schemas.microsoft.com/office/powerpoint/2010/main" val="1196484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26982" y="1833283"/>
            <a:ext cx="9145594" cy="5476663"/>
          </a:xfrm>
          <a:prstGeom prst="rect">
            <a:avLst/>
          </a:prstGeom>
          <a:solidFill>
            <a:srgbClr val="FFFFFF"/>
          </a:solidFill>
          <a:ln w="28872">
            <a:solidFill>
              <a:srgbClr val="404040"/>
            </a:solidFill>
          </a:ln>
        </p:spPr>
        <p:txBody>
          <a:bodyPr vert="horz" wrap="square" lIns="0" tIns="797" rIns="0" bIns="0" rtlCol="0">
            <a:spAutoFit/>
          </a:bodyPr>
          <a:lstStyle/>
          <a:p>
            <a:pPr marL="2165073" marR="2156307">
              <a:lnSpc>
                <a:spcPts val="5271"/>
              </a:lnSpc>
            </a:pPr>
            <a:endParaRPr lang="en-US" sz="5208" dirty="0">
              <a:latin typeface="Times New Roman"/>
              <a:cs typeface="Times New Roman"/>
            </a:endParaRPr>
          </a:p>
          <a:p>
            <a:pPr marL="2165073" marR="2156307">
              <a:lnSpc>
                <a:spcPts val="5271"/>
              </a:lnSpc>
            </a:pPr>
            <a:r>
              <a:rPr sz="4894" spc="300" dirty="0">
                <a:solidFill>
                  <a:srgbClr val="262626"/>
                </a:solidFill>
                <a:latin typeface="+mj-lt"/>
                <a:cs typeface="Gill Sans MT"/>
              </a:rPr>
              <a:t>THE POWER OF ENSEMBLING:</a:t>
            </a:r>
            <a:endParaRPr sz="4894" spc="300" dirty="0">
              <a:latin typeface="+mj-lt"/>
              <a:cs typeface="Gill Sans MT"/>
            </a:endParaRPr>
          </a:p>
          <a:p>
            <a:pPr marL="1594">
              <a:lnSpc>
                <a:spcPts val="5572"/>
              </a:lnSpc>
              <a:spcBef>
                <a:spcPts val="4742"/>
              </a:spcBef>
            </a:pPr>
            <a:r>
              <a:rPr sz="4894" b="1" dirty="0">
                <a:solidFill>
                  <a:srgbClr val="262626"/>
                </a:solidFill>
                <a:latin typeface="+mj-lt"/>
                <a:cs typeface="Gill Sans MT Bold"/>
              </a:rPr>
              <a:t>BAGGING AND</a:t>
            </a:r>
            <a:endParaRPr sz="4894" dirty="0">
              <a:latin typeface="+mj-lt"/>
              <a:cs typeface="Gill Sans MT Bold"/>
            </a:endParaRPr>
          </a:p>
          <a:p>
            <a:pPr marR="21515">
              <a:lnSpc>
                <a:spcPts val="5572"/>
              </a:lnSpc>
            </a:pPr>
            <a:r>
              <a:rPr sz="4894" b="1" dirty="0">
                <a:solidFill>
                  <a:srgbClr val="262626"/>
                </a:solidFill>
                <a:latin typeface="+mj-lt"/>
                <a:cs typeface="Gill Sans MT Bold"/>
              </a:rPr>
              <a:t>BOOSTING METHODS</a:t>
            </a:r>
            <a:endParaRPr lang="en-US" sz="4894" b="1" dirty="0">
              <a:solidFill>
                <a:srgbClr val="262626"/>
              </a:solidFill>
              <a:latin typeface="+mj-lt"/>
              <a:cs typeface="Gill Sans MT Bold"/>
            </a:endParaRPr>
          </a:p>
          <a:p>
            <a:pPr marR="21515">
              <a:lnSpc>
                <a:spcPts val="5572"/>
              </a:lnSpc>
            </a:pPr>
            <a:endParaRPr sz="4894" dirty="0">
              <a:latin typeface="+mj-lt"/>
              <a:cs typeface="Gill Sans MT Bold"/>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06800" y="304800"/>
            <a:ext cx="6547821" cy="881269"/>
          </a:xfrm>
          <a:prstGeom prst="rect">
            <a:avLst/>
          </a:prstGeom>
          <a:solidFill>
            <a:srgbClr val="FFFFFF"/>
          </a:solidFill>
          <a:ln w="24060">
            <a:solidFill>
              <a:srgbClr val="404040"/>
            </a:solidFill>
          </a:ln>
        </p:spPr>
        <p:txBody>
          <a:bodyPr vert="horz" wrap="square" lIns="0" tIns="309183" rIns="0" bIns="0" rtlCol="0" anchor="ctr">
            <a:spAutoFit/>
          </a:bodyPr>
          <a:lstStyle/>
          <a:p>
            <a:pPr>
              <a:lnSpc>
                <a:spcPct val="100000"/>
              </a:lnSpc>
              <a:spcBef>
                <a:spcPts val="2435"/>
              </a:spcBef>
            </a:pPr>
            <a:r>
              <a:rPr lang="en-US" spc="270" dirty="0"/>
              <a:t>ENSEMBLING</a:t>
            </a:r>
          </a:p>
        </p:txBody>
      </p:sp>
      <p:sp>
        <p:nvSpPr>
          <p:cNvPr id="3" name="object 3"/>
          <p:cNvSpPr txBox="1">
            <a:spLocks noGrp="1"/>
          </p:cNvSpPr>
          <p:nvPr>
            <p:ph type="body" idx="1"/>
          </p:nvPr>
        </p:nvSpPr>
        <p:spPr>
          <a:xfrm>
            <a:off x="843148" y="1905000"/>
            <a:ext cx="11450451" cy="6513208"/>
          </a:xfrm>
          <a:prstGeom prst="rect">
            <a:avLst/>
          </a:prstGeom>
        </p:spPr>
        <p:txBody>
          <a:bodyPr vert="horz" wrap="square" lIns="0" tIns="11953" rIns="0" bIns="0" rtlCol="0">
            <a:spAutoFit/>
          </a:bodyPr>
          <a:lstStyle/>
          <a:p>
            <a:pPr marL="458195" marR="547444" indent="-309181">
              <a:lnSpc>
                <a:spcPct val="101099"/>
              </a:lnSpc>
              <a:spcBef>
                <a:spcPts val="94"/>
              </a:spcBef>
              <a:buClr>
                <a:srgbClr val="8784C7"/>
              </a:buClr>
              <a:buFont typeface="Arial"/>
              <a:buChar char="•"/>
              <a:tabLst>
                <a:tab pos="457399" algn="l"/>
                <a:tab pos="458195" algn="l"/>
              </a:tabLst>
            </a:pPr>
            <a:r>
              <a:rPr spc="13" dirty="0"/>
              <a:t>The</a:t>
            </a:r>
            <a:r>
              <a:rPr spc="31" dirty="0"/>
              <a:t> </a:t>
            </a:r>
            <a:r>
              <a:rPr spc="13" dirty="0"/>
              <a:t>main</a:t>
            </a:r>
            <a:r>
              <a:rPr spc="38" dirty="0"/>
              <a:t> </a:t>
            </a:r>
            <a:r>
              <a:rPr spc="6" dirty="0"/>
              <a:t>idea</a:t>
            </a:r>
            <a:r>
              <a:rPr spc="38" dirty="0"/>
              <a:t> </a:t>
            </a:r>
            <a:r>
              <a:rPr spc="13" dirty="0"/>
              <a:t>of</a:t>
            </a:r>
            <a:r>
              <a:rPr spc="31" dirty="0"/>
              <a:t> </a:t>
            </a:r>
            <a:r>
              <a:rPr spc="13" dirty="0"/>
              <a:t>ensembling</a:t>
            </a:r>
            <a:r>
              <a:rPr spc="31" dirty="0"/>
              <a:t> </a:t>
            </a:r>
            <a:r>
              <a:rPr dirty="0"/>
              <a:t>is</a:t>
            </a:r>
            <a:r>
              <a:rPr spc="38" dirty="0"/>
              <a:t> </a:t>
            </a:r>
            <a:r>
              <a:rPr spc="6" dirty="0"/>
              <a:t>to</a:t>
            </a:r>
            <a:r>
              <a:rPr spc="38" dirty="0"/>
              <a:t> </a:t>
            </a:r>
            <a:r>
              <a:rPr spc="13" dirty="0"/>
              <a:t>combine</a:t>
            </a:r>
            <a:r>
              <a:rPr spc="44" dirty="0"/>
              <a:t> </a:t>
            </a:r>
            <a:r>
              <a:rPr spc="13" dirty="0"/>
              <a:t>base</a:t>
            </a:r>
            <a:r>
              <a:rPr spc="44" dirty="0"/>
              <a:t> </a:t>
            </a:r>
            <a:r>
              <a:rPr spc="13" dirty="0"/>
              <a:t>estimators</a:t>
            </a:r>
            <a:r>
              <a:rPr spc="44" dirty="0"/>
              <a:t> </a:t>
            </a:r>
            <a:r>
              <a:rPr spc="-13" dirty="0"/>
              <a:t>(usually,</a:t>
            </a:r>
            <a:r>
              <a:rPr spc="-213" dirty="0"/>
              <a:t> </a:t>
            </a:r>
            <a:r>
              <a:rPr dirty="0"/>
              <a:t>weak</a:t>
            </a:r>
            <a:r>
              <a:rPr spc="38" dirty="0"/>
              <a:t> </a:t>
            </a:r>
            <a:r>
              <a:rPr spc="13" dirty="0"/>
              <a:t>learners)</a:t>
            </a:r>
            <a:r>
              <a:rPr spc="31" dirty="0"/>
              <a:t> </a:t>
            </a:r>
            <a:r>
              <a:rPr spc="6" dirty="0"/>
              <a:t>to </a:t>
            </a:r>
            <a:r>
              <a:rPr spc="-639" dirty="0"/>
              <a:t> </a:t>
            </a:r>
            <a:r>
              <a:rPr spc="25" dirty="0"/>
              <a:t>o</a:t>
            </a:r>
            <a:r>
              <a:rPr spc="19" dirty="0"/>
              <a:t>b</a:t>
            </a:r>
            <a:r>
              <a:rPr spc="13" dirty="0"/>
              <a:t>ta</a:t>
            </a:r>
            <a:r>
              <a:rPr spc="6" dirty="0"/>
              <a:t>i</a:t>
            </a:r>
            <a:r>
              <a:rPr dirty="0"/>
              <a:t>n</a:t>
            </a:r>
            <a:r>
              <a:rPr spc="31" dirty="0"/>
              <a:t> </a:t>
            </a:r>
            <a:r>
              <a:rPr dirty="0"/>
              <a:t>a</a:t>
            </a:r>
            <a:r>
              <a:rPr spc="31" dirty="0"/>
              <a:t> </a:t>
            </a:r>
            <a:r>
              <a:rPr spc="38" dirty="0"/>
              <a:t>m</a:t>
            </a:r>
            <a:r>
              <a:rPr spc="25" dirty="0"/>
              <a:t>o</a:t>
            </a:r>
            <a:r>
              <a:rPr spc="-31" dirty="0"/>
              <a:t>r</a:t>
            </a:r>
            <a:r>
              <a:rPr dirty="0"/>
              <a:t>e</a:t>
            </a:r>
            <a:r>
              <a:rPr spc="38" dirty="0"/>
              <a:t> </a:t>
            </a:r>
            <a:r>
              <a:rPr spc="19" dirty="0"/>
              <a:t>p</a:t>
            </a:r>
            <a:r>
              <a:rPr dirty="0"/>
              <a:t>o</a:t>
            </a:r>
            <a:r>
              <a:rPr spc="-19" dirty="0"/>
              <a:t>w</a:t>
            </a:r>
            <a:r>
              <a:rPr spc="19" dirty="0"/>
              <a:t>e</a:t>
            </a:r>
            <a:r>
              <a:rPr spc="13" dirty="0"/>
              <a:t>r</a:t>
            </a:r>
            <a:r>
              <a:rPr spc="6" dirty="0"/>
              <a:t>f</a:t>
            </a:r>
            <a:r>
              <a:rPr spc="19" dirty="0"/>
              <a:t>u</a:t>
            </a:r>
            <a:r>
              <a:rPr dirty="0"/>
              <a:t>l</a:t>
            </a:r>
            <a:r>
              <a:rPr spc="25" dirty="0"/>
              <a:t> </a:t>
            </a:r>
            <a:r>
              <a:rPr spc="13" dirty="0"/>
              <a:t>(</a:t>
            </a:r>
            <a:r>
              <a:rPr spc="69" dirty="0"/>
              <a:t>e</a:t>
            </a:r>
            <a:r>
              <a:rPr spc="6" dirty="0"/>
              <a:t>.</a:t>
            </a:r>
            <a:r>
              <a:rPr spc="13" dirty="0"/>
              <a:t>g</a:t>
            </a:r>
            <a:r>
              <a:rPr dirty="0"/>
              <a:t>.</a:t>
            </a:r>
            <a:r>
              <a:rPr spc="-220" dirty="0"/>
              <a:t> </a:t>
            </a:r>
            <a:r>
              <a:rPr spc="13" dirty="0"/>
              <a:t>a</a:t>
            </a:r>
            <a:r>
              <a:rPr spc="25" dirty="0"/>
              <a:t>cc</a:t>
            </a:r>
            <a:r>
              <a:rPr spc="19" dirty="0"/>
              <a:t>u</a:t>
            </a:r>
            <a:r>
              <a:rPr spc="13" dirty="0"/>
              <a:t>rat</a:t>
            </a:r>
            <a:r>
              <a:rPr spc="69" dirty="0"/>
              <a:t>e</a:t>
            </a:r>
            <a:r>
              <a:rPr dirty="0"/>
              <a:t>,</a:t>
            </a:r>
            <a:r>
              <a:rPr spc="-220" dirty="0"/>
              <a:t> </a:t>
            </a:r>
            <a:r>
              <a:rPr spc="25" dirty="0"/>
              <a:t>o</a:t>
            </a:r>
            <a:r>
              <a:rPr dirty="0"/>
              <a:t>r</a:t>
            </a:r>
            <a:r>
              <a:rPr spc="31" dirty="0"/>
              <a:t> </a:t>
            </a:r>
            <a:r>
              <a:rPr spc="-44" dirty="0"/>
              <a:t>r</a:t>
            </a:r>
            <a:r>
              <a:rPr spc="25" dirty="0"/>
              <a:t>o</a:t>
            </a:r>
            <a:r>
              <a:rPr spc="19" dirty="0"/>
              <a:t>bus</a:t>
            </a:r>
            <a:r>
              <a:rPr spc="13" dirty="0"/>
              <a:t>t</a:t>
            </a:r>
            <a:r>
              <a:rPr dirty="0"/>
              <a:t>)</a:t>
            </a:r>
            <a:r>
              <a:rPr spc="25" dirty="0"/>
              <a:t> </a:t>
            </a:r>
            <a:r>
              <a:rPr spc="19" dirty="0"/>
              <a:t>es</a:t>
            </a:r>
            <a:r>
              <a:rPr spc="13" dirty="0"/>
              <a:t>ti</a:t>
            </a:r>
            <a:r>
              <a:rPr spc="38" dirty="0"/>
              <a:t>m</a:t>
            </a:r>
            <a:r>
              <a:rPr spc="13" dirty="0"/>
              <a:t>at</a:t>
            </a:r>
            <a:r>
              <a:rPr spc="25" dirty="0"/>
              <a:t>o</a:t>
            </a:r>
            <a:r>
              <a:rPr spc="-226" dirty="0"/>
              <a:t>r</a:t>
            </a:r>
            <a:r>
              <a:rPr dirty="0"/>
              <a:t>.</a:t>
            </a:r>
          </a:p>
          <a:p>
            <a:pPr marL="458195" indent="-309181">
              <a:spcBef>
                <a:spcPts val="1380"/>
              </a:spcBef>
              <a:buClr>
                <a:srgbClr val="8784C7"/>
              </a:buClr>
              <a:buFont typeface="Arial"/>
              <a:buChar char="•"/>
              <a:tabLst>
                <a:tab pos="457399" algn="l"/>
                <a:tab pos="458195" algn="l"/>
              </a:tabLst>
            </a:pPr>
            <a:r>
              <a:rPr spc="-31" dirty="0"/>
              <a:t>Very</a:t>
            </a:r>
            <a:r>
              <a:rPr spc="38" dirty="0"/>
              <a:t> </a:t>
            </a:r>
            <a:r>
              <a:rPr spc="13" dirty="0"/>
              <a:t>often,</a:t>
            </a:r>
            <a:r>
              <a:rPr spc="-213" dirty="0"/>
              <a:t> </a:t>
            </a:r>
            <a:r>
              <a:rPr spc="6" dirty="0"/>
              <a:t>the</a:t>
            </a:r>
            <a:r>
              <a:rPr spc="44" dirty="0"/>
              <a:t> </a:t>
            </a:r>
            <a:r>
              <a:rPr spc="13" dirty="0"/>
              <a:t>base</a:t>
            </a:r>
            <a:r>
              <a:rPr spc="44" dirty="0"/>
              <a:t> </a:t>
            </a:r>
            <a:r>
              <a:rPr spc="13" dirty="0"/>
              <a:t>estimator</a:t>
            </a:r>
            <a:r>
              <a:rPr spc="38" dirty="0"/>
              <a:t> </a:t>
            </a:r>
            <a:r>
              <a:rPr spc="6" dirty="0"/>
              <a:t>is</a:t>
            </a:r>
            <a:r>
              <a:rPr spc="31" dirty="0"/>
              <a:t> </a:t>
            </a:r>
            <a:r>
              <a:rPr dirty="0"/>
              <a:t>a</a:t>
            </a:r>
            <a:r>
              <a:rPr spc="38" dirty="0"/>
              <a:t> </a:t>
            </a:r>
            <a:r>
              <a:rPr spc="19" dirty="0"/>
              <a:t>Decision</a:t>
            </a:r>
            <a:r>
              <a:rPr spc="-264" dirty="0"/>
              <a:t> </a:t>
            </a:r>
            <a:r>
              <a:rPr spc="-75" dirty="0"/>
              <a:t>Tree</a:t>
            </a:r>
            <a:r>
              <a:rPr spc="44" dirty="0"/>
              <a:t> </a:t>
            </a:r>
            <a:r>
              <a:rPr spc="13" dirty="0"/>
              <a:t>(or</a:t>
            </a:r>
            <a:r>
              <a:rPr spc="38" dirty="0"/>
              <a:t> </a:t>
            </a:r>
            <a:r>
              <a:rPr dirty="0"/>
              <a:t>stump,</a:t>
            </a:r>
            <a:r>
              <a:rPr spc="-220" dirty="0"/>
              <a:t> </a:t>
            </a:r>
            <a:r>
              <a:rPr spc="13" dirty="0"/>
              <a:t>which</a:t>
            </a:r>
            <a:r>
              <a:rPr spc="38" dirty="0"/>
              <a:t> </a:t>
            </a:r>
            <a:r>
              <a:rPr spc="6" dirty="0"/>
              <a:t>is</a:t>
            </a:r>
            <a:r>
              <a:rPr spc="38" dirty="0"/>
              <a:t> </a:t>
            </a:r>
            <a:r>
              <a:rPr dirty="0"/>
              <a:t>a</a:t>
            </a:r>
            <a:r>
              <a:rPr spc="38" dirty="0"/>
              <a:t> </a:t>
            </a:r>
            <a:r>
              <a:rPr spc="6" dirty="0"/>
              <a:t>1-split</a:t>
            </a:r>
            <a:r>
              <a:rPr spc="31" dirty="0"/>
              <a:t> </a:t>
            </a:r>
            <a:r>
              <a:rPr dirty="0"/>
              <a:t>tree).</a:t>
            </a:r>
          </a:p>
          <a:p>
            <a:pPr marL="458195" marR="561787" indent="-309181">
              <a:lnSpc>
                <a:spcPct val="101099"/>
              </a:lnSpc>
              <a:spcBef>
                <a:spcPts val="1506"/>
              </a:spcBef>
              <a:buClr>
                <a:srgbClr val="8784C7"/>
              </a:buClr>
              <a:buFont typeface="Arial"/>
              <a:buChar char="•"/>
              <a:tabLst>
                <a:tab pos="457399" algn="l"/>
                <a:tab pos="458195" algn="l"/>
              </a:tabLst>
            </a:pPr>
            <a:r>
              <a:rPr spc="13" dirty="0"/>
              <a:t>The</a:t>
            </a:r>
            <a:r>
              <a:rPr spc="38" dirty="0"/>
              <a:t> </a:t>
            </a:r>
            <a:r>
              <a:rPr spc="13" dirty="0"/>
              <a:t>name</a:t>
            </a:r>
            <a:r>
              <a:rPr spc="-207" dirty="0"/>
              <a:t> </a:t>
            </a:r>
            <a:r>
              <a:rPr spc="6" dirty="0"/>
              <a:t>“bagging”</a:t>
            </a:r>
            <a:r>
              <a:rPr spc="38" dirty="0"/>
              <a:t> </a:t>
            </a:r>
            <a:r>
              <a:rPr spc="19" dirty="0"/>
              <a:t>comes</a:t>
            </a:r>
            <a:r>
              <a:rPr spc="50" dirty="0"/>
              <a:t> </a:t>
            </a:r>
            <a:r>
              <a:rPr spc="-6" dirty="0"/>
              <a:t>from</a:t>
            </a:r>
            <a:r>
              <a:rPr spc="56" dirty="0"/>
              <a:t> </a:t>
            </a:r>
            <a:r>
              <a:rPr spc="13" dirty="0"/>
              <a:t>Bootstrap</a:t>
            </a:r>
            <a:r>
              <a:rPr spc="-220" dirty="0"/>
              <a:t> </a:t>
            </a:r>
            <a:r>
              <a:rPr spc="6" dirty="0"/>
              <a:t>AGGregating.</a:t>
            </a:r>
            <a:r>
              <a:rPr spc="-213" dirty="0"/>
              <a:t> </a:t>
            </a:r>
            <a:r>
              <a:rPr spc="13" dirty="0"/>
              <a:t>Boosting</a:t>
            </a:r>
            <a:r>
              <a:rPr spc="38" dirty="0"/>
              <a:t> </a:t>
            </a:r>
            <a:r>
              <a:rPr dirty="0"/>
              <a:t>is</a:t>
            </a:r>
            <a:r>
              <a:rPr spc="38" dirty="0"/>
              <a:t> </a:t>
            </a:r>
            <a:r>
              <a:rPr spc="6" dirty="0"/>
              <a:t>just</a:t>
            </a:r>
            <a:r>
              <a:rPr spc="31" dirty="0"/>
              <a:t> </a:t>
            </a:r>
            <a:r>
              <a:rPr spc="13" dirty="0"/>
              <a:t>boosting,</a:t>
            </a:r>
            <a:r>
              <a:rPr spc="-213" dirty="0"/>
              <a:t> </a:t>
            </a:r>
            <a:r>
              <a:rPr spc="6" dirty="0"/>
              <a:t>no </a:t>
            </a:r>
            <a:r>
              <a:rPr spc="-639" dirty="0"/>
              <a:t> </a:t>
            </a:r>
            <a:r>
              <a:rPr spc="6" dirty="0"/>
              <a:t>acronym.</a:t>
            </a:r>
          </a:p>
          <a:p>
            <a:pPr marL="458195" marR="34265" indent="-309181">
              <a:lnSpc>
                <a:spcPct val="106300"/>
              </a:lnSpc>
              <a:spcBef>
                <a:spcPts val="1205"/>
              </a:spcBef>
              <a:buClr>
                <a:srgbClr val="8784C7"/>
              </a:buClr>
              <a:buFont typeface="Arial"/>
              <a:buChar char="•"/>
              <a:tabLst>
                <a:tab pos="457399" algn="l"/>
                <a:tab pos="458195" algn="l"/>
              </a:tabLst>
            </a:pPr>
            <a:r>
              <a:rPr spc="6" dirty="0"/>
              <a:t>Bagging</a:t>
            </a:r>
            <a:r>
              <a:rPr spc="31" dirty="0"/>
              <a:t> </a:t>
            </a:r>
            <a:r>
              <a:rPr spc="19" dirty="0"/>
              <a:t>methods</a:t>
            </a:r>
            <a:r>
              <a:rPr spc="50" dirty="0"/>
              <a:t> </a:t>
            </a:r>
            <a:r>
              <a:rPr spc="-13" dirty="0"/>
              <a:t>like</a:t>
            </a:r>
            <a:r>
              <a:rPr spc="50" dirty="0"/>
              <a:t> </a:t>
            </a:r>
            <a:r>
              <a:rPr spc="13" dirty="0"/>
              <a:t>Random</a:t>
            </a:r>
            <a:r>
              <a:rPr spc="63" dirty="0"/>
              <a:t> </a:t>
            </a:r>
            <a:r>
              <a:rPr dirty="0"/>
              <a:t>Forests,</a:t>
            </a:r>
            <a:r>
              <a:rPr spc="-213" dirty="0"/>
              <a:t> </a:t>
            </a:r>
            <a:r>
              <a:rPr spc="6" dirty="0"/>
              <a:t>Extremely</a:t>
            </a:r>
            <a:r>
              <a:rPr spc="50" dirty="0"/>
              <a:t> </a:t>
            </a:r>
            <a:r>
              <a:rPr spc="13" dirty="0"/>
              <a:t>Random</a:t>
            </a:r>
            <a:r>
              <a:rPr spc="-245" dirty="0"/>
              <a:t> </a:t>
            </a:r>
            <a:r>
              <a:rPr spc="-56" dirty="0"/>
              <a:t>Trees</a:t>
            </a:r>
            <a:r>
              <a:rPr spc="50" dirty="0"/>
              <a:t> </a:t>
            </a:r>
            <a:r>
              <a:rPr dirty="0"/>
              <a:t>work</a:t>
            </a:r>
            <a:r>
              <a:rPr spc="50" dirty="0"/>
              <a:t> </a:t>
            </a:r>
            <a:r>
              <a:rPr spc="-6" dirty="0"/>
              <a:t>by</a:t>
            </a:r>
            <a:r>
              <a:rPr spc="69" dirty="0"/>
              <a:t> </a:t>
            </a:r>
            <a:r>
              <a:rPr spc="13" dirty="0">
                <a:solidFill>
                  <a:srgbClr val="FF0000"/>
                </a:solidFill>
              </a:rPr>
              <a:t>building</a:t>
            </a:r>
            <a:r>
              <a:rPr spc="44" dirty="0">
                <a:solidFill>
                  <a:srgbClr val="FF0000"/>
                </a:solidFill>
              </a:rPr>
              <a:t> </a:t>
            </a:r>
            <a:r>
              <a:rPr spc="6" dirty="0">
                <a:solidFill>
                  <a:srgbClr val="FF0000"/>
                </a:solidFill>
              </a:rPr>
              <a:t>full</a:t>
            </a:r>
            <a:r>
              <a:rPr spc="38" dirty="0">
                <a:solidFill>
                  <a:srgbClr val="FF0000"/>
                </a:solidFill>
              </a:rPr>
              <a:t> </a:t>
            </a:r>
            <a:r>
              <a:rPr spc="13" dirty="0">
                <a:solidFill>
                  <a:srgbClr val="FF0000"/>
                </a:solidFill>
              </a:rPr>
              <a:t>base </a:t>
            </a:r>
            <a:r>
              <a:rPr spc="-646" dirty="0">
                <a:solidFill>
                  <a:srgbClr val="FF0000"/>
                </a:solidFill>
              </a:rPr>
              <a:t> </a:t>
            </a:r>
            <a:r>
              <a:rPr spc="13" dirty="0">
                <a:solidFill>
                  <a:srgbClr val="FF0000"/>
                </a:solidFill>
              </a:rPr>
              <a:t>estimators</a:t>
            </a:r>
            <a:r>
              <a:rPr spc="25" dirty="0">
                <a:solidFill>
                  <a:srgbClr val="FF0000"/>
                </a:solidFill>
              </a:rPr>
              <a:t> </a:t>
            </a:r>
            <a:r>
              <a:rPr spc="6" dirty="0">
                <a:solidFill>
                  <a:srgbClr val="FF0000"/>
                </a:solidFill>
              </a:rPr>
              <a:t>(trees)</a:t>
            </a:r>
            <a:r>
              <a:rPr spc="25" dirty="0">
                <a:solidFill>
                  <a:srgbClr val="FF0000"/>
                </a:solidFill>
              </a:rPr>
              <a:t> </a:t>
            </a:r>
            <a:r>
              <a:rPr spc="6" dirty="0">
                <a:solidFill>
                  <a:srgbClr val="FF0000"/>
                </a:solidFill>
              </a:rPr>
              <a:t>in</a:t>
            </a:r>
            <a:r>
              <a:rPr spc="31" dirty="0">
                <a:solidFill>
                  <a:srgbClr val="FF0000"/>
                </a:solidFill>
              </a:rPr>
              <a:t> </a:t>
            </a:r>
            <a:r>
              <a:rPr spc="13" dirty="0">
                <a:solidFill>
                  <a:srgbClr val="FF0000"/>
                </a:solidFill>
              </a:rPr>
              <a:t>parallel</a:t>
            </a:r>
            <a:r>
              <a:rPr spc="25" dirty="0">
                <a:solidFill>
                  <a:srgbClr val="FF0000"/>
                </a:solidFill>
              </a:rPr>
              <a:t> </a:t>
            </a:r>
            <a:r>
              <a:rPr spc="6" dirty="0"/>
              <a:t>and</a:t>
            </a:r>
            <a:r>
              <a:rPr spc="31" dirty="0"/>
              <a:t> </a:t>
            </a:r>
            <a:r>
              <a:rPr spc="13" dirty="0"/>
              <a:t>then</a:t>
            </a:r>
            <a:r>
              <a:rPr spc="31" dirty="0"/>
              <a:t> </a:t>
            </a:r>
            <a:r>
              <a:rPr spc="-6" dirty="0"/>
              <a:t>averaging</a:t>
            </a:r>
            <a:r>
              <a:rPr spc="25" dirty="0"/>
              <a:t> </a:t>
            </a:r>
            <a:r>
              <a:rPr spc="6" dirty="0"/>
              <a:t>the</a:t>
            </a:r>
            <a:r>
              <a:rPr spc="31" dirty="0"/>
              <a:t> </a:t>
            </a:r>
            <a:r>
              <a:rPr spc="13" dirty="0"/>
              <a:t>predictions.</a:t>
            </a:r>
          </a:p>
          <a:p>
            <a:pPr marL="458195" marR="6375" indent="-309181">
              <a:lnSpc>
                <a:spcPct val="102499"/>
              </a:lnSpc>
              <a:spcBef>
                <a:spcPts val="1318"/>
              </a:spcBef>
              <a:buClr>
                <a:srgbClr val="8784C7"/>
              </a:buClr>
              <a:buFont typeface="Arial"/>
              <a:buChar char="•"/>
              <a:tabLst>
                <a:tab pos="457399" algn="l"/>
                <a:tab pos="458195" algn="l"/>
              </a:tabLst>
            </a:pPr>
            <a:r>
              <a:rPr spc="13" dirty="0"/>
              <a:t>Boosting </a:t>
            </a:r>
            <a:r>
              <a:rPr spc="19" dirty="0"/>
              <a:t>methods </a:t>
            </a:r>
            <a:r>
              <a:rPr spc="-6" dirty="0"/>
              <a:t>(like </a:t>
            </a:r>
            <a:r>
              <a:rPr spc="19" dirty="0"/>
              <a:t>AdaBoost </a:t>
            </a:r>
            <a:r>
              <a:rPr spc="13" dirty="0"/>
              <a:t>or </a:t>
            </a:r>
            <a:r>
              <a:rPr spc="19" dirty="0"/>
              <a:t>XGBoost) </a:t>
            </a:r>
            <a:r>
              <a:rPr spc="6" dirty="0"/>
              <a:t>work </a:t>
            </a:r>
            <a:r>
              <a:rPr spc="6" dirty="0">
                <a:solidFill>
                  <a:srgbClr val="FF0000"/>
                </a:solidFill>
              </a:rPr>
              <a:t>sequentially</a:t>
            </a:r>
            <a:r>
              <a:rPr spc="6" dirty="0"/>
              <a:t>: </a:t>
            </a:r>
            <a:r>
              <a:rPr dirty="0"/>
              <a:t>a </a:t>
            </a:r>
            <a:r>
              <a:rPr dirty="0">
                <a:solidFill>
                  <a:srgbClr val="FF0000"/>
                </a:solidFill>
              </a:rPr>
              <a:t>weak </a:t>
            </a:r>
            <a:r>
              <a:rPr spc="13" dirty="0">
                <a:solidFill>
                  <a:srgbClr val="FF0000"/>
                </a:solidFill>
              </a:rPr>
              <a:t>learner </a:t>
            </a:r>
            <a:r>
              <a:rPr spc="19" dirty="0">
                <a:solidFill>
                  <a:srgbClr val="FF0000"/>
                </a:solidFill>
              </a:rPr>
              <a:t> </a:t>
            </a:r>
            <a:r>
              <a:rPr spc="19" dirty="0"/>
              <a:t>(sometimes </a:t>
            </a:r>
            <a:r>
              <a:rPr dirty="0"/>
              <a:t>a </a:t>
            </a:r>
            <a:r>
              <a:rPr spc="13" dirty="0">
                <a:solidFill>
                  <a:srgbClr val="FF0000"/>
                </a:solidFill>
              </a:rPr>
              <a:t>small tree</a:t>
            </a:r>
            <a:r>
              <a:rPr spc="13" dirty="0"/>
              <a:t>, or </a:t>
            </a:r>
            <a:r>
              <a:rPr spc="13" dirty="0">
                <a:solidFill>
                  <a:srgbClr val="FF0000"/>
                </a:solidFill>
              </a:rPr>
              <a:t>stump</a:t>
            </a:r>
            <a:r>
              <a:rPr spc="13" dirty="0"/>
              <a:t>) </a:t>
            </a:r>
            <a:r>
              <a:rPr dirty="0"/>
              <a:t>is </a:t>
            </a:r>
            <a:r>
              <a:rPr spc="6" dirty="0"/>
              <a:t>created and </a:t>
            </a:r>
            <a:r>
              <a:rPr spc="13" dirty="0"/>
              <a:t>used </a:t>
            </a:r>
            <a:r>
              <a:rPr spc="6" dirty="0"/>
              <a:t>to </a:t>
            </a:r>
            <a:r>
              <a:rPr dirty="0"/>
              <a:t>make </a:t>
            </a:r>
            <a:r>
              <a:rPr spc="6" dirty="0"/>
              <a:t>predictions, </a:t>
            </a:r>
            <a:r>
              <a:rPr spc="13" dirty="0"/>
              <a:t>then </a:t>
            </a:r>
            <a:r>
              <a:rPr spc="6" dirty="0"/>
              <a:t>the </a:t>
            </a:r>
            <a:r>
              <a:rPr spc="13" dirty="0"/>
              <a:t>next </a:t>
            </a:r>
            <a:r>
              <a:rPr spc="-646" dirty="0"/>
              <a:t> </a:t>
            </a:r>
            <a:r>
              <a:rPr spc="13" dirty="0"/>
              <a:t>step</a:t>
            </a:r>
            <a:r>
              <a:rPr spc="31" dirty="0"/>
              <a:t> </a:t>
            </a:r>
            <a:r>
              <a:rPr spc="13" dirty="0"/>
              <a:t>focuses</a:t>
            </a:r>
            <a:r>
              <a:rPr spc="38" dirty="0"/>
              <a:t> </a:t>
            </a:r>
            <a:r>
              <a:rPr spc="13" dirty="0"/>
              <a:t>on</a:t>
            </a:r>
            <a:r>
              <a:rPr spc="31" dirty="0"/>
              <a:t> </a:t>
            </a:r>
            <a:r>
              <a:rPr spc="13" dirty="0">
                <a:solidFill>
                  <a:srgbClr val="FF0000"/>
                </a:solidFill>
              </a:rPr>
              <a:t>getting</a:t>
            </a:r>
            <a:r>
              <a:rPr spc="31" dirty="0">
                <a:solidFill>
                  <a:srgbClr val="FF0000"/>
                </a:solidFill>
              </a:rPr>
              <a:t> </a:t>
            </a:r>
            <a:r>
              <a:rPr spc="6" dirty="0">
                <a:solidFill>
                  <a:srgbClr val="FF0000"/>
                </a:solidFill>
              </a:rPr>
              <a:t>the</a:t>
            </a:r>
            <a:r>
              <a:rPr spc="38" dirty="0">
                <a:solidFill>
                  <a:srgbClr val="FF0000"/>
                </a:solidFill>
              </a:rPr>
              <a:t> </a:t>
            </a:r>
            <a:r>
              <a:rPr spc="6" dirty="0">
                <a:solidFill>
                  <a:srgbClr val="FF0000"/>
                </a:solidFill>
              </a:rPr>
              <a:t>problematic</a:t>
            </a:r>
            <a:r>
              <a:rPr spc="44" dirty="0">
                <a:solidFill>
                  <a:srgbClr val="FF0000"/>
                </a:solidFill>
              </a:rPr>
              <a:t> </a:t>
            </a:r>
            <a:r>
              <a:rPr spc="13" dirty="0">
                <a:solidFill>
                  <a:srgbClr val="FF0000"/>
                </a:solidFill>
              </a:rPr>
              <a:t>examples</a:t>
            </a:r>
            <a:r>
              <a:rPr spc="38" dirty="0">
                <a:solidFill>
                  <a:srgbClr val="FF0000"/>
                </a:solidFill>
              </a:rPr>
              <a:t> </a:t>
            </a:r>
            <a:r>
              <a:rPr spc="6" dirty="0">
                <a:solidFill>
                  <a:srgbClr val="FF0000"/>
                </a:solidFill>
              </a:rPr>
              <a:t>right</a:t>
            </a:r>
            <a:r>
              <a:rPr spc="25" dirty="0">
                <a:solidFill>
                  <a:srgbClr val="FF0000"/>
                </a:solidFill>
              </a:rPr>
              <a:t> </a:t>
            </a:r>
            <a:r>
              <a:rPr spc="6" dirty="0"/>
              <a:t>and</a:t>
            </a:r>
            <a:r>
              <a:rPr spc="38" dirty="0"/>
              <a:t> </a:t>
            </a:r>
            <a:r>
              <a:rPr spc="6" dirty="0"/>
              <a:t>this</a:t>
            </a:r>
            <a:r>
              <a:rPr spc="38" dirty="0"/>
              <a:t> </a:t>
            </a:r>
            <a:r>
              <a:rPr dirty="0"/>
              <a:t>procedure</a:t>
            </a:r>
            <a:r>
              <a:rPr spc="38" dirty="0"/>
              <a:t> </a:t>
            </a:r>
            <a:r>
              <a:rPr spc="6" dirty="0"/>
              <a:t>is</a:t>
            </a:r>
            <a:r>
              <a:rPr spc="38" dirty="0"/>
              <a:t> </a:t>
            </a:r>
            <a:r>
              <a:rPr spc="6" dirty="0"/>
              <a:t>applied </a:t>
            </a:r>
            <a:r>
              <a:rPr spc="-13" dirty="0"/>
              <a:t>iteratively.</a:t>
            </a:r>
          </a:p>
          <a:p>
            <a:pPr marL="458195" marR="186466" indent="-309181">
              <a:lnSpc>
                <a:spcPct val="106300"/>
              </a:lnSpc>
              <a:spcBef>
                <a:spcPts val="1205"/>
              </a:spcBef>
              <a:buClr>
                <a:srgbClr val="8784C7"/>
              </a:buClr>
              <a:buFont typeface="Arial"/>
              <a:buChar char="•"/>
              <a:tabLst>
                <a:tab pos="457399" algn="l"/>
                <a:tab pos="458195" algn="l"/>
              </a:tabLst>
            </a:pPr>
            <a:r>
              <a:rPr spc="13" dirty="0"/>
              <a:t>The</a:t>
            </a:r>
            <a:r>
              <a:rPr spc="38" dirty="0"/>
              <a:t> </a:t>
            </a:r>
            <a:r>
              <a:rPr spc="19" dirty="0"/>
              <a:t>common</a:t>
            </a:r>
            <a:r>
              <a:rPr spc="38" dirty="0"/>
              <a:t> </a:t>
            </a:r>
            <a:r>
              <a:rPr spc="13" dirty="0"/>
              <a:t>wisdom</a:t>
            </a:r>
            <a:r>
              <a:rPr spc="56" dirty="0"/>
              <a:t> </a:t>
            </a:r>
            <a:r>
              <a:rPr dirty="0"/>
              <a:t>is</a:t>
            </a:r>
            <a:r>
              <a:rPr spc="44" dirty="0"/>
              <a:t> </a:t>
            </a:r>
            <a:r>
              <a:rPr spc="6" dirty="0"/>
              <a:t>that</a:t>
            </a:r>
            <a:r>
              <a:rPr spc="31" dirty="0"/>
              <a:t> </a:t>
            </a:r>
            <a:r>
              <a:rPr spc="6" dirty="0"/>
              <a:t>bagging</a:t>
            </a:r>
            <a:r>
              <a:rPr spc="38" dirty="0"/>
              <a:t> </a:t>
            </a:r>
            <a:r>
              <a:rPr dirty="0"/>
              <a:t>is</a:t>
            </a:r>
            <a:r>
              <a:rPr spc="44" dirty="0"/>
              <a:t> </a:t>
            </a:r>
            <a:r>
              <a:rPr spc="13" dirty="0"/>
              <a:t>used</a:t>
            </a:r>
            <a:r>
              <a:rPr spc="38" dirty="0"/>
              <a:t> </a:t>
            </a:r>
            <a:r>
              <a:rPr spc="6" dirty="0"/>
              <a:t>to</a:t>
            </a:r>
            <a:r>
              <a:rPr spc="44" dirty="0"/>
              <a:t> </a:t>
            </a:r>
            <a:r>
              <a:rPr spc="6" dirty="0"/>
              <a:t>reduce</a:t>
            </a:r>
            <a:r>
              <a:rPr spc="38" dirty="0"/>
              <a:t> </a:t>
            </a:r>
            <a:r>
              <a:rPr spc="19" dirty="0"/>
              <a:t>variance,</a:t>
            </a:r>
            <a:r>
              <a:rPr spc="-220" dirty="0"/>
              <a:t> </a:t>
            </a:r>
            <a:r>
              <a:rPr spc="13" dirty="0"/>
              <a:t>boosting</a:t>
            </a:r>
            <a:r>
              <a:rPr spc="38" dirty="0"/>
              <a:t> </a:t>
            </a:r>
            <a:r>
              <a:rPr spc="6" dirty="0"/>
              <a:t>to</a:t>
            </a:r>
            <a:r>
              <a:rPr spc="44" dirty="0"/>
              <a:t> </a:t>
            </a:r>
            <a:r>
              <a:rPr spc="6" dirty="0"/>
              <a:t>reduce</a:t>
            </a:r>
            <a:r>
              <a:rPr spc="38" dirty="0"/>
              <a:t> </a:t>
            </a:r>
            <a:r>
              <a:rPr spc="6" dirty="0"/>
              <a:t>bias. </a:t>
            </a:r>
            <a:r>
              <a:rPr spc="-639" dirty="0"/>
              <a:t> </a:t>
            </a:r>
            <a:r>
              <a:rPr spc="13" dirty="0"/>
              <a:t>But</a:t>
            </a:r>
            <a:r>
              <a:rPr spc="25" dirty="0"/>
              <a:t> </a:t>
            </a:r>
            <a:r>
              <a:rPr dirty="0"/>
              <a:t>I</a:t>
            </a:r>
            <a:r>
              <a:rPr spc="25" dirty="0"/>
              <a:t> </a:t>
            </a:r>
            <a:r>
              <a:rPr spc="-6" dirty="0"/>
              <a:t>really</a:t>
            </a:r>
            <a:r>
              <a:rPr spc="44" dirty="0"/>
              <a:t> </a:t>
            </a:r>
            <a:r>
              <a:rPr spc="6" dirty="0"/>
              <a:t>think</a:t>
            </a:r>
            <a:r>
              <a:rPr spc="38" dirty="0"/>
              <a:t> </a:t>
            </a:r>
            <a:r>
              <a:rPr spc="6" dirty="0"/>
              <a:t>that</a:t>
            </a:r>
            <a:r>
              <a:rPr spc="31" dirty="0"/>
              <a:t> </a:t>
            </a:r>
            <a:r>
              <a:rPr spc="6" dirty="0"/>
              <a:t>this</a:t>
            </a:r>
            <a:r>
              <a:rPr spc="38" dirty="0"/>
              <a:t> </a:t>
            </a:r>
            <a:r>
              <a:rPr spc="13" dirty="0"/>
              <a:t>depends</a:t>
            </a:r>
            <a:r>
              <a:rPr spc="38" dirty="0"/>
              <a:t> </a:t>
            </a:r>
            <a:r>
              <a:rPr spc="13" dirty="0"/>
              <a:t>on</a:t>
            </a:r>
            <a:r>
              <a:rPr spc="38" dirty="0"/>
              <a:t> </a:t>
            </a:r>
            <a:r>
              <a:rPr spc="6" dirty="0"/>
              <a:t>the</a:t>
            </a:r>
            <a:r>
              <a:rPr spc="38" dirty="0"/>
              <a:t> </a:t>
            </a:r>
            <a:r>
              <a:rPr spc="13" dirty="0"/>
              <a:t>base</a:t>
            </a:r>
            <a:r>
              <a:rPr spc="44" dirty="0"/>
              <a:t> </a:t>
            </a:r>
            <a:r>
              <a:rPr spc="13" dirty="0"/>
              <a:t>learner</a:t>
            </a:r>
            <a:r>
              <a:rPr spc="31" dirty="0"/>
              <a:t> </a:t>
            </a:r>
            <a:r>
              <a:rPr spc="6" dirty="0"/>
              <a:t>and</a:t>
            </a:r>
            <a:r>
              <a:rPr spc="38" dirty="0"/>
              <a:t> </a:t>
            </a:r>
            <a:r>
              <a:rPr spc="6" dirty="0"/>
              <a:t>the</a:t>
            </a:r>
            <a:r>
              <a:rPr spc="38" dirty="0"/>
              <a:t> </a:t>
            </a:r>
            <a:r>
              <a:rPr spc="13" dirty="0"/>
              <a:t>ensemble</a:t>
            </a:r>
            <a:r>
              <a:rPr spc="38" dirty="0"/>
              <a:t> </a:t>
            </a:r>
            <a:r>
              <a:rPr spc="19" dirty="0"/>
              <a:t>method.</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7078" y="511493"/>
            <a:ext cx="8555102" cy="1569421"/>
          </a:xfrm>
          <a:prstGeom prst="rect">
            <a:avLst/>
          </a:prstGeom>
          <a:solidFill>
            <a:srgbClr val="FFFFFF"/>
          </a:solidFill>
          <a:ln w="24060">
            <a:solidFill>
              <a:srgbClr val="404040"/>
            </a:solidFill>
          </a:ln>
        </p:spPr>
        <p:txBody>
          <a:bodyPr vert="horz" wrap="square" lIns="0" tIns="427118" rIns="0" bIns="0" rtlCol="0" anchor="t">
            <a:spAutoFit/>
          </a:bodyPr>
          <a:lstStyle/>
          <a:p>
            <a:pPr marR="26296">
              <a:lnSpc>
                <a:spcPct val="100000"/>
              </a:lnSpc>
              <a:spcBef>
                <a:spcPts val="3363"/>
              </a:spcBef>
              <a:tabLst>
                <a:tab pos="3023293" algn="l"/>
              </a:tabLst>
            </a:pPr>
            <a:r>
              <a:rPr lang="en-US" spc="232" dirty="0" err="1"/>
              <a:t>BAgging</a:t>
            </a:r>
            <a:r>
              <a:rPr lang="en-US" spc="232" dirty="0"/>
              <a:t> vs boosting</a:t>
            </a:r>
            <a:br>
              <a:rPr lang="en-US" spc="232" dirty="0"/>
            </a:br>
            <a:endParaRPr spc="232" dirty="0"/>
          </a:p>
        </p:txBody>
      </p:sp>
      <p:pic>
        <p:nvPicPr>
          <p:cNvPr id="3" name="object 3"/>
          <p:cNvPicPr/>
          <p:nvPr/>
        </p:nvPicPr>
        <p:blipFill>
          <a:blip r:embed="rId2" cstate="print"/>
          <a:stretch>
            <a:fillRect/>
          </a:stretch>
        </p:blipFill>
        <p:spPr>
          <a:xfrm>
            <a:off x="874408" y="2717059"/>
            <a:ext cx="11255979" cy="4319480"/>
          </a:xfrm>
          <a:prstGeom prst="rect">
            <a:avLst/>
          </a:prstGeom>
        </p:spPr>
      </p:pic>
      <p:sp>
        <p:nvSpPr>
          <p:cNvPr id="4" name="object 4"/>
          <p:cNvSpPr txBox="1"/>
          <p:nvPr/>
        </p:nvSpPr>
        <p:spPr>
          <a:xfrm>
            <a:off x="2990633" y="7359186"/>
            <a:ext cx="8141547" cy="2178864"/>
          </a:xfrm>
          <a:prstGeom prst="rect">
            <a:avLst/>
          </a:prstGeom>
        </p:spPr>
        <p:txBody>
          <a:bodyPr vert="horz" wrap="square" lIns="0" tIns="15937" rIns="0" bIns="0" rtlCol="0">
            <a:spAutoFit/>
          </a:bodyPr>
          <a:lstStyle/>
          <a:p>
            <a:pPr>
              <a:spcBef>
                <a:spcPts val="125"/>
              </a:spcBef>
            </a:pPr>
            <a:r>
              <a:rPr sz="2510" spc="-19" dirty="0">
                <a:solidFill>
                  <a:srgbClr val="002060"/>
                </a:solidFill>
                <a:latin typeface="Gill Sans MT"/>
                <a:cs typeface="Gill Sans MT"/>
              </a:rPr>
              <a:t>Bagging:</a:t>
            </a:r>
            <a:r>
              <a:rPr sz="2510" spc="-264" dirty="0">
                <a:solidFill>
                  <a:srgbClr val="002060"/>
                </a:solidFill>
                <a:latin typeface="Gill Sans MT"/>
                <a:cs typeface="Gill Sans MT"/>
              </a:rPr>
              <a:t> </a:t>
            </a:r>
            <a:r>
              <a:rPr sz="2510" spc="-19" dirty="0">
                <a:solidFill>
                  <a:srgbClr val="002060"/>
                </a:solidFill>
                <a:latin typeface="Gill Sans MT"/>
                <a:cs typeface="Gill Sans MT"/>
              </a:rPr>
              <a:t>learners</a:t>
            </a:r>
            <a:r>
              <a:rPr sz="2510" spc="-25" dirty="0">
                <a:solidFill>
                  <a:srgbClr val="002060"/>
                </a:solidFill>
                <a:latin typeface="Gill Sans MT"/>
                <a:cs typeface="Gill Sans MT"/>
              </a:rPr>
              <a:t> </a:t>
            </a:r>
            <a:r>
              <a:rPr sz="2510" spc="-31" dirty="0">
                <a:solidFill>
                  <a:srgbClr val="002060"/>
                </a:solidFill>
                <a:latin typeface="Gill Sans MT"/>
                <a:cs typeface="Gill Sans MT"/>
              </a:rPr>
              <a:t>are</a:t>
            </a:r>
            <a:r>
              <a:rPr sz="2510" spc="-19" dirty="0">
                <a:solidFill>
                  <a:srgbClr val="002060"/>
                </a:solidFill>
                <a:latin typeface="Gill Sans MT"/>
                <a:cs typeface="Gill Sans MT"/>
              </a:rPr>
              <a:t> </a:t>
            </a:r>
            <a:r>
              <a:rPr sz="2510" spc="-25" dirty="0">
                <a:solidFill>
                  <a:srgbClr val="002060"/>
                </a:solidFill>
                <a:latin typeface="Gill Sans MT"/>
                <a:cs typeface="Gill Sans MT"/>
              </a:rPr>
              <a:t>independent </a:t>
            </a:r>
            <a:r>
              <a:rPr sz="2510" spc="-13" dirty="0">
                <a:solidFill>
                  <a:srgbClr val="002060"/>
                </a:solidFill>
                <a:latin typeface="Gill Sans MT"/>
                <a:cs typeface="Gill Sans MT"/>
              </a:rPr>
              <a:t>of </a:t>
            </a:r>
            <a:r>
              <a:rPr sz="2510" spc="-19" dirty="0">
                <a:solidFill>
                  <a:srgbClr val="002060"/>
                </a:solidFill>
                <a:latin typeface="Gill Sans MT"/>
                <a:cs typeface="Gill Sans MT"/>
              </a:rPr>
              <a:t>each</a:t>
            </a:r>
            <a:r>
              <a:rPr sz="2510" spc="-31" dirty="0">
                <a:solidFill>
                  <a:srgbClr val="002060"/>
                </a:solidFill>
                <a:latin typeface="Gill Sans MT"/>
                <a:cs typeface="Gill Sans MT"/>
              </a:rPr>
              <a:t> </a:t>
            </a:r>
            <a:r>
              <a:rPr sz="2510" spc="-63" dirty="0">
                <a:solidFill>
                  <a:srgbClr val="002060"/>
                </a:solidFill>
                <a:latin typeface="Gill Sans MT"/>
                <a:cs typeface="Gill Sans MT"/>
              </a:rPr>
              <a:t>other.</a:t>
            </a:r>
            <a:endParaRPr sz="2510" dirty="0">
              <a:solidFill>
                <a:srgbClr val="002060"/>
              </a:solidFill>
              <a:latin typeface="Gill Sans MT"/>
              <a:cs typeface="Gill Sans MT"/>
            </a:endParaRPr>
          </a:p>
          <a:p>
            <a:pPr algn="ctr">
              <a:lnSpc>
                <a:spcPct val="100000"/>
              </a:lnSpc>
            </a:pPr>
            <a:r>
              <a:rPr sz="2510" spc="-19" dirty="0">
                <a:solidFill>
                  <a:srgbClr val="002060"/>
                </a:solidFill>
                <a:latin typeface="Gill Sans MT"/>
                <a:cs typeface="Gill Sans MT"/>
              </a:rPr>
              <a:t>Boosting:</a:t>
            </a:r>
            <a:r>
              <a:rPr sz="2510" spc="-264" dirty="0">
                <a:solidFill>
                  <a:srgbClr val="002060"/>
                </a:solidFill>
                <a:latin typeface="Gill Sans MT"/>
                <a:cs typeface="Gill Sans MT"/>
              </a:rPr>
              <a:t> </a:t>
            </a:r>
            <a:r>
              <a:rPr sz="2510" spc="-25" dirty="0">
                <a:solidFill>
                  <a:srgbClr val="002060"/>
                </a:solidFill>
                <a:latin typeface="Gill Sans MT"/>
                <a:cs typeface="Gill Sans MT"/>
              </a:rPr>
              <a:t>new</a:t>
            </a:r>
            <a:r>
              <a:rPr sz="2510" spc="-31" dirty="0">
                <a:solidFill>
                  <a:srgbClr val="002060"/>
                </a:solidFill>
                <a:latin typeface="Gill Sans MT"/>
                <a:cs typeface="Gill Sans MT"/>
              </a:rPr>
              <a:t> </a:t>
            </a:r>
            <a:r>
              <a:rPr sz="2510" spc="-19" dirty="0">
                <a:solidFill>
                  <a:srgbClr val="002060"/>
                </a:solidFill>
                <a:latin typeface="Gill Sans MT"/>
                <a:cs typeface="Gill Sans MT"/>
              </a:rPr>
              <a:t>learner</a:t>
            </a:r>
            <a:r>
              <a:rPr sz="2510" spc="-25" dirty="0">
                <a:solidFill>
                  <a:srgbClr val="002060"/>
                </a:solidFill>
                <a:latin typeface="Gill Sans MT"/>
                <a:cs typeface="Gill Sans MT"/>
              </a:rPr>
              <a:t> </a:t>
            </a:r>
            <a:r>
              <a:rPr sz="2510" spc="-6" dirty="0">
                <a:solidFill>
                  <a:srgbClr val="002060"/>
                </a:solidFill>
                <a:latin typeface="Gill Sans MT"/>
                <a:cs typeface="Gill Sans MT"/>
              </a:rPr>
              <a:t>is</a:t>
            </a:r>
            <a:r>
              <a:rPr sz="2510" spc="-25" dirty="0">
                <a:solidFill>
                  <a:srgbClr val="002060"/>
                </a:solidFill>
                <a:latin typeface="Gill Sans MT"/>
                <a:cs typeface="Gill Sans MT"/>
              </a:rPr>
              <a:t> </a:t>
            </a:r>
            <a:r>
              <a:rPr sz="2510" spc="-19" dirty="0">
                <a:solidFill>
                  <a:srgbClr val="002060"/>
                </a:solidFill>
                <a:latin typeface="Gill Sans MT"/>
                <a:cs typeface="Gill Sans MT"/>
              </a:rPr>
              <a:t>adjusted </a:t>
            </a:r>
            <a:r>
              <a:rPr sz="2510" spc="-13" dirty="0">
                <a:solidFill>
                  <a:srgbClr val="002060"/>
                </a:solidFill>
                <a:latin typeface="Gill Sans MT"/>
                <a:cs typeface="Gill Sans MT"/>
              </a:rPr>
              <a:t>on</a:t>
            </a:r>
            <a:r>
              <a:rPr sz="2510" spc="-25" dirty="0">
                <a:solidFill>
                  <a:srgbClr val="002060"/>
                </a:solidFill>
                <a:latin typeface="Gill Sans MT"/>
                <a:cs typeface="Gill Sans MT"/>
              </a:rPr>
              <a:t> </a:t>
            </a:r>
            <a:r>
              <a:rPr sz="2510" spc="-13" dirty="0">
                <a:solidFill>
                  <a:srgbClr val="002060"/>
                </a:solidFill>
                <a:latin typeface="Gill Sans MT"/>
                <a:cs typeface="Gill Sans MT"/>
              </a:rPr>
              <a:t>the</a:t>
            </a:r>
            <a:r>
              <a:rPr sz="2510" spc="-19" dirty="0">
                <a:solidFill>
                  <a:srgbClr val="002060"/>
                </a:solidFill>
                <a:latin typeface="Gill Sans MT"/>
                <a:cs typeface="Gill Sans MT"/>
              </a:rPr>
              <a:t> </a:t>
            </a:r>
            <a:r>
              <a:rPr sz="2510" spc="-13" dirty="0">
                <a:solidFill>
                  <a:srgbClr val="002060"/>
                </a:solidFill>
                <a:latin typeface="Gill Sans MT"/>
                <a:cs typeface="Gill Sans MT"/>
              </a:rPr>
              <a:t>basis</a:t>
            </a:r>
            <a:r>
              <a:rPr sz="2510" spc="-25" dirty="0">
                <a:solidFill>
                  <a:srgbClr val="002060"/>
                </a:solidFill>
                <a:latin typeface="Gill Sans MT"/>
                <a:cs typeface="Gill Sans MT"/>
              </a:rPr>
              <a:t> </a:t>
            </a:r>
            <a:r>
              <a:rPr sz="2510" spc="-13" dirty="0">
                <a:solidFill>
                  <a:srgbClr val="002060"/>
                </a:solidFill>
                <a:latin typeface="Gill Sans MT"/>
                <a:cs typeface="Gill Sans MT"/>
              </a:rPr>
              <a:t>of </a:t>
            </a:r>
            <a:r>
              <a:rPr sz="2510" spc="-31" dirty="0">
                <a:solidFill>
                  <a:srgbClr val="002060"/>
                </a:solidFill>
                <a:latin typeface="Gill Sans MT"/>
                <a:cs typeface="Gill Sans MT"/>
              </a:rPr>
              <a:t>previous</a:t>
            </a:r>
            <a:r>
              <a:rPr sz="2510" spc="-25" dirty="0">
                <a:solidFill>
                  <a:srgbClr val="002060"/>
                </a:solidFill>
                <a:latin typeface="Gill Sans MT"/>
                <a:cs typeface="Gill Sans MT"/>
              </a:rPr>
              <a:t> </a:t>
            </a:r>
            <a:r>
              <a:rPr sz="2510" spc="-19" dirty="0">
                <a:solidFill>
                  <a:srgbClr val="002060"/>
                </a:solidFill>
                <a:latin typeface="Gill Sans MT"/>
                <a:cs typeface="Gill Sans MT"/>
              </a:rPr>
              <a:t>steps.</a:t>
            </a:r>
            <a:endParaRPr sz="2510" dirty="0">
              <a:solidFill>
                <a:srgbClr val="002060"/>
              </a:solidFill>
              <a:latin typeface="Gill Sans MT"/>
              <a:cs typeface="Gill Sans MT"/>
            </a:endParaRPr>
          </a:p>
          <a:p>
            <a:pPr>
              <a:spcBef>
                <a:spcPts val="6"/>
              </a:spcBef>
            </a:pPr>
            <a:endParaRPr sz="3388" dirty="0">
              <a:latin typeface="Gill Sans MT"/>
              <a:cs typeface="Gill Sans MT"/>
            </a:endParaRPr>
          </a:p>
          <a:p>
            <a:pPr marL="245433"/>
            <a:r>
              <a:rPr lang="en-US" sz="1882" dirty="0">
                <a:latin typeface="Gill Sans MT"/>
                <a:cs typeface="Gill Sans MT"/>
              </a:rPr>
              <a:t>Figure credit:</a:t>
            </a:r>
            <a:endParaRPr sz="1882" dirty="0">
              <a:latin typeface="Gill Sans MT"/>
              <a:cs typeface="Gill Sans MT"/>
            </a:endParaRPr>
          </a:p>
          <a:p>
            <a:pPr marL="244636"/>
            <a:r>
              <a:rPr sz="1882" spc="6" dirty="0">
                <a:latin typeface="Gill Sans MT"/>
                <a:cs typeface="Gill Sans MT"/>
                <a:hlinkClick r:id="rId3"/>
              </a:rPr>
              <a:t>h</a:t>
            </a:r>
            <a:r>
              <a:rPr sz="1882" dirty="0">
                <a:latin typeface="Gill Sans MT"/>
                <a:cs typeface="Gill Sans MT"/>
                <a:hlinkClick r:id="rId3"/>
              </a:rPr>
              <a:t>tt</a:t>
            </a:r>
            <a:r>
              <a:rPr sz="1882" spc="6" dirty="0">
                <a:latin typeface="Gill Sans MT"/>
                <a:cs typeface="Gill Sans MT"/>
                <a:hlinkClick r:id="rId3"/>
              </a:rPr>
              <a:t>ps</a:t>
            </a:r>
            <a:r>
              <a:rPr sz="1882" dirty="0">
                <a:latin typeface="Gill Sans MT"/>
                <a:cs typeface="Gill Sans MT"/>
                <a:hlinkClick r:id="rId3"/>
              </a:rPr>
              <a:t>:</a:t>
            </a:r>
            <a:r>
              <a:rPr sz="1882" spc="6" dirty="0">
                <a:latin typeface="Gill Sans MT"/>
                <a:cs typeface="Gill Sans MT"/>
                <a:hlinkClick r:id="rId3"/>
              </a:rPr>
              <a:t>//qu</a:t>
            </a:r>
            <a:r>
              <a:rPr sz="1882" dirty="0">
                <a:latin typeface="Gill Sans MT"/>
                <a:cs typeface="Gill Sans MT"/>
                <a:hlinkClick r:id="rId3"/>
              </a:rPr>
              <a:t>a</a:t>
            </a:r>
            <a:r>
              <a:rPr sz="1882" spc="6" dirty="0">
                <a:latin typeface="Gill Sans MT"/>
                <a:cs typeface="Gill Sans MT"/>
                <a:hlinkClick r:id="rId3"/>
              </a:rPr>
              <a:t>n</a:t>
            </a:r>
            <a:r>
              <a:rPr sz="1882" dirty="0">
                <a:latin typeface="Gill Sans MT"/>
                <a:cs typeface="Gill Sans MT"/>
                <a:hlinkClick r:id="rId3"/>
              </a:rPr>
              <a:t>t</a:t>
            </a:r>
            <a:r>
              <a:rPr sz="1882" spc="13" dirty="0">
                <a:latin typeface="Gill Sans MT"/>
                <a:cs typeface="Gill Sans MT"/>
                <a:hlinkClick r:id="rId3"/>
              </a:rPr>
              <a:t>d</a:t>
            </a:r>
            <a:r>
              <a:rPr sz="1882" dirty="0">
                <a:latin typeface="Gill Sans MT"/>
                <a:cs typeface="Gill Sans MT"/>
                <a:hlinkClick r:id="rId3"/>
              </a:rPr>
              <a:t>a</a:t>
            </a:r>
            <a:r>
              <a:rPr sz="1882" spc="-38" dirty="0">
                <a:latin typeface="Gill Sans MT"/>
                <a:cs typeface="Gill Sans MT"/>
                <a:hlinkClick r:id="rId3"/>
              </a:rPr>
              <a:t>r</a:t>
            </a:r>
            <a:r>
              <a:rPr sz="1882" spc="50" dirty="0">
                <a:latin typeface="Gill Sans MT"/>
                <a:cs typeface="Gill Sans MT"/>
                <a:hlinkClick r:id="rId3"/>
              </a:rPr>
              <a:t>e</a:t>
            </a:r>
            <a:r>
              <a:rPr sz="1882" dirty="0">
                <a:latin typeface="Gill Sans MT"/>
                <a:cs typeface="Gill Sans MT"/>
                <a:hlinkClick r:id="rId3"/>
              </a:rPr>
              <a:t>.</a:t>
            </a:r>
            <a:r>
              <a:rPr sz="1882" spc="6" dirty="0">
                <a:latin typeface="Gill Sans MT"/>
                <a:cs typeface="Gill Sans MT"/>
                <a:hlinkClick r:id="rId3"/>
              </a:rPr>
              <a:t>co</a:t>
            </a:r>
            <a:r>
              <a:rPr sz="1882" spc="13" dirty="0">
                <a:latin typeface="Gill Sans MT"/>
                <a:cs typeface="Gill Sans MT"/>
                <a:hlinkClick r:id="rId3"/>
              </a:rPr>
              <a:t>m</a:t>
            </a:r>
            <a:r>
              <a:rPr sz="1882" spc="6" dirty="0">
                <a:latin typeface="Gill Sans MT"/>
                <a:cs typeface="Gill Sans MT"/>
                <a:hlinkClick r:id="rId3"/>
              </a:rPr>
              <a:t>/</a:t>
            </a:r>
            <a:r>
              <a:rPr sz="1882" spc="13" dirty="0">
                <a:latin typeface="Gill Sans MT"/>
                <a:cs typeface="Gill Sans MT"/>
                <a:hlinkClick r:id="rId3"/>
              </a:rPr>
              <a:t>w</a:t>
            </a:r>
            <a:r>
              <a:rPr sz="1882" spc="6" dirty="0">
                <a:latin typeface="Gill Sans MT"/>
                <a:cs typeface="Gill Sans MT"/>
                <a:hlinkClick r:id="rId3"/>
              </a:rPr>
              <a:t>h</a:t>
            </a:r>
            <a:r>
              <a:rPr sz="1882" dirty="0">
                <a:latin typeface="Gill Sans MT"/>
                <a:cs typeface="Gill Sans MT"/>
                <a:hlinkClick r:id="rId3"/>
              </a:rPr>
              <a:t>at</a:t>
            </a:r>
            <a:r>
              <a:rPr sz="1882" spc="6" dirty="0">
                <a:latin typeface="Gill Sans MT"/>
                <a:cs typeface="Gill Sans MT"/>
                <a:hlinkClick r:id="rId3"/>
              </a:rPr>
              <a:t>-</a:t>
            </a:r>
            <a:r>
              <a:rPr sz="1882" dirty="0">
                <a:latin typeface="Gill Sans MT"/>
                <a:cs typeface="Gill Sans MT"/>
                <a:hlinkClick r:id="rId3"/>
              </a:rPr>
              <a:t>i</a:t>
            </a:r>
            <a:r>
              <a:rPr sz="1882" spc="13" dirty="0">
                <a:latin typeface="Gill Sans MT"/>
                <a:cs typeface="Gill Sans MT"/>
                <a:hlinkClick r:id="rId3"/>
              </a:rPr>
              <a:t>s</a:t>
            </a:r>
            <a:r>
              <a:rPr sz="1882" spc="6" dirty="0">
                <a:latin typeface="Gill Sans MT"/>
                <a:cs typeface="Gill Sans MT"/>
                <a:hlinkClick r:id="rId3"/>
              </a:rPr>
              <a:t>-</a:t>
            </a:r>
            <a:r>
              <a:rPr sz="1882" dirty="0">
                <a:latin typeface="Gill Sans MT"/>
                <a:cs typeface="Gill Sans MT"/>
                <a:hlinkClick r:id="rId3"/>
              </a:rPr>
              <a:t>t</a:t>
            </a:r>
            <a:r>
              <a:rPr sz="1882" spc="6" dirty="0">
                <a:latin typeface="Gill Sans MT"/>
                <a:cs typeface="Gill Sans MT"/>
                <a:hlinkClick r:id="rId3"/>
              </a:rPr>
              <a:t>h</a:t>
            </a:r>
            <a:r>
              <a:rPr sz="1882" spc="13" dirty="0">
                <a:latin typeface="Gill Sans MT"/>
                <a:cs typeface="Gill Sans MT"/>
                <a:hlinkClick r:id="rId3"/>
              </a:rPr>
              <a:t>e</a:t>
            </a:r>
            <a:r>
              <a:rPr sz="1882" spc="6" dirty="0">
                <a:latin typeface="Gill Sans MT"/>
                <a:cs typeface="Gill Sans MT"/>
                <a:hlinkClick r:id="rId3"/>
              </a:rPr>
              <a:t>-</a:t>
            </a:r>
            <a:r>
              <a:rPr sz="1882" spc="13" dirty="0">
                <a:latin typeface="Gill Sans MT"/>
                <a:cs typeface="Gill Sans MT"/>
                <a:hlinkClick r:id="rId3"/>
              </a:rPr>
              <a:t>d</a:t>
            </a:r>
            <a:r>
              <a:rPr sz="1882" dirty="0">
                <a:latin typeface="Gill Sans MT"/>
                <a:cs typeface="Gill Sans MT"/>
                <a:hlinkClick r:id="rId3"/>
              </a:rPr>
              <a:t>if</a:t>
            </a:r>
            <a:r>
              <a:rPr sz="1882" spc="-19" dirty="0">
                <a:latin typeface="Gill Sans MT"/>
                <a:cs typeface="Gill Sans MT"/>
                <a:hlinkClick r:id="rId3"/>
              </a:rPr>
              <a:t>f</a:t>
            </a:r>
            <a:r>
              <a:rPr sz="1882" spc="13" dirty="0">
                <a:latin typeface="Gill Sans MT"/>
                <a:cs typeface="Gill Sans MT"/>
                <a:hlinkClick r:id="rId3"/>
              </a:rPr>
              <a:t>e</a:t>
            </a:r>
            <a:r>
              <a:rPr sz="1882" spc="-38" dirty="0">
                <a:latin typeface="Gill Sans MT"/>
                <a:cs typeface="Gill Sans MT"/>
                <a:hlinkClick r:id="rId3"/>
              </a:rPr>
              <a:t>r</a:t>
            </a:r>
            <a:r>
              <a:rPr sz="1882" spc="13" dirty="0">
                <a:latin typeface="Gill Sans MT"/>
                <a:cs typeface="Gill Sans MT"/>
                <a:hlinkClick r:id="rId3"/>
              </a:rPr>
              <a:t>e</a:t>
            </a:r>
            <a:r>
              <a:rPr sz="1882" spc="6" dirty="0">
                <a:latin typeface="Gill Sans MT"/>
                <a:cs typeface="Gill Sans MT"/>
                <a:hlinkClick r:id="rId3"/>
              </a:rPr>
              <a:t>nc</a:t>
            </a:r>
            <a:r>
              <a:rPr sz="1882" spc="13" dirty="0">
                <a:latin typeface="Gill Sans MT"/>
                <a:cs typeface="Gill Sans MT"/>
                <a:hlinkClick r:id="rId3"/>
              </a:rPr>
              <a:t>e</a:t>
            </a:r>
            <a:r>
              <a:rPr sz="1882" spc="6" dirty="0">
                <a:latin typeface="Gill Sans MT"/>
                <a:cs typeface="Gill Sans MT"/>
                <a:hlinkClick r:id="rId3"/>
              </a:rPr>
              <a:t>-b</a:t>
            </a:r>
            <a:r>
              <a:rPr sz="1882" spc="13" dirty="0">
                <a:latin typeface="Gill Sans MT"/>
                <a:cs typeface="Gill Sans MT"/>
                <a:hlinkClick r:id="rId3"/>
              </a:rPr>
              <a:t>e</a:t>
            </a:r>
            <a:r>
              <a:rPr sz="1882" dirty="0">
                <a:latin typeface="Gill Sans MT"/>
                <a:cs typeface="Gill Sans MT"/>
                <a:hlinkClick r:id="rId3"/>
              </a:rPr>
              <a:t>t</a:t>
            </a:r>
            <a:r>
              <a:rPr sz="1882" spc="-25" dirty="0">
                <a:latin typeface="Gill Sans MT"/>
                <a:cs typeface="Gill Sans MT"/>
                <a:hlinkClick r:id="rId3"/>
              </a:rPr>
              <a:t>w</a:t>
            </a:r>
            <a:r>
              <a:rPr sz="1882" spc="13" dirty="0">
                <a:latin typeface="Gill Sans MT"/>
                <a:cs typeface="Gill Sans MT"/>
                <a:hlinkClick r:id="rId3"/>
              </a:rPr>
              <a:t>ee</a:t>
            </a:r>
            <a:r>
              <a:rPr sz="1882" spc="6" dirty="0">
                <a:latin typeface="Gill Sans MT"/>
                <a:cs typeface="Gill Sans MT"/>
                <a:hlinkClick r:id="rId3"/>
              </a:rPr>
              <a:t>n-b</a:t>
            </a:r>
            <a:r>
              <a:rPr sz="1882" dirty="0">
                <a:latin typeface="Gill Sans MT"/>
                <a:cs typeface="Gill Sans MT"/>
                <a:hlinkClick r:id="rId3"/>
              </a:rPr>
              <a:t>aggi</a:t>
            </a:r>
            <a:r>
              <a:rPr sz="1882" spc="6" dirty="0">
                <a:latin typeface="Gill Sans MT"/>
                <a:cs typeface="Gill Sans MT"/>
                <a:hlinkClick r:id="rId3"/>
              </a:rPr>
              <a:t>ng-</a:t>
            </a:r>
            <a:r>
              <a:rPr sz="1882" dirty="0">
                <a:latin typeface="Gill Sans MT"/>
                <a:cs typeface="Gill Sans MT"/>
                <a:hlinkClick r:id="rId3"/>
              </a:rPr>
              <a:t>a</a:t>
            </a:r>
            <a:r>
              <a:rPr sz="1882" spc="6" dirty="0">
                <a:latin typeface="Gill Sans MT"/>
                <a:cs typeface="Gill Sans MT"/>
                <a:hlinkClick r:id="rId3"/>
              </a:rPr>
              <a:t>n</a:t>
            </a:r>
            <a:r>
              <a:rPr sz="1882" spc="13" dirty="0">
                <a:latin typeface="Gill Sans MT"/>
                <a:cs typeface="Gill Sans MT"/>
                <a:hlinkClick r:id="rId3"/>
              </a:rPr>
              <a:t>d</a:t>
            </a:r>
            <a:r>
              <a:rPr sz="1882" spc="6" dirty="0">
                <a:latin typeface="Gill Sans MT"/>
                <a:cs typeface="Gill Sans MT"/>
                <a:hlinkClick r:id="rId3"/>
              </a:rPr>
              <a:t>-b</a:t>
            </a:r>
            <a:r>
              <a:rPr sz="1882" dirty="0">
                <a:latin typeface="Gill Sans MT"/>
                <a:cs typeface="Gill Sans MT"/>
                <a:hlinkClick r:id="rId3"/>
              </a:rPr>
              <a:t>o</a:t>
            </a:r>
            <a:r>
              <a:rPr sz="1882" spc="6" dirty="0">
                <a:latin typeface="Gill Sans MT"/>
                <a:cs typeface="Gill Sans MT"/>
                <a:hlinkClick r:id="rId3"/>
              </a:rPr>
              <a:t>os</a:t>
            </a:r>
            <a:r>
              <a:rPr sz="1882" dirty="0">
                <a:latin typeface="Gill Sans MT"/>
                <a:cs typeface="Gill Sans MT"/>
                <a:hlinkClick r:id="rId3"/>
              </a:rPr>
              <a:t>ti</a:t>
            </a:r>
            <a:r>
              <a:rPr sz="1882" spc="6" dirty="0">
                <a:latin typeface="Gill Sans MT"/>
                <a:cs typeface="Gill Sans MT"/>
                <a:hlinkClick r:id="rId3"/>
              </a:rPr>
              <a:t>n</a:t>
            </a:r>
            <a:r>
              <a:rPr sz="1882" dirty="0">
                <a:latin typeface="Gill Sans MT"/>
                <a:cs typeface="Gill Sans MT"/>
                <a:hlinkClick r:id="rId3"/>
              </a:rPr>
              <a:t>g/</a:t>
            </a:r>
            <a:endParaRPr lang="en-US" sz="1882" dirty="0">
              <a:latin typeface="Gill Sans MT"/>
              <a:cs typeface="Gill Sans MT"/>
            </a:endParaRPr>
          </a:p>
          <a:p>
            <a:pPr marL="244636"/>
            <a:r>
              <a:rPr lang="en-US" sz="1882" dirty="0">
                <a:latin typeface="Gill Sans MT"/>
                <a:cs typeface="Gill Sans MT"/>
              </a:rPr>
              <a:t>(reproduced with permission)</a:t>
            </a:r>
            <a:endParaRPr sz="1882" dirty="0">
              <a:latin typeface="Gill Sans MT"/>
              <a:cs typeface="Gill Sans MT"/>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717778" y="2323484"/>
            <a:ext cx="9917055" cy="3805670"/>
          </a:xfrm>
          <a:prstGeom prst="rect">
            <a:avLst/>
          </a:prstGeom>
        </p:spPr>
      </p:pic>
      <p:sp>
        <p:nvSpPr>
          <p:cNvPr id="4" name="object 4"/>
          <p:cNvSpPr txBox="1"/>
          <p:nvPr/>
        </p:nvSpPr>
        <p:spPr>
          <a:xfrm>
            <a:off x="3065795" y="6553398"/>
            <a:ext cx="7515213" cy="3356623"/>
          </a:xfrm>
          <a:prstGeom prst="rect">
            <a:avLst/>
          </a:prstGeom>
        </p:spPr>
        <p:txBody>
          <a:bodyPr vert="horz" wrap="square" lIns="0" tIns="15937" rIns="0" bIns="0" rtlCol="0">
            <a:spAutoFit/>
          </a:bodyPr>
          <a:lstStyle/>
          <a:p>
            <a:pPr marR="1087716">
              <a:spcBef>
                <a:spcPts val="125"/>
              </a:spcBef>
            </a:pPr>
            <a:r>
              <a:rPr sz="2259" spc="-6" dirty="0">
                <a:latin typeface="Gill Sans MT"/>
                <a:cs typeface="Gill Sans MT"/>
              </a:rPr>
              <a:t>I</a:t>
            </a:r>
            <a:r>
              <a:rPr sz="2259" dirty="0">
                <a:latin typeface="Gill Sans MT"/>
                <a:cs typeface="Gill Sans MT"/>
              </a:rPr>
              <a:t>n</a:t>
            </a:r>
            <a:r>
              <a:rPr sz="2259" spc="-25" dirty="0">
                <a:latin typeface="Gill Sans MT"/>
                <a:cs typeface="Gill Sans MT"/>
              </a:rPr>
              <a:t> </a:t>
            </a:r>
            <a:r>
              <a:rPr sz="2259" spc="-19" dirty="0">
                <a:latin typeface="Gill Sans MT"/>
                <a:cs typeface="Gill Sans MT"/>
              </a:rPr>
              <a:t>B</a:t>
            </a:r>
            <a:r>
              <a:rPr sz="2259" spc="-13" dirty="0">
                <a:latin typeface="Gill Sans MT"/>
                <a:cs typeface="Gill Sans MT"/>
              </a:rPr>
              <a:t>aggi</a:t>
            </a:r>
            <a:r>
              <a:rPr sz="2259" spc="-19" dirty="0">
                <a:latin typeface="Gill Sans MT"/>
                <a:cs typeface="Gill Sans MT"/>
              </a:rPr>
              <a:t>n</a:t>
            </a:r>
            <a:r>
              <a:rPr sz="2259" dirty="0">
                <a:latin typeface="Gill Sans MT"/>
                <a:cs typeface="Gill Sans MT"/>
              </a:rPr>
              <a:t>g</a:t>
            </a:r>
            <a:r>
              <a:rPr sz="2259" spc="-25" dirty="0">
                <a:latin typeface="Gill Sans MT"/>
                <a:cs typeface="Gill Sans MT"/>
              </a:rPr>
              <a:t> </a:t>
            </a:r>
            <a:r>
              <a:rPr sz="2259" spc="-13" dirty="0">
                <a:latin typeface="Gill Sans MT"/>
                <a:cs typeface="Gill Sans MT"/>
              </a:rPr>
              <a:t>al</a:t>
            </a:r>
            <a:r>
              <a:rPr sz="2259" spc="-38" dirty="0">
                <a:latin typeface="Gill Sans MT"/>
                <a:cs typeface="Gill Sans MT"/>
              </a:rPr>
              <a:t>g</a:t>
            </a:r>
            <a:r>
              <a:rPr sz="2259" spc="-13" dirty="0">
                <a:latin typeface="Gill Sans MT"/>
                <a:cs typeface="Gill Sans MT"/>
              </a:rPr>
              <a:t>o</a:t>
            </a:r>
            <a:r>
              <a:rPr sz="2259" spc="-19" dirty="0">
                <a:latin typeface="Gill Sans MT"/>
                <a:cs typeface="Gill Sans MT"/>
              </a:rPr>
              <a:t>r</a:t>
            </a:r>
            <a:r>
              <a:rPr sz="2259" spc="-13" dirty="0">
                <a:latin typeface="Gill Sans MT"/>
                <a:cs typeface="Gill Sans MT"/>
              </a:rPr>
              <a:t>i</a:t>
            </a:r>
            <a:r>
              <a:rPr sz="2259" spc="-6" dirty="0">
                <a:latin typeface="Gill Sans MT"/>
                <a:cs typeface="Gill Sans MT"/>
              </a:rPr>
              <a:t>t</a:t>
            </a:r>
            <a:r>
              <a:rPr sz="2259" spc="-19" dirty="0">
                <a:latin typeface="Gill Sans MT"/>
                <a:cs typeface="Gill Sans MT"/>
              </a:rPr>
              <a:t>hm</a:t>
            </a:r>
            <a:r>
              <a:rPr sz="2259" spc="-13" dirty="0">
                <a:latin typeface="Gill Sans MT"/>
                <a:cs typeface="Gill Sans MT"/>
              </a:rPr>
              <a:t>s</a:t>
            </a:r>
            <a:r>
              <a:rPr sz="2259" dirty="0">
                <a:latin typeface="Gill Sans MT"/>
                <a:cs typeface="Gill Sans MT"/>
              </a:rPr>
              <a:t>,</a:t>
            </a:r>
            <a:r>
              <a:rPr sz="2259" spc="-245" dirty="0">
                <a:latin typeface="Gill Sans MT"/>
                <a:cs typeface="Gill Sans MT"/>
              </a:rPr>
              <a:t> </a:t>
            </a:r>
            <a:r>
              <a:rPr sz="2259" spc="-13" dirty="0">
                <a:latin typeface="Gill Sans MT"/>
                <a:cs typeface="Gill Sans MT"/>
              </a:rPr>
              <a:t>al</a:t>
            </a:r>
            <a:r>
              <a:rPr sz="2259" dirty="0">
                <a:latin typeface="Gill Sans MT"/>
                <a:cs typeface="Gill Sans MT"/>
              </a:rPr>
              <a:t>l</a:t>
            </a:r>
            <a:r>
              <a:rPr sz="2259" spc="-25" dirty="0">
                <a:latin typeface="Gill Sans MT"/>
                <a:cs typeface="Gill Sans MT"/>
              </a:rPr>
              <a:t> </a:t>
            </a:r>
            <a:r>
              <a:rPr sz="2259" spc="-19" dirty="0">
                <a:latin typeface="Gill Sans MT"/>
                <a:cs typeface="Gill Sans MT"/>
              </a:rPr>
              <a:t>m</a:t>
            </a:r>
            <a:r>
              <a:rPr sz="2259" spc="-13" dirty="0">
                <a:latin typeface="Gill Sans MT"/>
                <a:cs typeface="Gill Sans MT"/>
              </a:rPr>
              <a:t>od</a:t>
            </a:r>
            <a:r>
              <a:rPr sz="2259" spc="-19" dirty="0">
                <a:latin typeface="Gill Sans MT"/>
                <a:cs typeface="Gill Sans MT"/>
              </a:rPr>
              <a:t>e</a:t>
            </a:r>
            <a:r>
              <a:rPr sz="2259" spc="-13" dirty="0">
                <a:latin typeface="Gill Sans MT"/>
                <a:cs typeface="Gill Sans MT"/>
              </a:rPr>
              <a:t>l</a:t>
            </a:r>
            <a:r>
              <a:rPr sz="2259" dirty="0">
                <a:latin typeface="Gill Sans MT"/>
                <a:cs typeface="Gill Sans MT"/>
              </a:rPr>
              <a:t>s</a:t>
            </a:r>
            <a:r>
              <a:rPr sz="2259" spc="-25" dirty="0">
                <a:latin typeface="Gill Sans MT"/>
                <a:cs typeface="Gill Sans MT"/>
              </a:rPr>
              <a:t> </a:t>
            </a:r>
            <a:r>
              <a:rPr sz="2259" spc="-19" dirty="0">
                <a:latin typeface="Gill Sans MT"/>
                <a:cs typeface="Gill Sans MT"/>
              </a:rPr>
              <a:t>h</a:t>
            </a:r>
            <a:r>
              <a:rPr sz="2259" spc="-94" dirty="0">
                <a:latin typeface="Gill Sans MT"/>
                <a:cs typeface="Gill Sans MT"/>
              </a:rPr>
              <a:t>a</a:t>
            </a:r>
            <a:r>
              <a:rPr sz="2259" spc="-63" dirty="0">
                <a:latin typeface="Gill Sans MT"/>
                <a:cs typeface="Gill Sans MT"/>
              </a:rPr>
              <a:t>v</a:t>
            </a:r>
            <a:r>
              <a:rPr sz="2259" dirty="0">
                <a:latin typeface="Gill Sans MT"/>
                <a:cs typeface="Gill Sans MT"/>
              </a:rPr>
              <a:t>e</a:t>
            </a:r>
            <a:r>
              <a:rPr sz="2259" spc="-25" dirty="0">
                <a:latin typeface="Gill Sans MT"/>
                <a:cs typeface="Gill Sans MT"/>
              </a:rPr>
              <a:t> </a:t>
            </a:r>
            <a:r>
              <a:rPr sz="2259" spc="-19" dirty="0">
                <a:latin typeface="Gill Sans MT"/>
                <a:cs typeface="Gill Sans MT"/>
              </a:rPr>
              <a:t>equ</a:t>
            </a:r>
            <a:r>
              <a:rPr sz="2259" spc="-13" dirty="0">
                <a:latin typeface="Gill Sans MT"/>
                <a:cs typeface="Gill Sans MT"/>
              </a:rPr>
              <a:t>a</a:t>
            </a:r>
            <a:r>
              <a:rPr sz="2259" dirty="0">
                <a:latin typeface="Gill Sans MT"/>
                <a:cs typeface="Gill Sans MT"/>
              </a:rPr>
              <a:t>l</a:t>
            </a:r>
            <a:r>
              <a:rPr sz="2259" spc="-25" dirty="0">
                <a:latin typeface="Gill Sans MT"/>
                <a:cs typeface="Gill Sans MT"/>
              </a:rPr>
              <a:t> </a:t>
            </a:r>
            <a:r>
              <a:rPr sz="2259" spc="-69" dirty="0">
                <a:latin typeface="Gill Sans MT"/>
                <a:cs typeface="Gill Sans MT"/>
              </a:rPr>
              <a:t>w</a:t>
            </a:r>
            <a:r>
              <a:rPr sz="2259" spc="-19" dirty="0">
                <a:latin typeface="Gill Sans MT"/>
                <a:cs typeface="Gill Sans MT"/>
              </a:rPr>
              <a:t>e</a:t>
            </a:r>
            <a:r>
              <a:rPr sz="2259" spc="-13" dirty="0">
                <a:latin typeface="Gill Sans MT"/>
                <a:cs typeface="Gill Sans MT"/>
              </a:rPr>
              <a:t>ig</a:t>
            </a:r>
            <a:r>
              <a:rPr sz="2259" spc="-19" dirty="0">
                <a:latin typeface="Gill Sans MT"/>
                <a:cs typeface="Gill Sans MT"/>
              </a:rPr>
              <a:t>h</a:t>
            </a:r>
            <a:r>
              <a:rPr sz="2259" spc="-6" dirty="0">
                <a:latin typeface="Gill Sans MT"/>
                <a:cs typeface="Gill Sans MT"/>
              </a:rPr>
              <a:t>t</a:t>
            </a:r>
            <a:r>
              <a:rPr sz="2259" dirty="0">
                <a:latin typeface="Gill Sans MT"/>
                <a:cs typeface="Gill Sans MT"/>
              </a:rPr>
              <a:t>.</a:t>
            </a:r>
          </a:p>
          <a:p>
            <a:pPr>
              <a:lnSpc>
                <a:spcPct val="100000"/>
              </a:lnSpc>
            </a:pPr>
            <a:endParaRPr sz="2259" dirty="0">
              <a:latin typeface="Gill Sans MT"/>
              <a:cs typeface="Gill Sans MT"/>
            </a:endParaRPr>
          </a:p>
          <a:p>
            <a:pPr marL="90045" marR="1174574">
              <a:lnSpc>
                <a:spcPct val="102200"/>
              </a:lnSpc>
            </a:pPr>
            <a:r>
              <a:rPr sz="2259" spc="-6" dirty="0">
                <a:latin typeface="Gill Sans MT"/>
                <a:cs typeface="Gill Sans MT"/>
              </a:rPr>
              <a:t>In</a:t>
            </a:r>
            <a:r>
              <a:rPr sz="2259" spc="-25" dirty="0">
                <a:latin typeface="Gill Sans MT"/>
                <a:cs typeface="Gill Sans MT"/>
              </a:rPr>
              <a:t> </a:t>
            </a:r>
            <a:r>
              <a:rPr sz="2259" spc="-13" dirty="0">
                <a:latin typeface="Gill Sans MT"/>
                <a:cs typeface="Gill Sans MT"/>
              </a:rPr>
              <a:t>Boosting</a:t>
            </a:r>
            <a:r>
              <a:rPr sz="2259" spc="-25" dirty="0">
                <a:latin typeface="Gill Sans MT"/>
                <a:cs typeface="Gill Sans MT"/>
              </a:rPr>
              <a:t> </a:t>
            </a:r>
            <a:r>
              <a:rPr sz="2259" spc="-19" dirty="0">
                <a:latin typeface="Gill Sans MT"/>
                <a:cs typeface="Gill Sans MT"/>
              </a:rPr>
              <a:t>algorithms,</a:t>
            </a:r>
            <a:r>
              <a:rPr sz="2259" spc="-245" dirty="0">
                <a:latin typeface="Gill Sans MT"/>
                <a:cs typeface="Gill Sans MT"/>
              </a:rPr>
              <a:t> </a:t>
            </a:r>
            <a:r>
              <a:rPr sz="2259" spc="-6" dirty="0">
                <a:latin typeface="Gill Sans MT"/>
                <a:cs typeface="Gill Sans MT"/>
              </a:rPr>
              <a:t>the</a:t>
            </a:r>
            <a:r>
              <a:rPr sz="2259" spc="-25" dirty="0">
                <a:latin typeface="Gill Sans MT"/>
                <a:cs typeface="Gill Sans MT"/>
              </a:rPr>
              <a:t> weight</a:t>
            </a:r>
            <a:r>
              <a:rPr sz="2259" spc="-13" dirty="0">
                <a:latin typeface="Gill Sans MT"/>
                <a:cs typeface="Gill Sans MT"/>
              </a:rPr>
              <a:t> </a:t>
            </a:r>
            <a:r>
              <a:rPr sz="2259" spc="-6" dirty="0">
                <a:latin typeface="Gill Sans MT"/>
                <a:cs typeface="Gill Sans MT"/>
              </a:rPr>
              <a:t>of</a:t>
            </a:r>
            <a:r>
              <a:rPr sz="2259" spc="-19" dirty="0">
                <a:latin typeface="Gill Sans MT"/>
                <a:cs typeface="Gill Sans MT"/>
              </a:rPr>
              <a:t> different</a:t>
            </a:r>
            <a:r>
              <a:rPr sz="2259" spc="-25" dirty="0">
                <a:latin typeface="Gill Sans MT"/>
                <a:cs typeface="Gill Sans MT"/>
              </a:rPr>
              <a:t> </a:t>
            </a:r>
            <a:r>
              <a:rPr sz="2259" spc="-19" dirty="0">
                <a:latin typeface="Gill Sans MT"/>
                <a:cs typeface="Gill Sans MT"/>
              </a:rPr>
              <a:t>learners </a:t>
            </a:r>
            <a:r>
              <a:rPr sz="2259" spc="-607" dirty="0">
                <a:latin typeface="Gill Sans MT"/>
                <a:cs typeface="Gill Sans MT"/>
              </a:rPr>
              <a:t> </a:t>
            </a:r>
            <a:r>
              <a:rPr sz="2259" spc="-6" dirty="0">
                <a:latin typeface="Gill Sans MT"/>
                <a:cs typeface="Gill Sans MT"/>
              </a:rPr>
              <a:t>(</a:t>
            </a:r>
            <a:r>
              <a:rPr sz="2259" spc="-69" dirty="0">
                <a:latin typeface="Gill Sans MT"/>
                <a:cs typeface="Gill Sans MT"/>
              </a:rPr>
              <a:t>w</a:t>
            </a:r>
            <a:r>
              <a:rPr sz="2259" spc="-13" dirty="0">
                <a:latin typeface="Gill Sans MT"/>
                <a:cs typeface="Gill Sans MT"/>
              </a:rPr>
              <a:t>e</a:t>
            </a:r>
            <a:r>
              <a:rPr sz="2259" spc="-19" dirty="0">
                <a:latin typeface="Gill Sans MT"/>
                <a:cs typeface="Gill Sans MT"/>
              </a:rPr>
              <a:t>a</a:t>
            </a:r>
            <a:r>
              <a:rPr sz="2259" dirty="0">
                <a:latin typeface="Gill Sans MT"/>
                <a:cs typeface="Gill Sans MT"/>
              </a:rPr>
              <a:t>k</a:t>
            </a:r>
            <a:r>
              <a:rPr sz="2259" spc="-25" dirty="0">
                <a:latin typeface="Gill Sans MT"/>
                <a:cs typeface="Gill Sans MT"/>
              </a:rPr>
              <a:t> </a:t>
            </a:r>
            <a:r>
              <a:rPr sz="2259" spc="-19" dirty="0">
                <a:latin typeface="Gill Sans MT"/>
                <a:cs typeface="Gill Sans MT"/>
              </a:rPr>
              <a:t>m</a:t>
            </a:r>
            <a:r>
              <a:rPr sz="2259" spc="-13" dirty="0">
                <a:latin typeface="Gill Sans MT"/>
                <a:cs typeface="Gill Sans MT"/>
              </a:rPr>
              <a:t>odel</a:t>
            </a:r>
            <a:r>
              <a:rPr sz="2259" spc="-19" dirty="0">
                <a:latin typeface="Gill Sans MT"/>
                <a:cs typeface="Gill Sans MT"/>
              </a:rPr>
              <a:t>s</a:t>
            </a:r>
            <a:r>
              <a:rPr sz="2259" dirty="0">
                <a:latin typeface="Gill Sans MT"/>
                <a:cs typeface="Gill Sans MT"/>
              </a:rPr>
              <a:t>,</a:t>
            </a:r>
            <a:r>
              <a:rPr sz="2259" spc="-245" dirty="0">
                <a:latin typeface="Gill Sans MT"/>
                <a:cs typeface="Gill Sans MT"/>
              </a:rPr>
              <a:t> </a:t>
            </a:r>
            <a:r>
              <a:rPr sz="2259" spc="31" dirty="0">
                <a:latin typeface="Gill Sans MT"/>
                <a:cs typeface="Gill Sans MT"/>
              </a:rPr>
              <a:t>e</a:t>
            </a:r>
            <a:r>
              <a:rPr sz="2259" spc="-13" dirty="0">
                <a:latin typeface="Gill Sans MT"/>
                <a:cs typeface="Gill Sans MT"/>
              </a:rPr>
              <a:t>.g</a:t>
            </a:r>
            <a:r>
              <a:rPr sz="2259" dirty="0">
                <a:latin typeface="Gill Sans MT"/>
                <a:cs typeface="Gill Sans MT"/>
              </a:rPr>
              <a:t>.</a:t>
            </a:r>
            <a:r>
              <a:rPr sz="2259" spc="-245" dirty="0">
                <a:latin typeface="Gill Sans MT"/>
                <a:cs typeface="Gill Sans MT"/>
              </a:rPr>
              <a:t> </a:t>
            </a:r>
            <a:r>
              <a:rPr sz="2259" spc="-19" dirty="0">
                <a:latin typeface="Gill Sans MT"/>
                <a:cs typeface="Gill Sans MT"/>
              </a:rPr>
              <a:t>s</a:t>
            </a:r>
            <a:r>
              <a:rPr sz="2259" spc="-6" dirty="0">
                <a:latin typeface="Gill Sans MT"/>
                <a:cs typeface="Gill Sans MT"/>
              </a:rPr>
              <a:t>t</a:t>
            </a:r>
            <a:r>
              <a:rPr sz="2259" spc="-13" dirty="0">
                <a:latin typeface="Gill Sans MT"/>
                <a:cs typeface="Gill Sans MT"/>
              </a:rPr>
              <a:t>u</a:t>
            </a:r>
            <a:r>
              <a:rPr sz="2259" spc="-19" dirty="0">
                <a:latin typeface="Gill Sans MT"/>
                <a:cs typeface="Gill Sans MT"/>
              </a:rPr>
              <a:t>m</a:t>
            </a:r>
            <a:r>
              <a:rPr sz="2259" spc="-13" dirty="0">
                <a:latin typeface="Gill Sans MT"/>
                <a:cs typeface="Gill Sans MT"/>
              </a:rPr>
              <a:t>p</a:t>
            </a:r>
            <a:r>
              <a:rPr sz="2259" dirty="0">
                <a:latin typeface="Gill Sans MT"/>
                <a:cs typeface="Gill Sans MT"/>
              </a:rPr>
              <a:t>s</a:t>
            </a:r>
            <a:r>
              <a:rPr sz="2259" spc="-25" dirty="0">
                <a:latin typeface="Gill Sans MT"/>
                <a:cs typeface="Gill Sans MT"/>
              </a:rPr>
              <a:t> </a:t>
            </a:r>
            <a:r>
              <a:rPr sz="2259" spc="-13" dirty="0">
                <a:latin typeface="Gill Sans MT"/>
                <a:cs typeface="Gill Sans MT"/>
              </a:rPr>
              <a:t>o</a:t>
            </a:r>
            <a:r>
              <a:rPr sz="2259" dirty="0">
                <a:latin typeface="Gill Sans MT"/>
                <a:cs typeface="Gill Sans MT"/>
              </a:rPr>
              <a:t>r</a:t>
            </a:r>
            <a:r>
              <a:rPr sz="2259" spc="-25" dirty="0">
                <a:latin typeface="Gill Sans MT"/>
                <a:cs typeface="Gill Sans MT"/>
              </a:rPr>
              <a:t> </a:t>
            </a:r>
            <a:r>
              <a:rPr sz="2259" spc="-19" dirty="0">
                <a:latin typeface="Gill Sans MT"/>
                <a:cs typeface="Gill Sans MT"/>
              </a:rPr>
              <a:t>s</a:t>
            </a:r>
            <a:r>
              <a:rPr sz="2259" spc="-13" dirty="0">
                <a:latin typeface="Gill Sans MT"/>
                <a:cs typeface="Gill Sans MT"/>
              </a:rPr>
              <a:t>h</a:t>
            </a:r>
            <a:r>
              <a:rPr sz="2259" spc="-19" dirty="0">
                <a:latin typeface="Gill Sans MT"/>
                <a:cs typeface="Gill Sans MT"/>
              </a:rPr>
              <a:t>a</a:t>
            </a:r>
            <a:r>
              <a:rPr sz="2259" spc="-13" dirty="0">
                <a:latin typeface="Gill Sans MT"/>
                <a:cs typeface="Gill Sans MT"/>
              </a:rPr>
              <a:t>ll</a:t>
            </a:r>
            <a:r>
              <a:rPr sz="2259" spc="-31" dirty="0">
                <a:latin typeface="Gill Sans MT"/>
                <a:cs typeface="Gill Sans MT"/>
              </a:rPr>
              <a:t>o</a:t>
            </a:r>
            <a:r>
              <a:rPr sz="2259" dirty="0">
                <a:latin typeface="Gill Sans MT"/>
                <a:cs typeface="Gill Sans MT"/>
              </a:rPr>
              <a:t>w</a:t>
            </a:r>
            <a:r>
              <a:rPr sz="2259" spc="-31" dirty="0">
                <a:latin typeface="Gill Sans MT"/>
                <a:cs typeface="Gill Sans MT"/>
              </a:rPr>
              <a:t> </a:t>
            </a:r>
            <a:r>
              <a:rPr sz="2259" spc="-6" dirty="0">
                <a:latin typeface="Gill Sans MT"/>
                <a:cs typeface="Gill Sans MT"/>
              </a:rPr>
              <a:t>t</a:t>
            </a:r>
            <a:r>
              <a:rPr sz="2259" spc="-63" dirty="0">
                <a:latin typeface="Gill Sans MT"/>
                <a:cs typeface="Gill Sans MT"/>
              </a:rPr>
              <a:t>r</a:t>
            </a:r>
            <a:r>
              <a:rPr sz="2259" spc="-13" dirty="0">
                <a:latin typeface="Gill Sans MT"/>
                <a:cs typeface="Gill Sans MT"/>
              </a:rPr>
              <a:t>ee</a:t>
            </a:r>
            <a:r>
              <a:rPr sz="2259" spc="-19" dirty="0">
                <a:latin typeface="Gill Sans MT"/>
                <a:cs typeface="Gill Sans MT"/>
              </a:rPr>
              <a:t>s)</a:t>
            </a:r>
            <a:endParaRPr sz="2259" dirty="0">
              <a:latin typeface="Gill Sans MT"/>
              <a:cs typeface="Gill Sans MT"/>
            </a:endParaRPr>
          </a:p>
          <a:p>
            <a:pPr marL="15937">
              <a:lnSpc>
                <a:spcPts val="2623"/>
              </a:lnSpc>
            </a:pPr>
            <a:r>
              <a:rPr sz="2259" spc="-6" dirty="0">
                <a:latin typeface="Gill Sans MT"/>
                <a:cs typeface="Gill Sans MT"/>
              </a:rPr>
              <a:t>in</a:t>
            </a:r>
            <a:r>
              <a:rPr sz="2259" spc="-25" dirty="0">
                <a:latin typeface="Gill Sans MT"/>
                <a:cs typeface="Gill Sans MT"/>
              </a:rPr>
              <a:t> </a:t>
            </a:r>
            <a:r>
              <a:rPr sz="2259" spc="-6" dirty="0">
                <a:latin typeface="Gill Sans MT"/>
                <a:cs typeface="Gill Sans MT"/>
              </a:rPr>
              <a:t>the</a:t>
            </a:r>
            <a:r>
              <a:rPr sz="2259" spc="-25" dirty="0">
                <a:latin typeface="Gill Sans MT"/>
                <a:cs typeface="Gill Sans MT"/>
              </a:rPr>
              <a:t> </a:t>
            </a:r>
            <a:r>
              <a:rPr sz="2259" spc="-13" dirty="0">
                <a:latin typeface="Gill Sans MT"/>
                <a:cs typeface="Gill Sans MT"/>
              </a:rPr>
              <a:t>final</a:t>
            </a:r>
            <a:r>
              <a:rPr sz="2259" spc="-19" dirty="0">
                <a:latin typeface="Gill Sans MT"/>
                <a:cs typeface="Gill Sans MT"/>
              </a:rPr>
              <a:t> classification</a:t>
            </a:r>
            <a:r>
              <a:rPr sz="2259" spc="-25" dirty="0">
                <a:latin typeface="Gill Sans MT"/>
                <a:cs typeface="Gill Sans MT"/>
              </a:rPr>
              <a:t> </a:t>
            </a:r>
            <a:r>
              <a:rPr sz="2259" spc="-13" dirty="0">
                <a:latin typeface="Gill Sans MT"/>
                <a:cs typeface="Gill Sans MT"/>
              </a:rPr>
              <a:t>depends</a:t>
            </a:r>
            <a:r>
              <a:rPr sz="2259" spc="-25" dirty="0">
                <a:latin typeface="Gill Sans MT"/>
                <a:cs typeface="Gill Sans MT"/>
              </a:rPr>
              <a:t> </a:t>
            </a:r>
            <a:r>
              <a:rPr sz="2259" spc="-6" dirty="0">
                <a:latin typeface="Gill Sans MT"/>
                <a:cs typeface="Gill Sans MT"/>
              </a:rPr>
              <a:t>on</a:t>
            </a:r>
            <a:r>
              <a:rPr sz="2259" spc="-25" dirty="0">
                <a:latin typeface="Gill Sans MT"/>
                <a:cs typeface="Gill Sans MT"/>
              </a:rPr>
              <a:t> </a:t>
            </a:r>
            <a:r>
              <a:rPr sz="2259" spc="-13" dirty="0">
                <a:latin typeface="Gill Sans MT"/>
                <a:cs typeface="Gill Sans MT"/>
              </a:rPr>
              <a:t>their</a:t>
            </a:r>
            <a:r>
              <a:rPr sz="2259" spc="-25" dirty="0">
                <a:latin typeface="Gill Sans MT"/>
                <a:cs typeface="Gill Sans MT"/>
              </a:rPr>
              <a:t> </a:t>
            </a:r>
            <a:r>
              <a:rPr sz="2259" spc="-13" dirty="0">
                <a:latin typeface="Gill Sans MT"/>
                <a:cs typeface="Gill Sans MT"/>
              </a:rPr>
              <a:t>performance.</a:t>
            </a:r>
            <a:endParaRPr sz="2259" dirty="0">
              <a:latin typeface="Gill Sans MT"/>
              <a:cs typeface="Gill Sans MT"/>
            </a:endParaRPr>
          </a:p>
          <a:p>
            <a:pPr>
              <a:spcBef>
                <a:spcPts val="38"/>
              </a:spcBef>
            </a:pPr>
            <a:endParaRPr sz="2886" dirty="0">
              <a:latin typeface="Gill Sans MT"/>
              <a:cs typeface="Gill Sans MT"/>
            </a:endParaRPr>
          </a:p>
          <a:p>
            <a:pPr marL="27093"/>
            <a:r>
              <a:rPr lang="en-US" sz="1882" dirty="0">
                <a:latin typeface="Gill Sans MT"/>
                <a:cs typeface="Gill Sans MT"/>
              </a:rPr>
              <a:t>Figure credit:</a:t>
            </a:r>
            <a:endParaRPr sz="1882" dirty="0">
              <a:latin typeface="Gill Sans MT"/>
              <a:cs typeface="Gill Sans MT"/>
            </a:endParaRPr>
          </a:p>
          <a:p>
            <a:pPr marL="26296"/>
            <a:r>
              <a:rPr sz="1882" spc="6" dirty="0">
                <a:latin typeface="Gill Sans MT"/>
                <a:cs typeface="Gill Sans MT"/>
                <a:hlinkClick r:id="rId3"/>
              </a:rPr>
              <a:t>h</a:t>
            </a:r>
            <a:r>
              <a:rPr sz="1882" dirty="0">
                <a:latin typeface="Gill Sans MT"/>
                <a:cs typeface="Gill Sans MT"/>
                <a:hlinkClick r:id="rId3"/>
              </a:rPr>
              <a:t>tt</a:t>
            </a:r>
            <a:r>
              <a:rPr sz="1882" spc="6" dirty="0">
                <a:latin typeface="Gill Sans MT"/>
                <a:cs typeface="Gill Sans MT"/>
                <a:hlinkClick r:id="rId3"/>
              </a:rPr>
              <a:t>ps</a:t>
            </a:r>
            <a:r>
              <a:rPr sz="1882" dirty="0">
                <a:latin typeface="Gill Sans MT"/>
                <a:cs typeface="Gill Sans MT"/>
                <a:hlinkClick r:id="rId3"/>
              </a:rPr>
              <a:t>:</a:t>
            </a:r>
            <a:r>
              <a:rPr sz="1882" spc="6" dirty="0">
                <a:latin typeface="Gill Sans MT"/>
                <a:cs typeface="Gill Sans MT"/>
                <a:hlinkClick r:id="rId3"/>
              </a:rPr>
              <a:t>//qu</a:t>
            </a:r>
            <a:r>
              <a:rPr sz="1882" dirty="0">
                <a:latin typeface="Gill Sans MT"/>
                <a:cs typeface="Gill Sans MT"/>
                <a:hlinkClick r:id="rId3"/>
              </a:rPr>
              <a:t>a</a:t>
            </a:r>
            <a:r>
              <a:rPr sz="1882" spc="6" dirty="0">
                <a:latin typeface="Gill Sans MT"/>
                <a:cs typeface="Gill Sans MT"/>
                <a:hlinkClick r:id="rId3"/>
              </a:rPr>
              <a:t>n</a:t>
            </a:r>
            <a:r>
              <a:rPr sz="1882" dirty="0">
                <a:latin typeface="Gill Sans MT"/>
                <a:cs typeface="Gill Sans MT"/>
                <a:hlinkClick r:id="rId3"/>
              </a:rPr>
              <a:t>t</a:t>
            </a:r>
            <a:r>
              <a:rPr sz="1882" spc="13" dirty="0">
                <a:latin typeface="Gill Sans MT"/>
                <a:cs typeface="Gill Sans MT"/>
                <a:hlinkClick r:id="rId3"/>
              </a:rPr>
              <a:t>d</a:t>
            </a:r>
            <a:r>
              <a:rPr sz="1882" dirty="0">
                <a:latin typeface="Gill Sans MT"/>
                <a:cs typeface="Gill Sans MT"/>
                <a:hlinkClick r:id="rId3"/>
              </a:rPr>
              <a:t>a</a:t>
            </a:r>
            <a:r>
              <a:rPr sz="1882" spc="-38" dirty="0">
                <a:latin typeface="Gill Sans MT"/>
                <a:cs typeface="Gill Sans MT"/>
                <a:hlinkClick r:id="rId3"/>
              </a:rPr>
              <a:t>r</a:t>
            </a:r>
            <a:r>
              <a:rPr sz="1882" spc="50" dirty="0">
                <a:latin typeface="Gill Sans MT"/>
                <a:cs typeface="Gill Sans MT"/>
                <a:hlinkClick r:id="rId3"/>
              </a:rPr>
              <a:t>e</a:t>
            </a:r>
            <a:r>
              <a:rPr sz="1882" dirty="0">
                <a:latin typeface="Gill Sans MT"/>
                <a:cs typeface="Gill Sans MT"/>
                <a:hlinkClick r:id="rId3"/>
              </a:rPr>
              <a:t>.</a:t>
            </a:r>
            <a:r>
              <a:rPr sz="1882" spc="6" dirty="0">
                <a:latin typeface="Gill Sans MT"/>
                <a:cs typeface="Gill Sans MT"/>
                <a:hlinkClick r:id="rId3"/>
              </a:rPr>
              <a:t>co</a:t>
            </a:r>
            <a:r>
              <a:rPr sz="1882" spc="13" dirty="0">
                <a:latin typeface="Gill Sans MT"/>
                <a:cs typeface="Gill Sans MT"/>
                <a:hlinkClick r:id="rId3"/>
              </a:rPr>
              <a:t>m</a:t>
            </a:r>
            <a:r>
              <a:rPr sz="1882" spc="6" dirty="0">
                <a:latin typeface="Gill Sans MT"/>
                <a:cs typeface="Gill Sans MT"/>
                <a:hlinkClick r:id="rId3"/>
              </a:rPr>
              <a:t>/</a:t>
            </a:r>
            <a:r>
              <a:rPr sz="1882" spc="13" dirty="0">
                <a:latin typeface="Gill Sans MT"/>
                <a:cs typeface="Gill Sans MT"/>
                <a:hlinkClick r:id="rId3"/>
              </a:rPr>
              <a:t>w</a:t>
            </a:r>
            <a:r>
              <a:rPr sz="1882" spc="6" dirty="0">
                <a:latin typeface="Gill Sans MT"/>
                <a:cs typeface="Gill Sans MT"/>
                <a:hlinkClick r:id="rId3"/>
              </a:rPr>
              <a:t>h</a:t>
            </a:r>
            <a:r>
              <a:rPr sz="1882" dirty="0">
                <a:latin typeface="Gill Sans MT"/>
                <a:cs typeface="Gill Sans MT"/>
                <a:hlinkClick r:id="rId3"/>
              </a:rPr>
              <a:t>at</a:t>
            </a:r>
            <a:r>
              <a:rPr sz="1882" spc="6" dirty="0">
                <a:latin typeface="Gill Sans MT"/>
                <a:cs typeface="Gill Sans MT"/>
                <a:hlinkClick r:id="rId3"/>
              </a:rPr>
              <a:t>-</a:t>
            </a:r>
            <a:r>
              <a:rPr sz="1882" dirty="0">
                <a:latin typeface="Gill Sans MT"/>
                <a:cs typeface="Gill Sans MT"/>
                <a:hlinkClick r:id="rId3"/>
              </a:rPr>
              <a:t>i</a:t>
            </a:r>
            <a:r>
              <a:rPr sz="1882" spc="13" dirty="0">
                <a:latin typeface="Gill Sans MT"/>
                <a:cs typeface="Gill Sans MT"/>
                <a:hlinkClick r:id="rId3"/>
              </a:rPr>
              <a:t>s</a:t>
            </a:r>
            <a:r>
              <a:rPr sz="1882" spc="6" dirty="0">
                <a:latin typeface="Gill Sans MT"/>
                <a:cs typeface="Gill Sans MT"/>
                <a:hlinkClick r:id="rId3"/>
              </a:rPr>
              <a:t>-</a:t>
            </a:r>
            <a:r>
              <a:rPr sz="1882" dirty="0">
                <a:latin typeface="Gill Sans MT"/>
                <a:cs typeface="Gill Sans MT"/>
                <a:hlinkClick r:id="rId3"/>
              </a:rPr>
              <a:t>t</a:t>
            </a:r>
            <a:r>
              <a:rPr sz="1882" spc="6" dirty="0">
                <a:latin typeface="Gill Sans MT"/>
                <a:cs typeface="Gill Sans MT"/>
                <a:hlinkClick r:id="rId3"/>
              </a:rPr>
              <a:t>h</a:t>
            </a:r>
            <a:r>
              <a:rPr sz="1882" spc="13" dirty="0">
                <a:latin typeface="Gill Sans MT"/>
                <a:cs typeface="Gill Sans MT"/>
                <a:hlinkClick r:id="rId3"/>
              </a:rPr>
              <a:t>e</a:t>
            </a:r>
            <a:r>
              <a:rPr sz="1882" spc="6" dirty="0">
                <a:latin typeface="Gill Sans MT"/>
                <a:cs typeface="Gill Sans MT"/>
                <a:hlinkClick r:id="rId3"/>
              </a:rPr>
              <a:t>-</a:t>
            </a:r>
            <a:r>
              <a:rPr sz="1882" spc="13" dirty="0">
                <a:latin typeface="Gill Sans MT"/>
                <a:cs typeface="Gill Sans MT"/>
                <a:hlinkClick r:id="rId3"/>
              </a:rPr>
              <a:t>d</a:t>
            </a:r>
            <a:r>
              <a:rPr sz="1882" dirty="0">
                <a:latin typeface="Gill Sans MT"/>
                <a:cs typeface="Gill Sans MT"/>
                <a:hlinkClick r:id="rId3"/>
              </a:rPr>
              <a:t>if</a:t>
            </a:r>
            <a:r>
              <a:rPr sz="1882" spc="-19" dirty="0">
                <a:latin typeface="Gill Sans MT"/>
                <a:cs typeface="Gill Sans MT"/>
                <a:hlinkClick r:id="rId3"/>
              </a:rPr>
              <a:t>f</a:t>
            </a:r>
            <a:r>
              <a:rPr sz="1882" spc="13" dirty="0">
                <a:latin typeface="Gill Sans MT"/>
                <a:cs typeface="Gill Sans MT"/>
                <a:hlinkClick r:id="rId3"/>
              </a:rPr>
              <a:t>e</a:t>
            </a:r>
            <a:r>
              <a:rPr sz="1882" spc="-38" dirty="0">
                <a:latin typeface="Gill Sans MT"/>
                <a:cs typeface="Gill Sans MT"/>
                <a:hlinkClick r:id="rId3"/>
              </a:rPr>
              <a:t>r</a:t>
            </a:r>
            <a:r>
              <a:rPr sz="1882" spc="13" dirty="0">
                <a:latin typeface="Gill Sans MT"/>
                <a:cs typeface="Gill Sans MT"/>
                <a:hlinkClick r:id="rId3"/>
              </a:rPr>
              <a:t>e</a:t>
            </a:r>
            <a:r>
              <a:rPr sz="1882" spc="6" dirty="0">
                <a:latin typeface="Gill Sans MT"/>
                <a:cs typeface="Gill Sans MT"/>
                <a:hlinkClick r:id="rId3"/>
              </a:rPr>
              <a:t>nc</a:t>
            </a:r>
            <a:r>
              <a:rPr sz="1882" spc="13" dirty="0">
                <a:latin typeface="Gill Sans MT"/>
                <a:cs typeface="Gill Sans MT"/>
                <a:hlinkClick r:id="rId3"/>
              </a:rPr>
              <a:t>e</a:t>
            </a:r>
            <a:r>
              <a:rPr sz="1882" spc="6" dirty="0">
                <a:latin typeface="Gill Sans MT"/>
                <a:cs typeface="Gill Sans MT"/>
                <a:hlinkClick r:id="rId3"/>
              </a:rPr>
              <a:t>-b</a:t>
            </a:r>
            <a:r>
              <a:rPr sz="1882" spc="13" dirty="0">
                <a:latin typeface="Gill Sans MT"/>
                <a:cs typeface="Gill Sans MT"/>
                <a:hlinkClick r:id="rId3"/>
              </a:rPr>
              <a:t>e</a:t>
            </a:r>
            <a:r>
              <a:rPr sz="1882" dirty="0">
                <a:latin typeface="Gill Sans MT"/>
                <a:cs typeface="Gill Sans MT"/>
                <a:hlinkClick r:id="rId3"/>
              </a:rPr>
              <a:t>t</a:t>
            </a:r>
            <a:r>
              <a:rPr sz="1882" spc="-25" dirty="0">
                <a:latin typeface="Gill Sans MT"/>
                <a:cs typeface="Gill Sans MT"/>
                <a:hlinkClick r:id="rId3"/>
              </a:rPr>
              <a:t>w</a:t>
            </a:r>
            <a:r>
              <a:rPr sz="1882" spc="13" dirty="0">
                <a:latin typeface="Gill Sans MT"/>
                <a:cs typeface="Gill Sans MT"/>
                <a:hlinkClick r:id="rId3"/>
              </a:rPr>
              <a:t>ee</a:t>
            </a:r>
            <a:r>
              <a:rPr sz="1882" spc="6" dirty="0">
                <a:latin typeface="Gill Sans MT"/>
                <a:cs typeface="Gill Sans MT"/>
                <a:hlinkClick r:id="rId3"/>
              </a:rPr>
              <a:t>n-b</a:t>
            </a:r>
            <a:r>
              <a:rPr sz="1882" dirty="0">
                <a:latin typeface="Gill Sans MT"/>
                <a:cs typeface="Gill Sans MT"/>
                <a:hlinkClick r:id="rId3"/>
              </a:rPr>
              <a:t>aggi</a:t>
            </a:r>
            <a:r>
              <a:rPr sz="1882" spc="6" dirty="0">
                <a:latin typeface="Gill Sans MT"/>
                <a:cs typeface="Gill Sans MT"/>
                <a:hlinkClick r:id="rId3"/>
              </a:rPr>
              <a:t>ng-</a:t>
            </a:r>
            <a:r>
              <a:rPr sz="1882" dirty="0">
                <a:latin typeface="Gill Sans MT"/>
                <a:cs typeface="Gill Sans MT"/>
                <a:hlinkClick r:id="rId3"/>
              </a:rPr>
              <a:t>a</a:t>
            </a:r>
            <a:r>
              <a:rPr sz="1882" spc="6" dirty="0">
                <a:latin typeface="Gill Sans MT"/>
                <a:cs typeface="Gill Sans MT"/>
                <a:hlinkClick r:id="rId3"/>
              </a:rPr>
              <a:t>n</a:t>
            </a:r>
            <a:r>
              <a:rPr sz="1882" spc="13" dirty="0">
                <a:latin typeface="Gill Sans MT"/>
                <a:cs typeface="Gill Sans MT"/>
                <a:hlinkClick r:id="rId3"/>
              </a:rPr>
              <a:t>d</a:t>
            </a:r>
            <a:r>
              <a:rPr sz="1882" spc="6" dirty="0">
                <a:latin typeface="Gill Sans MT"/>
                <a:cs typeface="Gill Sans MT"/>
                <a:hlinkClick r:id="rId3"/>
              </a:rPr>
              <a:t>-b</a:t>
            </a:r>
            <a:r>
              <a:rPr sz="1882" dirty="0">
                <a:latin typeface="Gill Sans MT"/>
                <a:cs typeface="Gill Sans MT"/>
                <a:hlinkClick r:id="rId3"/>
              </a:rPr>
              <a:t>o</a:t>
            </a:r>
            <a:r>
              <a:rPr sz="1882" spc="6" dirty="0">
                <a:latin typeface="Gill Sans MT"/>
                <a:cs typeface="Gill Sans MT"/>
                <a:hlinkClick r:id="rId3"/>
              </a:rPr>
              <a:t>os</a:t>
            </a:r>
            <a:r>
              <a:rPr sz="1882" dirty="0">
                <a:latin typeface="Gill Sans MT"/>
                <a:cs typeface="Gill Sans MT"/>
                <a:hlinkClick r:id="rId3"/>
              </a:rPr>
              <a:t>ti</a:t>
            </a:r>
            <a:r>
              <a:rPr sz="1882" spc="6" dirty="0">
                <a:latin typeface="Gill Sans MT"/>
                <a:cs typeface="Gill Sans MT"/>
                <a:hlinkClick r:id="rId3"/>
              </a:rPr>
              <a:t>n</a:t>
            </a:r>
            <a:r>
              <a:rPr sz="1882" dirty="0">
                <a:latin typeface="Gill Sans MT"/>
                <a:cs typeface="Gill Sans MT"/>
                <a:hlinkClick r:id="rId3"/>
              </a:rPr>
              <a:t>g/</a:t>
            </a:r>
            <a:endParaRPr lang="en-US" sz="1882" dirty="0">
              <a:latin typeface="Gill Sans MT"/>
              <a:cs typeface="Gill Sans MT"/>
            </a:endParaRPr>
          </a:p>
          <a:p>
            <a:pPr marL="26296"/>
            <a:r>
              <a:rPr lang="en-US" sz="1882" dirty="0">
                <a:latin typeface="Gill Sans MT"/>
                <a:cs typeface="Gill Sans MT"/>
              </a:rPr>
              <a:t>(reproduced with permission)</a:t>
            </a:r>
          </a:p>
          <a:p>
            <a:pPr marL="26296"/>
            <a:endParaRPr sz="1882" dirty="0">
              <a:latin typeface="Gill Sans MT"/>
              <a:cs typeface="Gill Sans MT"/>
            </a:endParaRPr>
          </a:p>
        </p:txBody>
      </p:sp>
      <p:sp>
        <p:nvSpPr>
          <p:cNvPr id="7" name="object 2">
            <a:extLst>
              <a:ext uri="{FF2B5EF4-FFF2-40B4-BE49-F238E27FC236}">
                <a16:creationId xmlns:a16="http://schemas.microsoft.com/office/drawing/2014/main" id="{EA73B39F-C577-D14B-A7BD-863A2708FF40}"/>
              </a:ext>
            </a:extLst>
          </p:cNvPr>
          <p:cNvSpPr txBox="1">
            <a:spLocks noGrp="1"/>
          </p:cNvSpPr>
          <p:nvPr>
            <p:ph type="title"/>
          </p:nvPr>
        </p:nvSpPr>
        <p:spPr>
          <a:xfrm>
            <a:off x="2577078" y="511493"/>
            <a:ext cx="8555102" cy="1569421"/>
          </a:xfrm>
          <a:prstGeom prst="rect">
            <a:avLst/>
          </a:prstGeom>
          <a:solidFill>
            <a:srgbClr val="FFFFFF"/>
          </a:solidFill>
          <a:ln w="24060">
            <a:solidFill>
              <a:srgbClr val="404040"/>
            </a:solidFill>
          </a:ln>
        </p:spPr>
        <p:txBody>
          <a:bodyPr vert="horz" wrap="square" lIns="0" tIns="427118" rIns="0" bIns="0" rtlCol="0" anchor="t">
            <a:spAutoFit/>
          </a:bodyPr>
          <a:lstStyle/>
          <a:p>
            <a:pPr marR="26296">
              <a:lnSpc>
                <a:spcPct val="100000"/>
              </a:lnSpc>
              <a:spcBef>
                <a:spcPts val="3363"/>
              </a:spcBef>
              <a:tabLst>
                <a:tab pos="3023293" algn="l"/>
              </a:tabLst>
            </a:pPr>
            <a:r>
              <a:rPr lang="en-US" spc="232" dirty="0" err="1"/>
              <a:t>BAgging</a:t>
            </a:r>
            <a:r>
              <a:rPr lang="en-US" spc="232" dirty="0"/>
              <a:t> vs boosting</a:t>
            </a:r>
            <a:br>
              <a:rPr lang="en-US" spc="232" dirty="0"/>
            </a:br>
            <a:endParaRPr spc="232"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6229" y="554687"/>
            <a:ext cx="8444807" cy="1690624"/>
          </a:xfrm>
          <a:prstGeom prst="rect">
            <a:avLst/>
          </a:prstGeom>
          <a:solidFill>
            <a:srgbClr val="FFFFFF"/>
          </a:solidFill>
          <a:ln w="24060">
            <a:solidFill>
              <a:srgbClr val="404040"/>
            </a:solidFill>
          </a:ln>
        </p:spPr>
        <p:txBody>
          <a:bodyPr vert="horz" wrap="square" lIns="0" tIns="138653" rIns="0" bIns="0" rtlCol="0" anchor="ctr">
            <a:spAutoFit/>
          </a:bodyPr>
          <a:lstStyle/>
          <a:p>
            <a:pPr marR="24703">
              <a:lnSpc>
                <a:spcPct val="100000"/>
              </a:lnSpc>
              <a:spcBef>
                <a:spcPts val="1091"/>
              </a:spcBef>
              <a:tabLst>
                <a:tab pos="3915777" algn="l"/>
              </a:tabLst>
            </a:pPr>
            <a:r>
              <a:rPr spc="232" dirty="0"/>
              <a:t>DECISION</a:t>
            </a:r>
            <a:r>
              <a:rPr spc="143" dirty="0"/>
              <a:t> </a:t>
            </a:r>
            <a:r>
              <a:rPr spc="213" dirty="0"/>
              <a:t>TREES	</a:t>
            </a:r>
            <a:r>
              <a:rPr spc="232" dirty="0"/>
              <a:t>RECAP</a:t>
            </a:r>
          </a:p>
        </p:txBody>
      </p:sp>
      <p:graphicFrame>
        <p:nvGraphicFramePr>
          <p:cNvPr id="12" name="Table 12">
            <a:extLst>
              <a:ext uri="{FF2B5EF4-FFF2-40B4-BE49-F238E27FC236}">
                <a16:creationId xmlns:a16="http://schemas.microsoft.com/office/drawing/2014/main" id="{92BAE7DC-F411-D24A-B45B-15E77D85E85C}"/>
              </a:ext>
            </a:extLst>
          </p:cNvPr>
          <p:cNvGraphicFramePr>
            <a:graphicFrameLocks noGrp="1"/>
          </p:cNvGraphicFramePr>
          <p:nvPr>
            <p:ph sz="half" idx="1"/>
            <p:extLst>
              <p:ext uri="{D42A27DB-BD31-4B8C-83A1-F6EECF244321}">
                <p14:modId xmlns:p14="http://schemas.microsoft.com/office/powerpoint/2010/main" val="3144829103"/>
              </p:ext>
            </p:extLst>
          </p:nvPr>
        </p:nvGraphicFramePr>
        <p:xfrm>
          <a:off x="1536700" y="3200400"/>
          <a:ext cx="4676775" cy="1926336"/>
        </p:xfrm>
        <a:graphic>
          <a:graphicData uri="http://schemas.openxmlformats.org/drawingml/2006/table">
            <a:tbl>
              <a:tblPr firstRow="1" bandRow="1">
                <a:tableStyleId>{5C22544A-7EE6-4342-B048-85BDC9FD1C3A}</a:tableStyleId>
              </a:tblPr>
              <a:tblGrid>
                <a:gridCol w="4676775">
                  <a:extLst>
                    <a:ext uri="{9D8B030D-6E8A-4147-A177-3AD203B41FA5}">
                      <a16:colId xmlns:a16="http://schemas.microsoft.com/office/drawing/2014/main" val="4150773571"/>
                    </a:ext>
                  </a:extLst>
                </a:gridCol>
              </a:tblGrid>
              <a:tr h="370840">
                <a:tc>
                  <a:txBody>
                    <a:bodyPr/>
                    <a:lstStyle/>
                    <a:p>
                      <a:endParaRPr lang="en-US" dirty="0"/>
                    </a:p>
                  </a:txBody>
                  <a:tcPr/>
                </a:tc>
                <a:extLst>
                  <a:ext uri="{0D108BD9-81ED-4DB2-BD59-A6C34878D82A}">
                    <a16:rowId xmlns:a16="http://schemas.microsoft.com/office/drawing/2014/main" val="3318562133"/>
                  </a:ext>
                </a:extLst>
              </a:tr>
              <a:tr h="370840">
                <a:tc>
                  <a:txBody>
                    <a:bodyPr/>
                    <a:lstStyle/>
                    <a:p>
                      <a:endParaRPr lang="en-US" dirty="0"/>
                    </a:p>
                  </a:txBody>
                  <a:tcPr/>
                </a:tc>
                <a:extLst>
                  <a:ext uri="{0D108BD9-81ED-4DB2-BD59-A6C34878D82A}">
                    <a16:rowId xmlns:a16="http://schemas.microsoft.com/office/drawing/2014/main" val="124426624"/>
                  </a:ext>
                </a:extLst>
              </a:tr>
              <a:tr h="370840">
                <a:tc>
                  <a:txBody>
                    <a:bodyPr/>
                    <a:lstStyle/>
                    <a:p>
                      <a:endParaRPr lang="en-US"/>
                    </a:p>
                  </a:txBody>
                  <a:tcPr/>
                </a:tc>
                <a:extLst>
                  <a:ext uri="{0D108BD9-81ED-4DB2-BD59-A6C34878D82A}">
                    <a16:rowId xmlns:a16="http://schemas.microsoft.com/office/drawing/2014/main" val="1738518895"/>
                  </a:ext>
                </a:extLst>
              </a:tr>
              <a:tr h="370840">
                <a:tc>
                  <a:txBody>
                    <a:bodyPr/>
                    <a:lstStyle/>
                    <a:p>
                      <a:endParaRPr lang="en-US" dirty="0"/>
                    </a:p>
                  </a:txBody>
                  <a:tcPr/>
                </a:tc>
                <a:extLst>
                  <a:ext uri="{0D108BD9-81ED-4DB2-BD59-A6C34878D82A}">
                    <a16:rowId xmlns:a16="http://schemas.microsoft.com/office/drawing/2014/main" val="1307776535"/>
                  </a:ext>
                </a:extLst>
              </a:tr>
            </a:tbl>
          </a:graphicData>
        </a:graphic>
      </p:graphicFrame>
      <p:graphicFrame>
        <p:nvGraphicFramePr>
          <p:cNvPr id="13" name="Table 13">
            <a:extLst>
              <a:ext uri="{FF2B5EF4-FFF2-40B4-BE49-F238E27FC236}">
                <a16:creationId xmlns:a16="http://schemas.microsoft.com/office/drawing/2014/main" id="{0A268F1D-138D-0E45-82AA-E5885CC54CE7}"/>
              </a:ext>
            </a:extLst>
          </p:cNvPr>
          <p:cNvGraphicFramePr>
            <a:graphicFrameLocks noGrp="1"/>
          </p:cNvGraphicFramePr>
          <p:nvPr>
            <p:ph sz="half" idx="2"/>
            <p:extLst>
              <p:ext uri="{D42A27DB-BD31-4B8C-83A1-F6EECF244321}">
                <p14:modId xmlns:p14="http://schemas.microsoft.com/office/powerpoint/2010/main" val="1918988138"/>
              </p:ext>
            </p:extLst>
          </p:nvPr>
        </p:nvGraphicFramePr>
        <p:xfrm>
          <a:off x="6731000" y="3200400"/>
          <a:ext cx="4679950" cy="963168"/>
        </p:xfrm>
        <a:graphic>
          <a:graphicData uri="http://schemas.openxmlformats.org/drawingml/2006/table">
            <a:tbl>
              <a:tblPr firstRow="1" bandRow="1">
                <a:tableStyleId>{5C22544A-7EE6-4342-B048-85BDC9FD1C3A}</a:tableStyleId>
              </a:tblPr>
              <a:tblGrid>
                <a:gridCol w="4679950">
                  <a:extLst>
                    <a:ext uri="{9D8B030D-6E8A-4147-A177-3AD203B41FA5}">
                      <a16:colId xmlns:a16="http://schemas.microsoft.com/office/drawing/2014/main" val="519916460"/>
                    </a:ext>
                  </a:extLst>
                </a:gridCol>
              </a:tblGrid>
              <a:tr h="370840">
                <a:tc>
                  <a:txBody>
                    <a:bodyPr/>
                    <a:lstStyle/>
                    <a:p>
                      <a:endParaRPr lang="en-US"/>
                    </a:p>
                  </a:txBody>
                  <a:tcPr/>
                </a:tc>
                <a:extLst>
                  <a:ext uri="{0D108BD9-81ED-4DB2-BD59-A6C34878D82A}">
                    <a16:rowId xmlns:a16="http://schemas.microsoft.com/office/drawing/2014/main" val="1905795526"/>
                  </a:ext>
                </a:extLst>
              </a:tr>
              <a:tr h="370840">
                <a:tc>
                  <a:txBody>
                    <a:bodyPr/>
                    <a:lstStyle/>
                    <a:p>
                      <a:endParaRPr lang="en-US" dirty="0"/>
                    </a:p>
                  </a:txBody>
                  <a:tcPr/>
                </a:tc>
                <a:extLst>
                  <a:ext uri="{0D108BD9-81ED-4DB2-BD59-A6C34878D82A}">
                    <a16:rowId xmlns:a16="http://schemas.microsoft.com/office/drawing/2014/main" val="2859620409"/>
                  </a:ext>
                </a:extLst>
              </a:tr>
            </a:tbl>
          </a:graphicData>
        </a:graphic>
      </p:graphicFrame>
      <p:sp>
        <p:nvSpPr>
          <p:cNvPr id="3" name="object 3"/>
          <p:cNvSpPr txBox="1"/>
          <p:nvPr/>
        </p:nvSpPr>
        <p:spPr>
          <a:xfrm>
            <a:off x="3250194" y="3149065"/>
            <a:ext cx="938704" cy="508535"/>
          </a:xfrm>
          <a:prstGeom prst="rect">
            <a:avLst/>
          </a:prstGeom>
        </p:spPr>
        <p:txBody>
          <a:bodyPr vert="horz" wrap="square" lIns="0" tIns="15937" rIns="0" bIns="0" rtlCol="0">
            <a:spAutoFit/>
          </a:bodyPr>
          <a:lstStyle/>
          <a:p>
            <a:pPr marL="15937">
              <a:spcBef>
                <a:spcPts val="125"/>
              </a:spcBef>
            </a:pPr>
            <a:r>
              <a:rPr lang="en-US" spc="13" dirty="0">
                <a:solidFill>
                  <a:schemeClr val="bg1"/>
                </a:solidFill>
                <a:latin typeface="Gill Sans MT"/>
                <a:cs typeface="Gill Sans MT"/>
                <a:sym typeface="Wingdings" pitchFamily="2" charset="2"/>
              </a:rPr>
              <a:t> </a:t>
            </a:r>
            <a:endParaRPr dirty="0">
              <a:solidFill>
                <a:schemeClr val="bg1"/>
              </a:solidFill>
              <a:latin typeface="Gill Sans MT"/>
              <a:cs typeface="Gill Sans MT"/>
            </a:endParaRPr>
          </a:p>
        </p:txBody>
      </p:sp>
      <p:sp>
        <p:nvSpPr>
          <p:cNvPr id="4" name="object 4"/>
          <p:cNvSpPr txBox="1"/>
          <p:nvPr/>
        </p:nvSpPr>
        <p:spPr>
          <a:xfrm>
            <a:off x="1792959" y="3563937"/>
            <a:ext cx="4704678" cy="1558445"/>
          </a:xfrm>
          <a:prstGeom prst="rect">
            <a:avLst/>
          </a:prstGeom>
        </p:spPr>
        <p:txBody>
          <a:bodyPr vert="horz" wrap="square" lIns="0" tIns="180091" rIns="0" bIns="0" rtlCol="0">
            <a:spAutoFit/>
          </a:bodyPr>
          <a:lstStyle/>
          <a:p>
            <a:pPr marL="15937" algn="l">
              <a:spcBef>
                <a:spcPts val="1418"/>
              </a:spcBef>
              <a:buClr>
                <a:srgbClr val="8784C7"/>
              </a:buClr>
              <a:tabLst>
                <a:tab pos="324323" algn="l"/>
                <a:tab pos="325118" algn="l"/>
              </a:tabLst>
            </a:pPr>
            <a:r>
              <a:rPr lang="en-US" sz="2259" dirty="0">
                <a:solidFill>
                  <a:srgbClr val="262626"/>
                </a:solidFill>
                <a:latin typeface="+mn-lt"/>
                <a:cs typeface="Gill Sans MT"/>
              </a:rPr>
              <a:t>INTERPRETABLE</a:t>
            </a:r>
            <a:endParaRPr sz="2259" dirty="0">
              <a:latin typeface="+mn-lt"/>
              <a:cs typeface="Gill Sans MT"/>
            </a:endParaRPr>
          </a:p>
          <a:p>
            <a:pPr marL="15937" algn="l">
              <a:spcBef>
                <a:spcPts val="1299"/>
              </a:spcBef>
              <a:buClr>
                <a:srgbClr val="8784C7"/>
              </a:buClr>
              <a:tabLst>
                <a:tab pos="324323" algn="l"/>
                <a:tab pos="325118" algn="l"/>
              </a:tabLst>
            </a:pPr>
            <a:r>
              <a:rPr sz="2259" dirty="0">
                <a:solidFill>
                  <a:srgbClr val="262626"/>
                </a:solidFill>
                <a:latin typeface="+mn-lt"/>
                <a:cs typeface="Gill Sans MT"/>
              </a:rPr>
              <a:t>FAST</a:t>
            </a:r>
            <a:endParaRPr sz="2259" dirty="0">
              <a:latin typeface="+mn-lt"/>
              <a:cs typeface="Gill Sans MT"/>
            </a:endParaRPr>
          </a:p>
          <a:p>
            <a:pPr marL="15937" marR="6375" algn="l">
              <a:lnSpc>
                <a:spcPct val="102200"/>
              </a:lnSpc>
              <a:spcBef>
                <a:spcPts val="1380"/>
              </a:spcBef>
              <a:buClr>
                <a:srgbClr val="8784C7"/>
              </a:buClr>
              <a:tabLst>
                <a:tab pos="324323" algn="l"/>
                <a:tab pos="325118" algn="l"/>
              </a:tabLst>
            </a:pPr>
            <a:r>
              <a:rPr sz="2259" dirty="0">
                <a:solidFill>
                  <a:srgbClr val="262626"/>
                </a:solidFill>
                <a:latin typeface="+mn-lt"/>
                <a:cs typeface="Gill Sans MT"/>
              </a:rPr>
              <a:t>ACCURATE </a:t>
            </a:r>
            <a:r>
              <a:rPr lang="en-US" sz="2259" dirty="0">
                <a:solidFill>
                  <a:srgbClr val="262626"/>
                </a:solidFill>
                <a:latin typeface="+mn-lt"/>
                <a:cs typeface="Gill Sans MT"/>
              </a:rPr>
              <a:t> </a:t>
            </a:r>
            <a:r>
              <a:rPr sz="2259" dirty="0">
                <a:solidFill>
                  <a:srgbClr val="262626"/>
                </a:solidFill>
                <a:latin typeface="+mn-lt"/>
                <a:cs typeface="Gill Sans MT"/>
              </a:rPr>
              <a:t>(LOW  BIAS)</a:t>
            </a:r>
            <a:endParaRPr sz="2259" dirty="0">
              <a:latin typeface="+mn-lt"/>
              <a:cs typeface="Gill Sans MT"/>
            </a:endParaRPr>
          </a:p>
        </p:txBody>
      </p:sp>
      <p:sp>
        <p:nvSpPr>
          <p:cNvPr id="5" name="object 5"/>
          <p:cNvSpPr txBox="1"/>
          <p:nvPr/>
        </p:nvSpPr>
        <p:spPr>
          <a:xfrm>
            <a:off x="8800963" y="3124200"/>
            <a:ext cx="609600" cy="508535"/>
          </a:xfrm>
          <a:prstGeom prst="rect">
            <a:avLst/>
          </a:prstGeom>
        </p:spPr>
        <p:txBody>
          <a:bodyPr vert="horz" wrap="square" lIns="0" tIns="15937" rIns="0" bIns="0" rtlCol="0">
            <a:spAutoFit/>
          </a:bodyPr>
          <a:lstStyle/>
          <a:p>
            <a:pPr marL="15937">
              <a:spcBef>
                <a:spcPts val="125"/>
              </a:spcBef>
            </a:pPr>
            <a:r>
              <a:rPr lang="en-US" dirty="0">
                <a:solidFill>
                  <a:schemeClr val="bg1"/>
                </a:solidFill>
                <a:latin typeface="Gill Sans MT"/>
                <a:cs typeface="Gill Sans MT"/>
                <a:sym typeface="Wingdings" pitchFamily="2" charset="2"/>
              </a:rPr>
              <a:t> </a:t>
            </a:r>
            <a:endParaRPr dirty="0">
              <a:solidFill>
                <a:schemeClr val="bg1"/>
              </a:solidFill>
              <a:latin typeface="Gill Sans MT"/>
              <a:cs typeface="Gill Sans MT"/>
            </a:endParaRPr>
          </a:p>
        </p:txBody>
      </p:sp>
      <p:sp>
        <p:nvSpPr>
          <p:cNvPr id="6" name="object 6"/>
          <p:cNvSpPr txBox="1"/>
          <p:nvPr/>
        </p:nvSpPr>
        <p:spPr>
          <a:xfrm>
            <a:off x="6888023" y="3810602"/>
            <a:ext cx="4537214" cy="362935"/>
          </a:xfrm>
          <a:prstGeom prst="rect">
            <a:avLst/>
          </a:prstGeom>
        </p:spPr>
        <p:txBody>
          <a:bodyPr vert="horz" wrap="square" lIns="0" tIns="11953" rIns="0" bIns="0" rtlCol="0">
            <a:spAutoFit/>
          </a:bodyPr>
          <a:lstStyle/>
          <a:p>
            <a:pPr marL="15142" marR="6375">
              <a:lnSpc>
                <a:spcPct val="101099"/>
              </a:lnSpc>
              <a:spcBef>
                <a:spcPts val="94"/>
              </a:spcBef>
              <a:buClr>
                <a:srgbClr val="8784C7"/>
              </a:buClr>
              <a:tabLst>
                <a:tab pos="324323" algn="l"/>
                <a:tab pos="325118" algn="l"/>
              </a:tabLst>
            </a:pPr>
            <a:r>
              <a:rPr lang="en-US" sz="2384" spc="31" dirty="0">
                <a:solidFill>
                  <a:srgbClr val="262626"/>
                </a:solidFill>
                <a:latin typeface="Gill Sans MT"/>
                <a:cs typeface="Gill Sans MT"/>
              </a:rPr>
              <a:t>USUALLY H</a:t>
            </a:r>
            <a:r>
              <a:rPr lang="en-US" sz="2384" spc="6" dirty="0">
                <a:solidFill>
                  <a:srgbClr val="262626"/>
                </a:solidFill>
                <a:latin typeface="Gill Sans MT"/>
                <a:cs typeface="Gill Sans MT"/>
              </a:rPr>
              <a:t>I</a:t>
            </a:r>
            <a:r>
              <a:rPr lang="en-US" sz="2384" spc="38" dirty="0">
                <a:solidFill>
                  <a:srgbClr val="262626"/>
                </a:solidFill>
                <a:latin typeface="Gill Sans MT"/>
                <a:cs typeface="Gill Sans MT"/>
              </a:rPr>
              <a:t>G</a:t>
            </a:r>
            <a:r>
              <a:rPr lang="en-US" sz="2384" dirty="0">
                <a:solidFill>
                  <a:srgbClr val="262626"/>
                </a:solidFill>
                <a:latin typeface="Gill Sans MT"/>
                <a:cs typeface="Gill Sans MT"/>
              </a:rPr>
              <a:t>H  VARIANCE!</a:t>
            </a:r>
            <a:endParaRPr lang="en-US" sz="2384" dirty="0">
              <a:latin typeface="Gill Sans MT"/>
              <a:cs typeface="Gill Sans MT"/>
            </a:endParaRPr>
          </a:p>
        </p:txBody>
      </p:sp>
      <p:sp>
        <p:nvSpPr>
          <p:cNvPr id="7" name="object 7"/>
          <p:cNvSpPr txBox="1"/>
          <p:nvPr/>
        </p:nvSpPr>
        <p:spPr>
          <a:xfrm>
            <a:off x="5908094" y="5954028"/>
            <a:ext cx="1645811" cy="508535"/>
          </a:xfrm>
          <a:prstGeom prst="rect">
            <a:avLst/>
          </a:prstGeom>
        </p:spPr>
        <p:txBody>
          <a:bodyPr vert="horz" wrap="square" lIns="0" tIns="15937" rIns="0" bIns="0" rtlCol="0">
            <a:spAutoFit/>
          </a:bodyPr>
          <a:lstStyle/>
          <a:p>
            <a:pPr marL="15937">
              <a:spcBef>
                <a:spcPts val="125"/>
              </a:spcBef>
            </a:pPr>
            <a:r>
              <a:rPr spc="19" dirty="0">
                <a:solidFill>
                  <a:srgbClr val="292834"/>
                </a:solidFill>
                <a:latin typeface="Gill Sans MT"/>
                <a:cs typeface="Gill Sans MT"/>
              </a:rPr>
              <a:t>W</a:t>
            </a:r>
            <a:r>
              <a:rPr spc="13" dirty="0">
                <a:solidFill>
                  <a:srgbClr val="292834"/>
                </a:solidFill>
                <a:latin typeface="Gill Sans MT"/>
                <a:cs typeface="Gill Sans MT"/>
              </a:rPr>
              <a:t>HY</a:t>
            </a:r>
            <a:r>
              <a:rPr sz="2259" dirty="0">
                <a:solidFill>
                  <a:srgbClr val="292834"/>
                </a:solidFill>
                <a:latin typeface="Gill Sans MT"/>
                <a:cs typeface="Gill Sans MT"/>
              </a:rPr>
              <a:t>?</a:t>
            </a:r>
            <a:endParaRPr sz="2259" dirty="0">
              <a:latin typeface="Gill Sans MT"/>
              <a:cs typeface="Gill Sans MT"/>
            </a:endParaRPr>
          </a:p>
        </p:txBody>
      </p:sp>
      <p:sp>
        <p:nvSpPr>
          <p:cNvPr id="8" name="object 8"/>
          <p:cNvSpPr txBox="1"/>
          <p:nvPr/>
        </p:nvSpPr>
        <p:spPr>
          <a:xfrm>
            <a:off x="738548" y="7294209"/>
            <a:ext cx="11131682" cy="993172"/>
          </a:xfrm>
          <a:prstGeom prst="rect">
            <a:avLst/>
          </a:prstGeom>
        </p:spPr>
        <p:txBody>
          <a:bodyPr vert="horz" wrap="square" lIns="0" tIns="11953" rIns="0" bIns="0" rtlCol="0">
            <a:spAutoFit/>
          </a:bodyPr>
          <a:lstStyle/>
          <a:p>
            <a:pPr marL="2114869" marR="6375" indent="-2099730">
              <a:lnSpc>
                <a:spcPct val="100800"/>
              </a:lnSpc>
              <a:spcBef>
                <a:spcPts val="94"/>
              </a:spcBef>
            </a:pPr>
            <a:r>
              <a:rPr dirty="0">
                <a:latin typeface="Gill Sans MT"/>
                <a:cs typeface="Gill Sans MT"/>
              </a:rPr>
              <a:t>I</a:t>
            </a:r>
            <a:r>
              <a:rPr lang="en-US" dirty="0">
                <a:latin typeface="Gill Sans MT"/>
                <a:cs typeface="Gill Sans MT"/>
              </a:rPr>
              <a:t>t</a:t>
            </a:r>
            <a:r>
              <a:rPr dirty="0">
                <a:latin typeface="Gill Sans MT"/>
                <a:cs typeface="Gill Sans MT"/>
              </a:rPr>
              <a:t> is</a:t>
            </a:r>
            <a:r>
              <a:rPr lang="en-US" dirty="0">
                <a:latin typeface="Gill Sans MT"/>
                <a:cs typeface="Gill Sans MT"/>
              </a:rPr>
              <a:t> </a:t>
            </a:r>
            <a:r>
              <a:rPr dirty="0">
                <a:latin typeface="Gill Sans MT"/>
                <a:cs typeface="Gill Sans MT"/>
              </a:rPr>
              <a:t> VERY EASY to overfit (keep splitting more than</a:t>
            </a:r>
            <a:r>
              <a:rPr lang="en-US" dirty="0">
                <a:latin typeface="Gill Sans MT"/>
                <a:cs typeface="Gill Sans MT"/>
              </a:rPr>
              <a:t> </a:t>
            </a:r>
            <a:r>
              <a:rPr dirty="0">
                <a:latin typeface="Gill Sans MT"/>
                <a:cs typeface="Gill Sans MT"/>
              </a:rPr>
              <a:t>necessary),  </a:t>
            </a:r>
            <a:endParaRPr lang="en-US" dirty="0">
              <a:latin typeface="Gill Sans MT"/>
              <a:cs typeface="Gill Sans MT"/>
            </a:endParaRPr>
          </a:p>
          <a:p>
            <a:pPr marL="2114869" marR="6375" indent="-2099730">
              <a:lnSpc>
                <a:spcPct val="100800"/>
              </a:lnSpc>
              <a:spcBef>
                <a:spcPts val="94"/>
              </a:spcBef>
            </a:pPr>
            <a:r>
              <a:rPr dirty="0">
                <a:latin typeface="Gill Sans MT"/>
                <a:cs typeface="Gill Sans MT"/>
              </a:rPr>
              <a:t>which makes for poor generalization.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3" cstate="print"/>
          <a:stretch>
            <a:fillRect/>
          </a:stretch>
        </p:blipFill>
        <p:spPr>
          <a:xfrm>
            <a:off x="937109" y="3168473"/>
            <a:ext cx="11130579" cy="2086982"/>
          </a:xfrm>
          <a:prstGeom prst="rect">
            <a:avLst/>
          </a:prstGeom>
        </p:spPr>
      </p:pic>
      <p:pic>
        <p:nvPicPr>
          <p:cNvPr id="4" name="object 4"/>
          <p:cNvPicPr/>
          <p:nvPr/>
        </p:nvPicPr>
        <p:blipFill>
          <a:blip r:embed="rId4" cstate="print"/>
          <a:stretch>
            <a:fillRect/>
          </a:stretch>
        </p:blipFill>
        <p:spPr>
          <a:xfrm>
            <a:off x="1792194" y="5524988"/>
            <a:ext cx="3627624" cy="2552212"/>
          </a:xfrm>
          <a:prstGeom prst="rect">
            <a:avLst/>
          </a:prstGeom>
        </p:spPr>
      </p:pic>
      <p:sp>
        <p:nvSpPr>
          <p:cNvPr id="5" name="object 5"/>
          <p:cNvSpPr txBox="1"/>
          <p:nvPr/>
        </p:nvSpPr>
        <p:spPr>
          <a:xfrm>
            <a:off x="3063189" y="5196592"/>
            <a:ext cx="1089310" cy="344324"/>
          </a:xfrm>
          <a:prstGeom prst="rect">
            <a:avLst/>
          </a:prstGeom>
        </p:spPr>
        <p:txBody>
          <a:bodyPr vert="horz" wrap="square" lIns="0" tIns="15937" rIns="0" bIns="0" rtlCol="0">
            <a:spAutoFit/>
          </a:bodyPr>
          <a:lstStyle/>
          <a:p>
            <a:pPr marL="15937">
              <a:spcBef>
                <a:spcPts val="125"/>
              </a:spcBef>
            </a:pPr>
            <a:r>
              <a:rPr sz="2133" spc="-19" dirty="0">
                <a:latin typeface="Gill Sans MT"/>
                <a:cs typeface="Gill Sans MT"/>
              </a:rPr>
              <a:t>depth</a:t>
            </a:r>
            <a:r>
              <a:rPr sz="2133" spc="-63" dirty="0">
                <a:latin typeface="Gill Sans MT"/>
                <a:cs typeface="Gill Sans MT"/>
              </a:rPr>
              <a:t> </a:t>
            </a:r>
            <a:r>
              <a:rPr sz="2133" dirty="0">
                <a:latin typeface="Gill Sans MT"/>
                <a:cs typeface="Gill Sans MT"/>
              </a:rPr>
              <a:t>=</a:t>
            </a:r>
            <a:r>
              <a:rPr sz="2133" spc="-63" dirty="0">
                <a:latin typeface="Gill Sans MT"/>
                <a:cs typeface="Gill Sans MT"/>
              </a:rPr>
              <a:t> </a:t>
            </a:r>
            <a:r>
              <a:rPr sz="2133" spc="-1876" dirty="0">
                <a:latin typeface="Gill Sans MT"/>
                <a:cs typeface="Gill Sans MT"/>
              </a:rPr>
              <a:t>5</a:t>
            </a:r>
            <a:endParaRPr sz="2133">
              <a:latin typeface="Gill Sans MT"/>
              <a:cs typeface="Gill Sans MT"/>
            </a:endParaRPr>
          </a:p>
        </p:txBody>
      </p:sp>
      <p:sp>
        <p:nvSpPr>
          <p:cNvPr id="6" name="object 6"/>
          <p:cNvSpPr txBox="1"/>
          <p:nvPr/>
        </p:nvSpPr>
        <p:spPr>
          <a:xfrm>
            <a:off x="7430463" y="5991543"/>
            <a:ext cx="3631304" cy="1411877"/>
          </a:xfrm>
          <a:prstGeom prst="rect">
            <a:avLst/>
          </a:prstGeom>
        </p:spPr>
        <p:txBody>
          <a:bodyPr vert="horz" wrap="square" lIns="0" tIns="11953" rIns="0" bIns="0" rtlCol="0">
            <a:spAutoFit/>
          </a:bodyPr>
          <a:lstStyle/>
          <a:p>
            <a:pPr marL="613583" marR="165747" indent="-435086">
              <a:lnSpc>
                <a:spcPct val="100800"/>
              </a:lnSpc>
              <a:spcBef>
                <a:spcPts val="94"/>
              </a:spcBef>
            </a:pPr>
            <a:r>
              <a:rPr sz="3012" spc="-25" dirty="0">
                <a:solidFill>
                  <a:schemeClr val="tx1"/>
                </a:solidFill>
                <a:latin typeface="Gill Sans MT"/>
                <a:cs typeface="Gill Sans MT"/>
              </a:rPr>
              <a:t>Traditional </a:t>
            </a:r>
            <a:r>
              <a:rPr sz="3012" spc="-6" dirty="0">
                <a:solidFill>
                  <a:schemeClr val="tx1"/>
                </a:solidFill>
                <a:latin typeface="Gill Sans MT"/>
                <a:cs typeface="Gill Sans MT"/>
              </a:rPr>
              <a:t>approach: </a:t>
            </a:r>
            <a:r>
              <a:rPr sz="3012" spc="-822" dirty="0">
                <a:solidFill>
                  <a:schemeClr val="tx1"/>
                </a:solidFill>
                <a:latin typeface="Gill Sans MT"/>
                <a:cs typeface="Gill Sans MT"/>
              </a:rPr>
              <a:t> </a:t>
            </a:r>
            <a:r>
              <a:rPr sz="3012" spc="6" dirty="0">
                <a:solidFill>
                  <a:srgbClr val="FF0000"/>
                </a:solidFill>
                <a:latin typeface="Gill Sans MT"/>
                <a:cs typeface="Gill Sans MT"/>
              </a:rPr>
              <a:t>“prun</a:t>
            </a:r>
            <a:r>
              <a:rPr lang="en-US" sz="3012" spc="6" dirty="0">
                <a:solidFill>
                  <a:srgbClr val="FF0000"/>
                </a:solidFill>
                <a:latin typeface="Gill Sans MT"/>
                <a:cs typeface="Gill Sans MT"/>
              </a:rPr>
              <a:t>e</a:t>
            </a:r>
            <a:r>
              <a:rPr sz="3012" spc="6" dirty="0">
                <a:solidFill>
                  <a:srgbClr val="FF0000"/>
                </a:solidFill>
                <a:latin typeface="Gill Sans MT"/>
                <a:cs typeface="Gill Sans MT"/>
              </a:rPr>
              <a:t>”</a:t>
            </a:r>
            <a:r>
              <a:rPr sz="3012" spc="-13" dirty="0">
                <a:solidFill>
                  <a:srgbClr val="FF0000"/>
                </a:solidFill>
                <a:latin typeface="Gill Sans MT"/>
                <a:cs typeface="Gill Sans MT"/>
              </a:rPr>
              <a:t> </a:t>
            </a:r>
            <a:r>
              <a:rPr sz="3012" spc="-6" dirty="0">
                <a:solidFill>
                  <a:schemeClr val="tx1"/>
                </a:solidFill>
                <a:latin typeface="Gill Sans MT"/>
                <a:cs typeface="Gill Sans MT"/>
              </a:rPr>
              <a:t>trees</a:t>
            </a:r>
            <a:endParaRPr sz="3012" dirty="0">
              <a:solidFill>
                <a:schemeClr val="tx1"/>
              </a:solidFill>
              <a:latin typeface="Gill Sans MT"/>
              <a:cs typeface="Gill Sans MT"/>
            </a:endParaRPr>
          </a:p>
          <a:p>
            <a:pPr marL="15937"/>
            <a:r>
              <a:rPr sz="3012" spc="6" dirty="0">
                <a:solidFill>
                  <a:schemeClr val="tx1"/>
                </a:solidFill>
                <a:latin typeface="Gill Sans MT"/>
                <a:cs typeface="Gill Sans MT"/>
              </a:rPr>
              <a:t>(get</a:t>
            </a:r>
            <a:r>
              <a:rPr sz="3012" spc="-6" dirty="0">
                <a:solidFill>
                  <a:schemeClr val="tx1"/>
                </a:solidFill>
                <a:latin typeface="Gill Sans MT"/>
                <a:cs typeface="Gill Sans MT"/>
              </a:rPr>
              <a:t> </a:t>
            </a:r>
            <a:r>
              <a:rPr sz="3012" dirty="0">
                <a:solidFill>
                  <a:schemeClr val="tx1"/>
                </a:solidFill>
                <a:latin typeface="Gill Sans MT"/>
                <a:cs typeface="Gill Sans MT"/>
              </a:rPr>
              <a:t>rid</a:t>
            </a:r>
            <a:r>
              <a:rPr sz="3012" spc="6" dirty="0">
                <a:solidFill>
                  <a:schemeClr val="tx1"/>
                </a:solidFill>
                <a:latin typeface="Gill Sans MT"/>
                <a:cs typeface="Gill Sans MT"/>
              </a:rPr>
              <a:t> of</a:t>
            </a:r>
            <a:r>
              <a:rPr sz="3012" dirty="0">
                <a:solidFill>
                  <a:schemeClr val="tx1"/>
                </a:solidFill>
                <a:latin typeface="Gill Sans MT"/>
                <a:cs typeface="Gill Sans MT"/>
              </a:rPr>
              <a:t> </a:t>
            </a:r>
            <a:r>
              <a:rPr sz="3012" spc="6" dirty="0">
                <a:solidFill>
                  <a:schemeClr val="tx1"/>
                </a:solidFill>
                <a:latin typeface="Gill Sans MT"/>
                <a:cs typeface="Gill Sans MT"/>
              </a:rPr>
              <a:t>small</a:t>
            </a:r>
            <a:r>
              <a:rPr sz="3012" spc="-13" dirty="0">
                <a:solidFill>
                  <a:schemeClr val="tx1"/>
                </a:solidFill>
                <a:latin typeface="Gill Sans MT"/>
                <a:cs typeface="Gill Sans MT"/>
              </a:rPr>
              <a:t> </a:t>
            </a:r>
            <a:r>
              <a:rPr sz="3012" spc="-19" dirty="0">
                <a:solidFill>
                  <a:schemeClr val="tx1"/>
                </a:solidFill>
                <a:latin typeface="Gill Sans MT"/>
                <a:cs typeface="Gill Sans MT"/>
              </a:rPr>
              <a:t>leaves)</a:t>
            </a:r>
            <a:endParaRPr sz="3012" dirty="0">
              <a:solidFill>
                <a:schemeClr val="tx1"/>
              </a:solidFill>
              <a:latin typeface="Gill Sans MT"/>
              <a:cs typeface="Gill Sans MT"/>
            </a:endParaRPr>
          </a:p>
        </p:txBody>
      </p:sp>
      <p:sp>
        <p:nvSpPr>
          <p:cNvPr id="8" name="Title 7">
            <a:extLst>
              <a:ext uri="{FF2B5EF4-FFF2-40B4-BE49-F238E27FC236}">
                <a16:creationId xmlns:a16="http://schemas.microsoft.com/office/drawing/2014/main" id="{36CC7DA3-6A80-6544-B5A8-6B26A3CA38DE}"/>
              </a:ext>
            </a:extLst>
          </p:cNvPr>
          <p:cNvSpPr>
            <a:spLocks noGrp="1"/>
          </p:cNvSpPr>
          <p:nvPr>
            <p:ph type="title"/>
          </p:nvPr>
        </p:nvSpPr>
        <p:spPr>
          <a:xfrm>
            <a:off x="2616960" y="457200"/>
            <a:ext cx="8444807" cy="1690624"/>
          </a:xfrm>
        </p:spPr>
        <p:txBody>
          <a:bodyPr/>
          <a:lstStyle/>
          <a:p>
            <a:r>
              <a:rPr lang="en-US" dirty="0"/>
              <a:t>example</a:t>
            </a:r>
          </a:p>
        </p:txBody>
      </p:sp>
      <p:sp>
        <p:nvSpPr>
          <p:cNvPr id="2" name="TextBox 1">
            <a:extLst>
              <a:ext uri="{FF2B5EF4-FFF2-40B4-BE49-F238E27FC236}">
                <a16:creationId xmlns:a16="http://schemas.microsoft.com/office/drawing/2014/main" id="{F73E1368-184C-0949-8160-A4AF8DB95496}"/>
              </a:ext>
            </a:extLst>
          </p:cNvPr>
          <p:cNvSpPr txBox="1"/>
          <p:nvPr/>
        </p:nvSpPr>
        <p:spPr>
          <a:xfrm>
            <a:off x="482600" y="2615763"/>
            <a:ext cx="12374349" cy="369332"/>
          </a:xfrm>
          <a:prstGeom prst="rect">
            <a:avLst/>
          </a:prstGeom>
          <a:noFill/>
        </p:spPr>
        <p:txBody>
          <a:bodyPr wrap="none" rtlCol="0">
            <a:spAutoFit/>
          </a:bodyPr>
          <a:lstStyle/>
          <a:p>
            <a:r>
              <a:rPr lang="en-US" sz="1800" dirty="0">
                <a:latin typeface="+mj-lt"/>
              </a:rPr>
              <a:t>Figure credit: Jake </a:t>
            </a:r>
            <a:r>
              <a:rPr lang="en-US" sz="1800" dirty="0" err="1">
                <a:latin typeface="+mj-lt"/>
              </a:rPr>
              <a:t>Vanderplas</a:t>
            </a:r>
            <a:r>
              <a:rPr lang="en-US" sz="1800" dirty="0">
                <a:latin typeface="+mj-lt"/>
              </a:rPr>
              <a:t> (https://</a:t>
            </a:r>
            <a:r>
              <a:rPr lang="en-US" sz="1800" dirty="0" err="1">
                <a:latin typeface="+mj-lt"/>
              </a:rPr>
              <a:t>jakevdp.github.io</a:t>
            </a:r>
            <a:r>
              <a:rPr lang="en-US" sz="1800" dirty="0">
                <a:latin typeface="+mj-lt"/>
              </a:rPr>
              <a:t>/</a:t>
            </a:r>
            <a:r>
              <a:rPr lang="en-US" sz="1800" dirty="0" err="1">
                <a:latin typeface="+mj-lt"/>
              </a:rPr>
              <a:t>PythonDataScienceHandbook</a:t>
            </a:r>
            <a:r>
              <a:rPr lang="en-US" sz="1800" dirty="0">
                <a:latin typeface="+mj-lt"/>
              </a:rPr>
              <a:t>/06.00-figure-code.html#Decision-Tree-Levels)</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35288" y="3048000"/>
            <a:ext cx="5040157" cy="3014970"/>
          </a:xfrm>
          <a:prstGeom prst="rect">
            <a:avLst/>
          </a:prstGeom>
        </p:spPr>
        <p:txBody>
          <a:bodyPr vert="horz" wrap="square" lIns="0" tIns="27093" rIns="0" bIns="0" rtlCol="0">
            <a:spAutoFit/>
          </a:bodyPr>
          <a:lstStyle/>
          <a:p>
            <a:pPr marL="47812" marR="38249" indent="797">
              <a:lnSpc>
                <a:spcPct val="102600"/>
              </a:lnSpc>
              <a:spcBef>
                <a:spcPts val="213"/>
              </a:spcBef>
            </a:pPr>
            <a:r>
              <a:rPr sz="2886" spc="-56" dirty="0">
                <a:solidFill>
                  <a:schemeClr val="tx1"/>
                </a:solidFill>
                <a:latin typeface="Gill Sans MT"/>
                <a:cs typeface="Gill Sans MT"/>
              </a:rPr>
              <a:t>F</a:t>
            </a:r>
            <a:r>
              <a:rPr sz="2886" spc="-31" dirty="0">
                <a:solidFill>
                  <a:schemeClr val="tx1"/>
                </a:solidFill>
                <a:latin typeface="Gill Sans MT"/>
                <a:cs typeface="Gill Sans MT"/>
              </a:rPr>
              <a:t>o</a:t>
            </a:r>
            <a:r>
              <a:rPr sz="2886" dirty="0">
                <a:solidFill>
                  <a:schemeClr val="tx1"/>
                </a:solidFill>
                <a:latin typeface="Gill Sans MT"/>
                <a:cs typeface="Gill Sans MT"/>
              </a:rPr>
              <a:t>r</a:t>
            </a:r>
            <a:r>
              <a:rPr sz="2886" spc="-19" dirty="0">
                <a:solidFill>
                  <a:schemeClr val="tx1"/>
                </a:solidFill>
                <a:latin typeface="Gill Sans MT"/>
                <a:cs typeface="Gill Sans MT"/>
              </a:rPr>
              <a:t> </a:t>
            </a:r>
            <a:r>
              <a:rPr sz="2886" spc="-13" dirty="0">
                <a:solidFill>
                  <a:schemeClr val="tx1"/>
                </a:solidFill>
                <a:latin typeface="Gill Sans MT"/>
                <a:cs typeface="Gill Sans MT"/>
              </a:rPr>
              <a:t>t</a:t>
            </a:r>
            <a:r>
              <a:rPr sz="2886" spc="-19" dirty="0">
                <a:solidFill>
                  <a:schemeClr val="tx1"/>
                </a:solidFill>
                <a:latin typeface="Gill Sans MT"/>
                <a:cs typeface="Gill Sans MT"/>
              </a:rPr>
              <a:t>h</a:t>
            </a:r>
            <a:r>
              <a:rPr sz="2886" dirty="0">
                <a:solidFill>
                  <a:schemeClr val="tx1"/>
                </a:solidFill>
                <a:latin typeface="Gill Sans MT"/>
                <a:cs typeface="Gill Sans MT"/>
              </a:rPr>
              <a:t>e</a:t>
            </a:r>
            <a:r>
              <a:rPr sz="2886" spc="-25" dirty="0">
                <a:solidFill>
                  <a:schemeClr val="tx1"/>
                </a:solidFill>
                <a:latin typeface="Gill Sans MT"/>
                <a:cs typeface="Gill Sans MT"/>
              </a:rPr>
              <a:t> </a:t>
            </a:r>
            <a:r>
              <a:rPr lang="en-US" sz="2886" spc="-25" dirty="0">
                <a:solidFill>
                  <a:schemeClr val="tx1"/>
                </a:solidFill>
                <a:latin typeface="Gill Sans MT"/>
                <a:cs typeface="Gill Sans MT"/>
              </a:rPr>
              <a:t>mean </a:t>
            </a:r>
            <a:r>
              <a:rPr sz="2886" spc="-19" dirty="0">
                <a:solidFill>
                  <a:schemeClr val="tx1"/>
                </a:solidFill>
                <a:latin typeface="Gill Sans MT"/>
                <a:cs typeface="Gill Sans MT"/>
              </a:rPr>
              <a:t>squa</a:t>
            </a:r>
            <a:r>
              <a:rPr sz="2886" spc="-75" dirty="0">
                <a:solidFill>
                  <a:schemeClr val="tx1"/>
                </a:solidFill>
                <a:latin typeface="Gill Sans MT"/>
                <a:cs typeface="Gill Sans MT"/>
              </a:rPr>
              <a:t>r</a:t>
            </a:r>
            <a:r>
              <a:rPr sz="2886" spc="-19" dirty="0">
                <a:solidFill>
                  <a:schemeClr val="tx1"/>
                </a:solidFill>
                <a:latin typeface="Gill Sans MT"/>
                <a:cs typeface="Gill Sans MT"/>
              </a:rPr>
              <a:t>e</a:t>
            </a:r>
            <a:r>
              <a:rPr sz="2886" dirty="0">
                <a:solidFill>
                  <a:schemeClr val="tx1"/>
                </a:solidFill>
                <a:latin typeface="Gill Sans MT"/>
                <a:cs typeface="Gill Sans MT"/>
              </a:rPr>
              <a:t>d</a:t>
            </a:r>
            <a:r>
              <a:rPr sz="2886" spc="-31" dirty="0">
                <a:solidFill>
                  <a:schemeClr val="tx1"/>
                </a:solidFill>
                <a:latin typeface="Gill Sans MT"/>
                <a:cs typeface="Gill Sans MT"/>
              </a:rPr>
              <a:t> </a:t>
            </a:r>
            <a:r>
              <a:rPr sz="2886" spc="-19" dirty="0">
                <a:solidFill>
                  <a:schemeClr val="tx1"/>
                </a:solidFill>
                <a:latin typeface="Gill Sans MT"/>
                <a:cs typeface="Gill Sans MT"/>
              </a:rPr>
              <a:t>e</a:t>
            </a:r>
            <a:r>
              <a:rPr sz="2886" spc="-44" dirty="0">
                <a:solidFill>
                  <a:schemeClr val="tx1"/>
                </a:solidFill>
                <a:latin typeface="Gill Sans MT"/>
                <a:cs typeface="Gill Sans MT"/>
              </a:rPr>
              <a:t>r</a:t>
            </a:r>
            <a:r>
              <a:rPr sz="2886" spc="-88" dirty="0">
                <a:solidFill>
                  <a:schemeClr val="tx1"/>
                </a:solidFill>
                <a:latin typeface="Gill Sans MT"/>
                <a:cs typeface="Gill Sans MT"/>
              </a:rPr>
              <a:t>r</a:t>
            </a:r>
            <a:r>
              <a:rPr sz="2886" spc="-25" dirty="0">
                <a:solidFill>
                  <a:schemeClr val="tx1"/>
                </a:solidFill>
                <a:latin typeface="Gill Sans MT"/>
                <a:cs typeface="Gill Sans MT"/>
              </a:rPr>
              <a:t>o</a:t>
            </a:r>
            <a:r>
              <a:rPr sz="2886" dirty="0">
                <a:solidFill>
                  <a:schemeClr val="tx1"/>
                </a:solidFill>
                <a:latin typeface="Gill Sans MT"/>
                <a:cs typeface="Gill Sans MT"/>
              </a:rPr>
              <a:t>r</a:t>
            </a:r>
            <a:r>
              <a:rPr sz="2886" spc="-19" dirty="0">
                <a:solidFill>
                  <a:schemeClr val="tx1"/>
                </a:solidFill>
                <a:latin typeface="Gill Sans MT"/>
                <a:cs typeface="Gill Sans MT"/>
              </a:rPr>
              <a:t> </a:t>
            </a:r>
            <a:r>
              <a:rPr sz="2886" spc="-6" dirty="0">
                <a:solidFill>
                  <a:schemeClr val="tx1"/>
                </a:solidFill>
                <a:latin typeface="Gill Sans MT"/>
                <a:cs typeface="Gill Sans MT"/>
              </a:rPr>
              <a:t>l</a:t>
            </a:r>
            <a:r>
              <a:rPr sz="2886" spc="-25" dirty="0">
                <a:solidFill>
                  <a:schemeClr val="tx1"/>
                </a:solidFill>
                <a:latin typeface="Gill Sans MT"/>
                <a:cs typeface="Gill Sans MT"/>
              </a:rPr>
              <a:t>o</a:t>
            </a:r>
            <a:r>
              <a:rPr sz="2886" spc="-19" dirty="0">
                <a:solidFill>
                  <a:schemeClr val="tx1"/>
                </a:solidFill>
                <a:latin typeface="Gill Sans MT"/>
                <a:cs typeface="Gill Sans MT"/>
              </a:rPr>
              <a:t>ss</a:t>
            </a:r>
            <a:r>
              <a:rPr sz="2886" dirty="0">
                <a:solidFill>
                  <a:schemeClr val="tx1"/>
                </a:solidFill>
                <a:latin typeface="Gill Sans MT"/>
                <a:cs typeface="Gill Sans MT"/>
              </a:rPr>
              <a:t>,</a:t>
            </a:r>
            <a:r>
              <a:rPr sz="2886" spc="-295" dirty="0">
                <a:solidFill>
                  <a:schemeClr val="tx1"/>
                </a:solidFill>
                <a:latin typeface="Gill Sans MT"/>
                <a:cs typeface="Gill Sans MT"/>
              </a:rPr>
              <a:t> </a:t>
            </a:r>
            <a:r>
              <a:rPr sz="2886" spc="-13" dirty="0">
                <a:solidFill>
                  <a:schemeClr val="tx1"/>
                </a:solidFill>
                <a:latin typeface="Gill Sans MT"/>
                <a:cs typeface="Gill Sans MT"/>
              </a:rPr>
              <a:t>t</a:t>
            </a:r>
            <a:r>
              <a:rPr sz="2886" spc="-19" dirty="0">
                <a:solidFill>
                  <a:schemeClr val="tx1"/>
                </a:solidFill>
                <a:latin typeface="Gill Sans MT"/>
                <a:cs typeface="Gill Sans MT"/>
              </a:rPr>
              <a:t>h</a:t>
            </a:r>
            <a:r>
              <a:rPr sz="2886" dirty="0">
                <a:solidFill>
                  <a:schemeClr val="tx1"/>
                </a:solidFill>
                <a:latin typeface="Gill Sans MT"/>
                <a:cs typeface="Gill Sans MT"/>
              </a:rPr>
              <a:t>e  </a:t>
            </a:r>
            <a:r>
              <a:rPr sz="2886" spc="-19" dirty="0">
                <a:solidFill>
                  <a:schemeClr val="tx1"/>
                </a:solidFill>
                <a:latin typeface="Gill Sans MT"/>
                <a:cs typeface="Gill Sans MT"/>
              </a:rPr>
              <a:t>bias-variance decomposition </a:t>
            </a:r>
            <a:r>
              <a:rPr sz="2886" spc="-13" dirty="0">
                <a:solidFill>
                  <a:schemeClr val="tx1"/>
                </a:solidFill>
                <a:latin typeface="Gill Sans MT"/>
                <a:cs typeface="Gill Sans MT"/>
              </a:rPr>
              <a:t>of </a:t>
            </a:r>
            <a:r>
              <a:rPr sz="2886" spc="-6" dirty="0">
                <a:solidFill>
                  <a:schemeClr val="tx1"/>
                </a:solidFill>
                <a:latin typeface="Gill Sans MT"/>
                <a:cs typeface="Gill Sans MT"/>
              </a:rPr>
              <a:t> </a:t>
            </a:r>
            <a:r>
              <a:rPr sz="2886" spc="-13" dirty="0">
                <a:solidFill>
                  <a:schemeClr val="tx1"/>
                </a:solidFill>
                <a:latin typeface="Gill Sans MT"/>
                <a:cs typeface="Gill Sans MT"/>
              </a:rPr>
              <a:t>the </a:t>
            </a:r>
            <a:r>
              <a:rPr sz="2886" spc="-19" dirty="0">
                <a:solidFill>
                  <a:schemeClr val="tx1"/>
                </a:solidFill>
                <a:latin typeface="Gill Sans MT"/>
                <a:cs typeface="Gill Sans MT"/>
              </a:rPr>
              <a:t>expected generalization </a:t>
            </a:r>
            <a:r>
              <a:rPr sz="2886" spc="-38" dirty="0">
                <a:solidFill>
                  <a:schemeClr val="tx1"/>
                </a:solidFill>
                <a:latin typeface="Gill Sans MT"/>
                <a:cs typeface="Gill Sans MT"/>
              </a:rPr>
              <a:t>error </a:t>
            </a:r>
            <a:r>
              <a:rPr sz="2886" spc="-784" dirty="0">
                <a:solidFill>
                  <a:schemeClr val="tx1"/>
                </a:solidFill>
                <a:latin typeface="Gill Sans MT"/>
                <a:cs typeface="Gill Sans MT"/>
              </a:rPr>
              <a:t> </a:t>
            </a:r>
            <a:r>
              <a:rPr sz="2886" spc="-13" dirty="0">
                <a:solidFill>
                  <a:schemeClr val="tx1"/>
                </a:solidFill>
                <a:latin typeface="Gill Sans MT"/>
                <a:cs typeface="Gill Sans MT"/>
              </a:rPr>
              <a:t>at</a:t>
            </a:r>
            <a:r>
              <a:rPr sz="2886" spc="-25" dirty="0">
                <a:solidFill>
                  <a:schemeClr val="tx1"/>
                </a:solidFill>
                <a:latin typeface="Gill Sans MT"/>
                <a:cs typeface="Gill Sans MT"/>
              </a:rPr>
              <a:t> </a:t>
            </a:r>
            <a:r>
              <a:rPr sz="2886" dirty="0">
                <a:solidFill>
                  <a:schemeClr val="tx1"/>
                </a:solidFill>
                <a:latin typeface="Gill Sans MT"/>
                <a:cs typeface="Gill Sans MT"/>
              </a:rPr>
              <a:t>X</a:t>
            </a:r>
            <a:r>
              <a:rPr sz="2886" spc="-38" dirty="0">
                <a:solidFill>
                  <a:schemeClr val="tx1"/>
                </a:solidFill>
                <a:latin typeface="Gill Sans MT"/>
                <a:cs typeface="Gill Sans MT"/>
              </a:rPr>
              <a:t> </a:t>
            </a:r>
            <a:r>
              <a:rPr sz="2886" dirty="0">
                <a:solidFill>
                  <a:schemeClr val="tx1"/>
                </a:solidFill>
                <a:latin typeface="Gill Sans MT"/>
                <a:cs typeface="Gill Sans MT"/>
              </a:rPr>
              <a:t>=</a:t>
            </a:r>
            <a:r>
              <a:rPr sz="2886" spc="-31" dirty="0">
                <a:solidFill>
                  <a:schemeClr val="tx1"/>
                </a:solidFill>
                <a:latin typeface="Gill Sans MT"/>
                <a:cs typeface="Gill Sans MT"/>
              </a:rPr>
              <a:t> </a:t>
            </a:r>
            <a:r>
              <a:rPr sz="2886" dirty="0">
                <a:solidFill>
                  <a:schemeClr val="tx1"/>
                </a:solidFill>
                <a:latin typeface="Gill Sans MT"/>
                <a:cs typeface="Gill Sans MT"/>
              </a:rPr>
              <a:t>x</a:t>
            </a:r>
            <a:r>
              <a:rPr sz="2886" spc="-31" dirty="0">
                <a:solidFill>
                  <a:schemeClr val="tx1"/>
                </a:solidFill>
                <a:latin typeface="Gill Sans MT"/>
                <a:cs typeface="Gill Sans MT"/>
              </a:rPr>
              <a:t> </a:t>
            </a:r>
            <a:r>
              <a:rPr sz="2886" spc="-6" dirty="0">
                <a:solidFill>
                  <a:schemeClr val="tx1"/>
                </a:solidFill>
                <a:latin typeface="Gill Sans MT"/>
                <a:cs typeface="Gill Sans MT"/>
              </a:rPr>
              <a:t>is</a:t>
            </a:r>
            <a:endParaRPr sz="2886" dirty="0">
              <a:solidFill>
                <a:schemeClr val="tx1"/>
              </a:solidFill>
              <a:latin typeface="Gill Sans MT"/>
              <a:cs typeface="Gill Sans MT"/>
            </a:endParaRPr>
          </a:p>
          <a:p>
            <a:pPr marR="313165">
              <a:spcBef>
                <a:spcPts val="1776"/>
              </a:spcBef>
            </a:pPr>
            <a:r>
              <a:rPr sz="3012" spc="6" dirty="0">
                <a:solidFill>
                  <a:schemeClr val="tx1"/>
                </a:solidFill>
                <a:latin typeface="Gill Sans MT"/>
                <a:cs typeface="Gill Sans MT"/>
              </a:rPr>
              <a:t>MSE(x)</a:t>
            </a:r>
            <a:r>
              <a:rPr sz="3012" spc="-25" dirty="0">
                <a:solidFill>
                  <a:schemeClr val="tx1"/>
                </a:solidFill>
                <a:latin typeface="Gill Sans MT"/>
                <a:cs typeface="Gill Sans MT"/>
              </a:rPr>
              <a:t> </a:t>
            </a:r>
            <a:r>
              <a:rPr sz="3012" dirty="0">
                <a:solidFill>
                  <a:schemeClr val="tx1"/>
                </a:solidFill>
                <a:latin typeface="Gill Sans MT"/>
                <a:cs typeface="Gill Sans MT"/>
              </a:rPr>
              <a:t>=</a:t>
            </a:r>
          </a:p>
          <a:p>
            <a:pPr marR="311573">
              <a:spcBef>
                <a:spcPts val="25"/>
              </a:spcBef>
            </a:pPr>
            <a:r>
              <a:rPr sz="3012" spc="6" dirty="0">
                <a:solidFill>
                  <a:schemeClr val="tx1"/>
                </a:solidFill>
                <a:latin typeface="Gill Sans MT"/>
                <a:cs typeface="Gill Sans MT"/>
              </a:rPr>
              <a:t>noise(x)+bias</a:t>
            </a:r>
            <a:r>
              <a:rPr sz="3012" spc="9" baseline="27777" dirty="0">
                <a:solidFill>
                  <a:schemeClr val="tx1"/>
                </a:solidFill>
                <a:latin typeface="Gill Sans MT"/>
                <a:cs typeface="Gill Sans MT"/>
              </a:rPr>
              <a:t>2</a:t>
            </a:r>
            <a:r>
              <a:rPr sz="3012" spc="6" dirty="0">
                <a:solidFill>
                  <a:schemeClr val="tx1"/>
                </a:solidFill>
                <a:latin typeface="Gill Sans MT"/>
                <a:cs typeface="Gill Sans MT"/>
              </a:rPr>
              <a:t>(x)+var(x)</a:t>
            </a:r>
            <a:endParaRPr sz="3012" dirty="0">
              <a:solidFill>
                <a:schemeClr val="tx1"/>
              </a:solidFill>
              <a:latin typeface="Gill Sans MT"/>
              <a:cs typeface="Gill Sans MT"/>
            </a:endParaRPr>
          </a:p>
        </p:txBody>
      </p:sp>
      <p:sp>
        <p:nvSpPr>
          <p:cNvPr id="3" name="object 3"/>
          <p:cNvSpPr txBox="1"/>
          <p:nvPr/>
        </p:nvSpPr>
        <p:spPr>
          <a:xfrm>
            <a:off x="7577930" y="3396786"/>
            <a:ext cx="115866" cy="90842"/>
          </a:xfrm>
          <a:prstGeom prst="rect">
            <a:avLst/>
          </a:prstGeom>
        </p:spPr>
        <p:txBody>
          <a:bodyPr vert="vert270" wrap="square" lIns="0" tIns="5578" rIns="0" bIns="0" rtlCol="0">
            <a:spAutoFit/>
          </a:bodyPr>
          <a:lstStyle/>
          <a:p>
            <a:pPr marL="15937">
              <a:spcBef>
                <a:spcPts val="44"/>
              </a:spcBef>
            </a:pPr>
            <a:r>
              <a:rPr sz="753" i="1" dirty="0">
                <a:latin typeface="Times New Roman"/>
                <a:cs typeface="Times New Roman"/>
              </a:rPr>
              <a:t>P</a:t>
            </a:r>
            <a:endParaRPr sz="753">
              <a:latin typeface="Times New Roman"/>
              <a:cs typeface="Times New Roman"/>
            </a:endParaRPr>
          </a:p>
        </p:txBody>
      </p:sp>
      <p:sp>
        <p:nvSpPr>
          <p:cNvPr id="4" name="object 4"/>
          <p:cNvSpPr txBox="1"/>
          <p:nvPr/>
        </p:nvSpPr>
        <p:spPr>
          <a:xfrm>
            <a:off x="748112" y="6453952"/>
            <a:ext cx="5980455" cy="2080481"/>
          </a:xfrm>
          <a:prstGeom prst="rect">
            <a:avLst/>
          </a:prstGeom>
        </p:spPr>
        <p:txBody>
          <a:bodyPr vert="horz" wrap="square" lIns="0" tIns="74905" rIns="0" bIns="0" rtlCol="0">
            <a:spAutoFit/>
          </a:bodyPr>
          <a:lstStyle/>
          <a:p>
            <a:pPr marL="596849" marR="6375">
              <a:lnSpc>
                <a:spcPct val="87100"/>
              </a:lnSpc>
              <a:spcBef>
                <a:spcPts val="590"/>
              </a:spcBef>
            </a:pPr>
            <a:r>
              <a:rPr lang="en-US" sz="3012" dirty="0">
                <a:solidFill>
                  <a:srgbClr val="404040"/>
                </a:solidFill>
                <a:latin typeface="+mn-lt"/>
                <a:cs typeface="Gill Sans MT"/>
              </a:rPr>
              <a:t>Idea: </a:t>
            </a:r>
            <a:r>
              <a:rPr sz="3012" dirty="0">
                <a:solidFill>
                  <a:srgbClr val="404040"/>
                </a:solidFill>
                <a:latin typeface="+mn-lt"/>
                <a:cs typeface="Gill Sans MT"/>
              </a:rPr>
              <a:t>If we are willing to take a hit in bias,  we can reduce variance by  </a:t>
            </a:r>
            <a:r>
              <a:rPr sz="3012" i="1" dirty="0">
                <a:solidFill>
                  <a:srgbClr val="FF0000"/>
                </a:solidFill>
                <a:latin typeface="+mn-lt"/>
                <a:cs typeface="Gill Sans MT Italic"/>
              </a:rPr>
              <a:t>combining RANDOMIZED </a:t>
            </a:r>
            <a:r>
              <a:rPr sz="3012" dirty="0">
                <a:solidFill>
                  <a:srgbClr val="404040"/>
                </a:solidFill>
                <a:latin typeface="+mn-lt"/>
                <a:cs typeface="Gill Sans MT"/>
              </a:rPr>
              <a:t>trees,</a:t>
            </a:r>
            <a:endParaRPr sz="3012" dirty="0">
              <a:latin typeface="+mn-lt"/>
              <a:cs typeface="Gill Sans MT"/>
            </a:endParaRPr>
          </a:p>
          <a:p>
            <a:pPr marL="792877" marR="242246">
              <a:lnSpc>
                <a:spcPts val="3137"/>
              </a:lnSpc>
              <a:spcBef>
                <a:spcPts val="19"/>
              </a:spcBef>
            </a:pPr>
            <a:r>
              <a:rPr sz="3012" dirty="0">
                <a:solidFill>
                  <a:srgbClr val="404040"/>
                </a:solidFill>
                <a:latin typeface="+mn-lt"/>
                <a:cs typeface="Gill Sans MT"/>
              </a:rPr>
              <a:t>and still have an improved model  (= lower test scores).</a:t>
            </a:r>
            <a:endParaRPr sz="3012" dirty="0">
              <a:latin typeface="+mn-lt"/>
              <a:cs typeface="Gill Sans MT"/>
            </a:endParaRPr>
          </a:p>
        </p:txBody>
      </p:sp>
      <p:pic>
        <p:nvPicPr>
          <p:cNvPr id="5" name="object 5"/>
          <p:cNvPicPr/>
          <p:nvPr/>
        </p:nvPicPr>
        <p:blipFill>
          <a:blip r:embed="rId2" cstate="print"/>
          <a:stretch>
            <a:fillRect/>
          </a:stretch>
        </p:blipFill>
        <p:spPr>
          <a:xfrm>
            <a:off x="7982793" y="6228869"/>
            <a:ext cx="4458381" cy="2800082"/>
          </a:xfrm>
          <a:prstGeom prst="rect">
            <a:avLst/>
          </a:prstGeom>
        </p:spPr>
      </p:pic>
      <p:sp>
        <p:nvSpPr>
          <p:cNvPr id="6" name="object 6"/>
          <p:cNvSpPr txBox="1"/>
          <p:nvPr/>
        </p:nvSpPr>
        <p:spPr>
          <a:xfrm>
            <a:off x="2387600" y="580676"/>
            <a:ext cx="8945980" cy="1476724"/>
          </a:xfrm>
          <a:prstGeom prst="rect">
            <a:avLst/>
          </a:prstGeom>
          <a:solidFill>
            <a:srgbClr val="FFFFFF"/>
          </a:solidFill>
          <a:ln w="24060">
            <a:solidFill>
              <a:srgbClr val="404040"/>
            </a:solidFill>
          </a:ln>
        </p:spPr>
        <p:txBody>
          <a:bodyPr vert="horz" wrap="square" lIns="0" tIns="90842" rIns="0" bIns="0" rtlCol="0">
            <a:spAutoFit/>
          </a:bodyPr>
          <a:lstStyle/>
          <a:p>
            <a:pPr marR="23906">
              <a:lnSpc>
                <a:spcPts val="3583"/>
              </a:lnSpc>
              <a:spcBef>
                <a:spcPts val="715"/>
              </a:spcBef>
              <a:tabLst>
                <a:tab pos="1263822" algn="l"/>
                <a:tab pos="3157962" algn="l"/>
              </a:tabLst>
            </a:pPr>
            <a:r>
              <a:rPr sz="3137" spc="300" dirty="0">
                <a:solidFill>
                  <a:srgbClr val="262626"/>
                </a:solidFill>
                <a:latin typeface="Gill Sans MT"/>
                <a:cs typeface="Gill Sans MT"/>
              </a:rPr>
              <a:t>HOW	CAN WE	IMPROVE?</a:t>
            </a:r>
            <a:endParaRPr sz="3137" spc="300" dirty="0">
              <a:latin typeface="Gill Sans MT"/>
              <a:cs typeface="Gill Sans MT"/>
            </a:endParaRPr>
          </a:p>
          <a:p>
            <a:pPr marL="1233542" marR="1223182">
              <a:lnSpc>
                <a:spcPts val="3489"/>
              </a:lnSpc>
              <a:spcBef>
                <a:spcPts val="169"/>
              </a:spcBef>
              <a:tabLst>
                <a:tab pos="3594642" algn="l"/>
              </a:tabLst>
            </a:pPr>
            <a:r>
              <a:rPr sz="3137" spc="300" dirty="0">
                <a:solidFill>
                  <a:srgbClr val="262626"/>
                </a:solidFill>
                <a:latin typeface="Gill Sans MT"/>
                <a:cs typeface="Gill Sans MT"/>
              </a:rPr>
              <a:t>CONSIDER	BIAS/VARIANCE  DECOMPOSITION</a:t>
            </a:r>
            <a:endParaRPr sz="3137" spc="300" dirty="0">
              <a:latin typeface="Gill Sans MT"/>
              <a:cs typeface="Gill Sans MT"/>
            </a:endParaRPr>
          </a:p>
        </p:txBody>
      </p:sp>
      <p:sp>
        <p:nvSpPr>
          <p:cNvPr id="7" name="object 7"/>
          <p:cNvSpPr txBox="1"/>
          <p:nvPr/>
        </p:nvSpPr>
        <p:spPr>
          <a:xfrm>
            <a:off x="8300309" y="3263830"/>
            <a:ext cx="3823347" cy="3152022"/>
          </a:xfrm>
          <a:prstGeom prst="rect">
            <a:avLst/>
          </a:prstGeom>
        </p:spPr>
        <p:txBody>
          <a:bodyPr vert="horz" wrap="square" lIns="0" tIns="17531" rIns="0" bIns="0" rtlCol="0">
            <a:spAutoFit/>
          </a:bodyPr>
          <a:lstStyle/>
          <a:p>
            <a:pPr marL="15937" marR="6375" algn="just">
              <a:lnSpc>
                <a:spcPct val="99600"/>
              </a:lnSpc>
              <a:spcBef>
                <a:spcPts val="138"/>
              </a:spcBef>
            </a:pPr>
            <a:r>
              <a:rPr sz="2886" spc="-25" dirty="0">
                <a:latin typeface="Gill Sans MT"/>
                <a:cs typeface="Gill Sans MT"/>
              </a:rPr>
              <a:t>Remember </a:t>
            </a:r>
            <a:r>
              <a:rPr sz="2886" spc="-13" dirty="0">
                <a:latin typeface="Gill Sans MT"/>
                <a:cs typeface="Gill Sans MT"/>
              </a:rPr>
              <a:t>that this plot </a:t>
            </a:r>
            <a:r>
              <a:rPr sz="2886" spc="-6" dirty="0">
                <a:latin typeface="Gill Sans MT"/>
                <a:cs typeface="Gill Sans MT"/>
              </a:rPr>
              <a:t> is </a:t>
            </a:r>
            <a:r>
              <a:rPr sz="2886" spc="-19" dirty="0">
                <a:latin typeface="Gill Sans MT"/>
                <a:cs typeface="Gill Sans MT"/>
              </a:rPr>
              <a:t>not necessarily </a:t>
            </a:r>
            <a:r>
              <a:rPr sz="2886" spc="-31" dirty="0">
                <a:latin typeface="Gill Sans MT"/>
                <a:cs typeface="Gill Sans MT"/>
              </a:rPr>
              <a:t>correct, </a:t>
            </a:r>
            <a:r>
              <a:rPr sz="2886" spc="-784" dirty="0">
                <a:latin typeface="Gill Sans MT"/>
                <a:cs typeface="Gill Sans MT"/>
              </a:rPr>
              <a:t> </a:t>
            </a:r>
            <a:r>
              <a:rPr sz="2886" spc="-13" dirty="0">
                <a:latin typeface="Gill Sans MT"/>
                <a:cs typeface="Gill Sans MT"/>
              </a:rPr>
              <a:t>but</a:t>
            </a:r>
            <a:r>
              <a:rPr sz="2886" spc="226" dirty="0">
                <a:latin typeface="Gill Sans MT"/>
                <a:cs typeface="Gill Sans MT"/>
              </a:rPr>
              <a:t> </a:t>
            </a:r>
            <a:r>
              <a:rPr sz="2886" spc="-13" dirty="0">
                <a:latin typeface="Gill Sans MT"/>
                <a:cs typeface="Gill Sans MT"/>
              </a:rPr>
              <a:t>the</a:t>
            </a:r>
            <a:r>
              <a:rPr sz="2886" spc="220" dirty="0">
                <a:latin typeface="Gill Sans MT"/>
                <a:cs typeface="Gill Sans MT"/>
              </a:rPr>
              <a:t> </a:t>
            </a:r>
            <a:r>
              <a:rPr sz="2886" spc="-13" dirty="0">
                <a:latin typeface="Gill Sans MT"/>
                <a:cs typeface="Gill Sans MT"/>
              </a:rPr>
              <a:t>idea</a:t>
            </a:r>
            <a:r>
              <a:rPr sz="2886" spc="220" dirty="0">
                <a:latin typeface="Gill Sans MT"/>
                <a:cs typeface="Gill Sans MT"/>
              </a:rPr>
              <a:t> </a:t>
            </a:r>
            <a:r>
              <a:rPr sz="2886" spc="-13" dirty="0">
                <a:latin typeface="Gill Sans MT"/>
                <a:cs typeface="Gill Sans MT"/>
              </a:rPr>
              <a:t>of</a:t>
            </a:r>
            <a:r>
              <a:rPr sz="2886" spc="232" dirty="0">
                <a:latin typeface="Gill Sans MT"/>
                <a:cs typeface="Gill Sans MT"/>
              </a:rPr>
              <a:t> </a:t>
            </a:r>
            <a:r>
              <a:rPr sz="2886" spc="-19" dirty="0">
                <a:latin typeface="Gill Sans MT"/>
                <a:cs typeface="Gill Sans MT"/>
              </a:rPr>
              <a:t>exploring</a:t>
            </a:r>
            <a:endParaRPr lang="en-US" sz="2886" spc="-19" dirty="0">
              <a:latin typeface="Gill Sans MT"/>
              <a:cs typeface="Gill Sans MT"/>
            </a:endParaRPr>
          </a:p>
          <a:p>
            <a:pPr marL="15937" marR="6375" algn="just">
              <a:lnSpc>
                <a:spcPct val="99600"/>
              </a:lnSpc>
              <a:spcBef>
                <a:spcPts val="138"/>
              </a:spcBef>
            </a:pPr>
            <a:r>
              <a:rPr lang="en-US" sz="2886" dirty="0">
                <a:latin typeface="Gill Sans MT"/>
                <a:cs typeface="Gill Sans MT"/>
              </a:rPr>
              <a:t>a</a:t>
            </a:r>
            <a:r>
              <a:rPr lang="en-US" sz="2886" spc="6" dirty="0">
                <a:latin typeface="Gill Sans MT"/>
                <a:cs typeface="Gill Sans MT"/>
              </a:rPr>
              <a:t> </a:t>
            </a:r>
            <a:r>
              <a:rPr lang="en-US" sz="2886" spc="-25" dirty="0">
                <a:latin typeface="Gill Sans MT"/>
                <a:cs typeface="Gill Sans MT"/>
              </a:rPr>
              <a:t>different</a:t>
            </a:r>
            <a:r>
              <a:rPr lang="en-US" sz="2886" spc="747" dirty="0">
                <a:latin typeface="Gill Sans MT"/>
                <a:cs typeface="Gill Sans MT"/>
              </a:rPr>
              <a:t> </a:t>
            </a:r>
            <a:r>
              <a:rPr lang="en-US" sz="2886" spc="-19" dirty="0">
                <a:latin typeface="Gill Sans MT"/>
                <a:cs typeface="Gill Sans MT"/>
              </a:rPr>
              <a:t>combination </a:t>
            </a:r>
            <a:r>
              <a:rPr lang="en-US" sz="2886" spc="-13" dirty="0">
                <a:latin typeface="Gill Sans MT"/>
                <a:cs typeface="Gill Sans MT"/>
              </a:rPr>
              <a:t> of </a:t>
            </a:r>
            <a:r>
              <a:rPr lang="en-US" sz="2886" spc="-19" dirty="0">
                <a:latin typeface="Gill Sans MT"/>
                <a:cs typeface="Gill Sans MT"/>
              </a:rPr>
              <a:t>bias-vs-variance </a:t>
            </a:r>
            <a:r>
              <a:rPr lang="en-US" sz="2886" spc="-38" dirty="0">
                <a:latin typeface="Gill Sans MT"/>
                <a:cs typeface="Gill Sans MT"/>
              </a:rPr>
              <a:t>error </a:t>
            </a:r>
            <a:r>
              <a:rPr lang="en-US" sz="2886" spc="-31" dirty="0">
                <a:latin typeface="Gill Sans MT"/>
                <a:cs typeface="Gill Sans MT"/>
              </a:rPr>
              <a:t> </a:t>
            </a:r>
            <a:r>
              <a:rPr lang="en-US" sz="2886" spc="-19" dirty="0">
                <a:latin typeface="Gill Sans MT"/>
                <a:cs typeface="Gill Sans MT"/>
              </a:rPr>
              <a:t>budget</a:t>
            </a:r>
            <a:r>
              <a:rPr lang="en-US" sz="2886" spc="-25" dirty="0">
                <a:latin typeface="Gill Sans MT"/>
                <a:cs typeface="Gill Sans MT"/>
              </a:rPr>
              <a:t> </a:t>
            </a:r>
            <a:r>
              <a:rPr lang="en-US" sz="2886" spc="-19" dirty="0">
                <a:latin typeface="Gill Sans MT"/>
                <a:cs typeface="Gill Sans MT"/>
              </a:rPr>
              <a:t>holds.</a:t>
            </a:r>
            <a:endParaRPr lang="en-US" sz="2886" dirty="0">
              <a:latin typeface="Gill Sans MT"/>
              <a:cs typeface="Gill Sans MT"/>
            </a:endParaRPr>
          </a:p>
          <a:p>
            <a:pPr marL="15937" marR="6375" algn="just">
              <a:lnSpc>
                <a:spcPct val="99600"/>
              </a:lnSpc>
              <a:spcBef>
                <a:spcPts val="138"/>
              </a:spcBef>
            </a:pPr>
            <a:endParaRPr sz="2886" dirty="0">
              <a:latin typeface="Gill Sans MT"/>
              <a:cs typeface="Gill Sans MT"/>
            </a:endParaRPr>
          </a:p>
        </p:txBody>
      </p:sp>
      <p:sp>
        <p:nvSpPr>
          <p:cNvPr id="8" name="TextBox 7">
            <a:extLst>
              <a:ext uri="{FF2B5EF4-FFF2-40B4-BE49-F238E27FC236}">
                <a16:creationId xmlns:a16="http://schemas.microsoft.com/office/drawing/2014/main" id="{A6C8BE91-DB01-0940-8245-54B7BC2A96C1}"/>
              </a:ext>
            </a:extLst>
          </p:cNvPr>
          <p:cNvSpPr txBox="1"/>
          <p:nvPr/>
        </p:nvSpPr>
        <p:spPr>
          <a:xfrm>
            <a:off x="8273004" y="9220200"/>
            <a:ext cx="4078809" cy="461665"/>
          </a:xfrm>
          <a:prstGeom prst="rect">
            <a:avLst/>
          </a:prstGeom>
          <a:noFill/>
        </p:spPr>
        <p:txBody>
          <a:bodyPr wrap="none" rtlCol="0">
            <a:spAutoFit/>
          </a:bodyPr>
          <a:lstStyle/>
          <a:p>
            <a:r>
              <a:rPr lang="en-US" sz="2400" dirty="0">
                <a:latin typeface="+mj-lt"/>
              </a:rPr>
              <a:t>Figure from </a:t>
            </a:r>
            <a:r>
              <a:rPr lang="en-US" sz="2400" dirty="0" err="1">
                <a:latin typeface="+mj-lt"/>
              </a:rPr>
              <a:t>Fortman</a:t>
            </a:r>
            <a:r>
              <a:rPr lang="en-US" sz="2400" dirty="0">
                <a:latin typeface="+mj-lt"/>
              </a:rPr>
              <a:t>-Roe 2012</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11744" y="2757325"/>
            <a:ext cx="6581311" cy="3024128"/>
          </a:xfrm>
          <a:prstGeom prst="rect">
            <a:avLst/>
          </a:prstGeom>
        </p:spPr>
        <p:txBody>
          <a:bodyPr vert="horz" wrap="square" lIns="0" tIns="267746" rIns="0" bIns="0" rtlCol="0">
            <a:spAutoFit/>
          </a:bodyPr>
          <a:lstStyle/>
          <a:p>
            <a:pPr marL="63749">
              <a:spcBef>
                <a:spcPts val="2108"/>
              </a:spcBef>
            </a:pPr>
            <a:r>
              <a:rPr sz="3012" spc="38" dirty="0">
                <a:solidFill>
                  <a:schemeClr val="tx1"/>
                </a:solidFill>
                <a:latin typeface="Gill Sans MT"/>
                <a:cs typeface="Gill Sans MT"/>
              </a:rPr>
              <a:t>MSE(x)</a:t>
            </a:r>
            <a:r>
              <a:rPr sz="3012" spc="-132" dirty="0">
                <a:solidFill>
                  <a:schemeClr val="tx1"/>
                </a:solidFill>
                <a:latin typeface="Gill Sans MT"/>
                <a:cs typeface="Gill Sans MT"/>
              </a:rPr>
              <a:t> </a:t>
            </a:r>
            <a:r>
              <a:rPr sz="3012" dirty="0">
                <a:solidFill>
                  <a:schemeClr val="tx1"/>
                </a:solidFill>
                <a:latin typeface="Gill Sans MT"/>
                <a:cs typeface="Gill Sans MT"/>
              </a:rPr>
              <a:t>=</a:t>
            </a:r>
            <a:r>
              <a:rPr sz="3012" spc="25" dirty="0">
                <a:solidFill>
                  <a:schemeClr val="tx1"/>
                </a:solidFill>
                <a:latin typeface="Gill Sans MT"/>
                <a:cs typeface="Gill Sans MT"/>
              </a:rPr>
              <a:t> </a:t>
            </a:r>
            <a:r>
              <a:rPr sz="3012" spc="6" dirty="0">
                <a:solidFill>
                  <a:schemeClr val="tx1"/>
                </a:solidFill>
                <a:latin typeface="Gill Sans MT"/>
                <a:cs typeface="Gill Sans MT"/>
              </a:rPr>
              <a:t>noise(x)</a:t>
            </a:r>
            <a:r>
              <a:rPr sz="3012" spc="13" dirty="0">
                <a:solidFill>
                  <a:schemeClr val="tx1"/>
                </a:solidFill>
                <a:latin typeface="Gill Sans MT"/>
                <a:cs typeface="Gill Sans MT"/>
              </a:rPr>
              <a:t> </a:t>
            </a:r>
            <a:r>
              <a:rPr sz="3012" dirty="0">
                <a:solidFill>
                  <a:schemeClr val="tx1"/>
                </a:solidFill>
                <a:latin typeface="Gill Sans MT"/>
                <a:cs typeface="Gill Sans MT"/>
              </a:rPr>
              <a:t>+</a:t>
            </a:r>
            <a:r>
              <a:rPr sz="3012" spc="13" dirty="0">
                <a:solidFill>
                  <a:schemeClr val="tx1"/>
                </a:solidFill>
                <a:latin typeface="Gill Sans MT"/>
                <a:cs typeface="Gill Sans MT"/>
              </a:rPr>
              <a:t> </a:t>
            </a:r>
            <a:r>
              <a:rPr sz="3012" spc="6" dirty="0">
                <a:solidFill>
                  <a:schemeClr val="tx1"/>
                </a:solidFill>
                <a:latin typeface="Gill Sans MT"/>
                <a:cs typeface="Gill Sans MT"/>
              </a:rPr>
              <a:t>bias</a:t>
            </a:r>
            <a:r>
              <a:rPr sz="3012" spc="9" baseline="24305" dirty="0">
                <a:solidFill>
                  <a:schemeClr val="tx1"/>
                </a:solidFill>
                <a:latin typeface="Gill Sans MT"/>
                <a:cs typeface="Gill Sans MT"/>
              </a:rPr>
              <a:t>2</a:t>
            </a:r>
            <a:r>
              <a:rPr sz="3012" spc="6" dirty="0">
                <a:solidFill>
                  <a:schemeClr val="tx1"/>
                </a:solidFill>
                <a:latin typeface="Gill Sans MT"/>
                <a:cs typeface="Gill Sans MT"/>
              </a:rPr>
              <a:t>(x)</a:t>
            </a:r>
            <a:r>
              <a:rPr sz="3012" spc="13" dirty="0">
                <a:solidFill>
                  <a:schemeClr val="tx1"/>
                </a:solidFill>
                <a:latin typeface="Gill Sans MT"/>
                <a:cs typeface="Gill Sans MT"/>
              </a:rPr>
              <a:t> </a:t>
            </a:r>
            <a:r>
              <a:rPr sz="3012" dirty="0">
                <a:solidFill>
                  <a:schemeClr val="tx1"/>
                </a:solidFill>
                <a:latin typeface="Gill Sans MT"/>
                <a:cs typeface="Gill Sans MT"/>
              </a:rPr>
              <a:t>+</a:t>
            </a:r>
            <a:r>
              <a:rPr sz="3012" spc="19" dirty="0">
                <a:solidFill>
                  <a:schemeClr val="tx1"/>
                </a:solidFill>
                <a:latin typeface="Gill Sans MT"/>
                <a:cs typeface="Gill Sans MT"/>
              </a:rPr>
              <a:t> </a:t>
            </a:r>
            <a:r>
              <a:rPr sz="3012" dirty="0">
                <a:solidFill>
                  <a:schemeClr val="tx1"/>
                </a:solidFill>
                <a:latin typeface="Gill Sans MT"/>
                <a:cs typeface="Gill Sans MT"/>
              </a:rPr>
              <a:t>var(x)</a:t>
            </a:r>
            <a:endParaRPr lang="en-US" sz="3012" spc="6" dirty="0">
              <a:solidFill>
                <a:schemeClr val="tx1"/>
              </a:solidFill>
              <a:latin typeface="Gill Sans MT"/>
              <a:cs typeface="Gill Sans MT"/>
            </a:endParaRPr>
          </a:p>
          <a:p>
            <a:pPr marL="63749">
              <a:spcBef>
                <a:spcPts val="2108"/>
              </a:spcBef>
            </a:pPr>
            <a:r>
              <a:rPr lang="en-US" sz="3012" spc="-6" dirty="0">
                <a:solidFill>
                  <a:schemeClr val="tx1"/>
                </a:solidFill>
                <a:latin typeface="Gill Sans MT"/>
                <a:cs typeface="Gill Sans MT"/>
              </a:rPr>
              <a:t>and</a:t>
            </a:r>
            <a:endParaRPr sz="3012" dirty="0">
              <a:solidFill>
                <a:schemeClr val="tx1"/>
              </a:solidFill>
              <a:latin typeface="Gill Sans MT"/>
              <a:cs typeface="Gill Sans MT"/>
            </a:endParaRPr>
          </a:p>
          <a:p>
            <a:pPr>
              <a:spcBef>
                <a:spcPts val="44"/>
              </a:spcBef>
            </a:pPr>
            <a:endParaRPr sz="3263" dirty="0">
              <a:solidFill>
                <a:schemeClr val="tx1"/>
              </a:solidFill>
              <a:latin typeface="Gill Sans MT"/>
              <a:cs typeface="Gill Sans MT"/>
            </a:endParaRPr>
          </a:p>
          <a:p>
            <a:pPr marL="952249"/>
            <a:r>
              <a:rPr sz="3012" spc="13" dirty="0">
                <a:solidFill>
                  <a:schemeClr val="tx1"/>
                </a:solidFill>
                <a:latin typeface="Gill Sans MT"/>
                <a:cs typeface="Gill Sans MT"/>
              </a:rPr>
              <a:t>no</a:t>
            </a:r>
            <a:r>
              <a:rPr sz="3012" dirty="0">
                <a:solidFill>
                  <a:schemeClr val="tx1"/>
                </a:solidFill>
                <a:latin typeface="Gill Sans MT"/>
                <a:cs typeface="Gill Sans MT"/>
              </a:rPr>
              <a:t>i</a:t>
            </a:r>
            <a:r>
              <a:rPr sz="3012" spc="19" dirty="0">
                <a:solidFill>
                  <a:schemeClr val="tx1"/>
                </a:solidFill>
                <a:latin typeface="Gill Sans MT"/>
                <a:cs typeface="Gill Sans MT"/>
              </a:rPr>
              <a:t>se</a:t>
            </a:r>
            <a:r>
              <a:rPr sz="3012" spc="13" dirty="0">
                <a:solidFill>
                  <a:schemeClr val="tx1"/>
                </a:solidFill>
                <a:latin typeface="Gill Sans MT"/>
                <a:cs typeface="Gill Sans MT"/>
              </a:rPr>
              <a:t>(x</a:t>
            </a:r>
            <a:r>
              <a:rPr sz="3012" dirty="0">
                <a:solidFill>
                  <a:schemeClr val="tx1"/>
                </a:solidFill>
                <a:latin typeface="Gill Sans MT"/>
                <a:cs typeface="Gill Sans MT"/>
              </a:rPr>
              <a:t>)</a:t>
            </a:r>
            <a:r>
              <a:rPr sz="3012" spc="19" dirty="0">
                <a:solidFill>
                  <a:schemeClr val="tx1"/>
                </a:solidFill>
                <a:latin typeface="Gill Sans MT"/>
                <a:cs typeface="Gill Sans MT"/>
              </a:rPr>
              <a:t> </a:t>
            </a:r>
            <a:r>
              <a:rPr sz="3012" dirty="0">
                <a:solidFill>
                  <a:schemeClr val="tx1"/>
                </a:solidFill>
                <a:latin typeface="Gill Sans MT"/>
                <a:cs typeface="Gill Sans MT"/>
              </a:rPr>
              <a:t>=</a:t>
            </a:r>
            <a:r>
              <a:rPr sz="3012" spc="25" dirty="0">
                <a:solidFill>
                  <a:schemeClr val="tx1"/>
                </a:solidFill>
                <a:latin typeface="Gill Sans MT"/>
                <a:cs typeface="Gill Sans MT"/>
              </a:rPr>
              <a:t> </a:t>
            </a:r>
            <a:r>
              <a:rPr sz="3012" spc="13" dirty="0">
                <a:solidFill>
                  <a:schemeClr val="tx1"/>
                </a:solidFill>
                <a:latin typeface="Gill Sans MT"/>
                <a:cs typeface="Gill Sans MT"/>
              </a:rPr>
              <a:t>E</a:t>
            </a:r>
            <a:r>
              <a:rPr sz="3012" spc="-25" dirty="0">
                <a:solidFill>
                  <a:schemeClr val="tx1"/>
                </a:solidFill>
                <a:latin typeface="Gill Sans MT"/>
                <a:cs typeface="Gill Sans MT"/>
              </a:rPr>
              <a:t>r</a:t>
            </a:r>
            <a:r>
              <a:rPr sz="3012" dirty="0">
                <a:solidFill>
                  <a:schemeClr val="tx1"/>
                </a:solidFill>
                <a:latin typeface="Gill Sans MT"/>
                <a:cs typeface="Gill Sans MT"/>
              </a:rPr>
              <a:t>r</a:t>
            </a:r>
            <a:r>
              <a:rPr sz="3012" spc="13" dirty="0">
                <a:solidFill>
                  <a:schemeClr val="tx1"/>
                </a:solidFill>
                <a:latin typeface="Gill Sans MT"/>
                <a:cs typeface="Gill Sans MT"/>
              </a:rPr>
              <a:t> (</a:t>
            </a:r>
            <a:r>
              <a:rPr sz="3012" dirty="0">
                <a:solidFill>
                  <a:schemeClr val="tx1"/>
                </a:solidFill>
                <a:latin typeface="Cambria Math"/>
                <a:cs typeface="Cambria Math"/>
              </a:rPr>
              <a:t>𝒚</a:t>
            </a:r>
            <a:r>
              <a:rPr sz="3012" dirty="0">
                <a:solidFill>
                  <a:schemeClr val="tx1"/>
                </a:solidFill>
                <a:latin typeface="Gill Sans MT"/>
                <a:cs typeface="Gill Sans MT"/>
              </a:rPr>
              <a:t>(</a:t>
            </a:r>
            <a:r>
              <a:rPr sz="3012" spc="300" dirty="0">
                <a:solidFill>
                  <a:schemeClr val="tx1"/>
                </a:solidFill>
                <a:latin typeface="Gill Sans MT"/>
                <a:cs typeface="Gill Sans MT"/>
              </a:rPr>
              <a:t>x</a:t>
            </a:r>
            <a:r>
              <a:rPr sz="3012" spc="13" dirty="0">
                <a:solidFill>
                  <a:schemeClr val="tx1"/>
                </a:solidFill>
                <a:latin typeface="Gill Sans MT"/>
                <a:cs typeface="Gill Sans MT"/>
              </a:rPr>
              <a:t>))</a:t>
            </a:r>
            <a:r>
              <a:rPr sz="3012" dirty="0">
                <a:solidFill>
                  <a:schemeClr val="tx1"/>
                </a:solidFill>
                <a:latin typeface="Gill Sans MT"/>
                <a:cs typeface="Gill Sans MT"/>
              </a:rPr>
              <a:t>,</a:t>
            </a:r>
          </a:p>
          <a:p>
            <a:pPr marL="832720">
              <a:spcBef>
                <a:spcPts val="1023"/>
              </a:spcBef>
            </a:pPr>
            <a:r>
              <a:rPr sz="3012" spc="13" dirty="0">
                <a:solidFill>
                  <a:schemeClr val="tx1"/>
                </a:solidFill>
                <a:latin typeface="Gill Sans MT"/>
                <a:cs typeface="Gill Sans MT"/>
              </a:rPr>
              <a:t>b</a:t>
            </a:r>
            <a:r>
              <a:rPr sz="3012" spc="6" dirty="0">
                <a:solidFill>
                  <a:schemeClr val="tx1"/>
                </a:solidFill>
                <a:latin typeface="Gill Sans MT"/>
                <a:cs typeface="Gill Sans MT"/>
              </a:rPr>
              <a:t>ia</a:t>
            </a:r>
            <a:r>
              <a:rPr sz="3012" spc="13" dirty="0">
                <a:solidFill>
                  <a:schemeClr val="tx1"/>
                </a:solidFill>
                <a:latin typeface="Gill Sans MT"/>
                <a:cs typeface="Gill Sans MT"/>
              </a:rPr>
              <a:t>s</a:t>
            </a:r>
            <a:r>
              <a:rPr sz="3012" spc="9" baseline="27777" dirty="0">
                <a:solidFill>
                  <a:schemeClr val="tx1"/>
                </a:solidFill>
                <a:latin typeface="Gill Sans MT"/>
                <a:cs typeface="Gill Sans MT"/>
              </a:rPr>
              <a:t>2</a:t>
            </a:r>
            <a:r>
              <a:rPr sz="3012" spc="13" dirty="0">
                <a:solidFill>
                  <a:schemeClr val="tx1"/>
                </a:solidFill>
                <a:latin typeface="Gill Sans MT"/>
                <a:cs typeface="Gill Sans MT"/>
              </a:rPr>
              <a:t>(x</a:t>
            </a:r>
            <a:r>
              <a:rPr sz="3012" dirty="0">
                <a:solidFill>
                  <a:schemeClr val="tx1"/>
                </a:solidFill>
                <a:latin typeface="Gill Sans MT"/>
                <a:cs typeface="Gill Sans MT"/>
              </a:rPr>
              <a:t>)</a:t>
            </a:r>
            <a:r>
              <a:rPr sz="3012" spc="19" dirty="0">
                <a:solidFill>
                  <a:schemeClr val="tx1"/>
                </a:solidFill>
                <a:latin typeface="Gill Sans MT"/>
                <a:cs typeface="Gill Sans MT"/>
              </a:rPr>
              <a:t> </a:t>
            </a:r>
            <a:r>
              <a:rPr sz="3012" dirty="0">
                <a:solidFill>
                  <a:schemeClr val="tx1"/>
                </a:solidFill>
                <a:latin typeface="Gill Sans MT"/>
                <a:cs typeface="Gill Sans MT"/>
              </a:rPr>
              <a:t>=</a:t>
            </a:r>
            <a:r>
              <a:rPr sz="3012" spc="25" dirty="0">
                <a:solidFill>
                  <a:schemeClr val="tx1"/>
                </a:solidFill>
                <a:latin typeface="Gill Sans MT"/>
                <a:cs typeface="Gill Sans MT"/>
              </a:rPr>
              <a:t> </a:t>
            </a:r>
            <a:r>
              <a:rPr sz="3012" spc="19" dirty="0">
                <a:solidFill>
                  <a:schemeClr val="tx1"/>
                </a:solidFill>
                <a:latin typeface="Cambria Math"/>
                <a:cs typeface="Cambria Math"/>
              </a:rPr>
              <a:t>𝐄</a:t>
            </a:r>
            <a:r>
              <a:rPr sz="3012" spc="13" dirty="0">
                <a:solidFill>
                  <a:schemeClr val="tx1"/>
                </a:solidFill>
                <a:latin typeface="Cambria Math"/>
                <a:cs typeface="Cambria Math"/>
              </a:rPr>
              <a:t>[</a:t>
            </a:r>
            <a:r>
              <a:rPr sz="3012" dirty="0">
                <a:solidFill>
                  <a:schemeClr val="tx1"/>
                </a:solidFill>
                <a:latin typeface="Cambria Math"/>
                <a:cs typeface="Cambria Math"/>
              </a:rPr>
              <a:t>𝒚</a:t>
            </a:r>
            <a:r>
              <a:rPr sz="3012" spc="6" dirty="0">
                <a:solidFill>
                  <a:schemeClr val="tx1"/>
                </a:solidFill>
                <a:latin typeface="Arial"/>
                <a:cs typeface="Arial"/>
              </a:rPr>
              <a:t>(</a:t>
            </a:r>
            <a:r>
              <a:rPr sz="3012" spc="13" dirty="0">
                <a:solidFill>
                  <a:schemeClr val="tx1"/>
                </a:solidFill>
                <a:latin typeface="Gill Sans MT"/>
                <a:cs typeface="Gill Sans MT"/>
              </a:rPr>
              <a:t>x</a:t>
            </a:r>
            <a:r>
              <a:rPr sz="3012" dirty="0">
                <a:solidFill>
                  <a:schemeClr val="tx1"/>
                </a:solidFill>
                <a:latin typeface="Gill Sans MT"/>
                <a:cs typeface="Gill Sans MT"/>
              </a:rPr>
              <a:t>)</a:t>
            </a:r>
            <a:r>
              <a:rPr sz="3012" spc="19" dirty="0">
                <a:solidFill>
                  <a:schemeClr val="tx1"/>
                </a:solidFill>
                <a:latin typeface="Gill Sans MT"/>
                <a:cs typeface="Gill Sans MT"/>
              </a:rPr>
              <a:t> </a:t>
            </a:r>
            <a:r>
              <a:rPr sz="3012" dirty="0">
                <a:solidFill>
                  <a:schemeClr val="tx1"/>
                </a:solidFill>
                <a:latin typeface="Cambria Math"/>
                <a:cs typeface="Cambria Math"/>
              </a:rPr>
              <a:t>−</a:t>
            </a:r>
            <a:r>
              <a:rPr sz="3012" spc="201" dirty="0">
                <a:solidFill>
                  <a:schemeClr val="tx1"/>
                </a:solidFill>
                <a:latin typeface="Cambria Math"/>
                <a:cs typeface="Cambria Math"/>
              </a:rPr>
              <a:t> </a:t>
            </a:r>
            <a:r>
              <a:rPr sz="3012" spc="6" dirty="0">
                <a:solidFill>
                  <a:schemeClr val="tx1"/>
                </a:solidFill>
                <a:latin typeface="Gill Sans MT"/>
                <a:cs typeface="Gill Sans MT"/>
              </a:rPr>
              <a:t>y</a:t>
            </a:r>
            <a:r>
              <a:rPr sz="3012" spc="13" dirty="0">
                <a:solidFill>
                  <a:schemeClr val="tx1"/>
                </a:solidFill>
                <a:latin typeface="Gill Sans MT"/>
                <a:cs typeface="Gill Sans MT"/>
              </a:rPr>
              <a:t>(x)</a:t>
            </a:r>
            <a:r>
              <a:rPr sz="3012" spc="6" dirty="0">
                <a:solidFill>
                  <a:schemeClr val="tx1"/>
                </a:solidFill>
                <a:latin typeface="Gill Sans MT"/>
                <a:cs typeface="Gill Sans MT"/>
              </a:rPr>
              <a:t>]</a:t>
            </a:r>
            <a:r>
              <a:rPr sz="3012" spc="9" baseline="27777" dirty="0">
                <a:solidFill>
                  <a:schemeClr val="tx1"/>
                </a:solidFill>
                <a:latin typeface="Gill Sans MT"/>
                <a:cs typeface="Gill Sans MT"/>
              </a:rPr>
              <a:t>2</a:t>
            </a:r>
            <a:endParaRPr sz="3012" dirty="0">
              <a:solidFill>
                <a:schemeClr val="tx1"/>
              </a:solidFill>
              <a:latin typeface="Gill Sans MT"/>
              <a:cs typeface="Gill Sans MT"/>
            </a:endParaRPr>
          </a:p>
        </p:txBody>
      </p:sp>
      <p:sp>
        <p:nvSpPr>
          <p:cNvPr id="3" name="object 3"/>
          <p:cNvSpPr/>
          <p:nvPr/>
        </p:nvSpPr>
        <p:spPr>
          <a:xfrm>
            <a:off x="7415804" y="6281963"/>
            <a:ext cx="1067796" cy="31875"/>
          </a:xfrm>
          <a:custGeom>
            <a:avLst/>
            <a:gdLst/>
            <a:ahLst/>
            <a:cxnLst/>
            <a:rect l="l" t="t" r="r" b="b"/>
            <a:pathLst>
              <a:path w="850900" h="25400">
                <a:moveTo>
                  <a:pt x="850900" y="0"/>
                </a:moveTo>
                <a:lnTo>
                  <a:pt x="0" y="0"/>
                </a:lnTo>
                <a:lnTo>
                  <a:pt x="0" y="25399"/>
                </a:lnTo>
                <a:lnTo>
                  <a:pt x="850900" y="25399"/>
                </a:lnTo>
                <a:lnTo>
                  <a:pt x="850900" y="0"/>
                </a:lnTo>
                <a:close/>
              </a:path>
            </a:pathLst>
          </a:custGeom>
          <a:solidFill>
            <a:srgbClr val="FF0000"/>
          </a:solidFill>
        </p:spPr>
        <p:txBody>
          <a:bodyPr wrap="square" lIns="0" tIns="0" rIns="0" bIns="0" rtlCol="0"/>
          <a:lstStyle/>
          <a:p>
            <a:endParaRPr sz="4016"/>
          </a:p>
        </p:txBody>
      </p:sp>
      <p:sp>
        <p:nvSpPr>
          <p:cNvPr id="4" name="object 4"/>
          <p:cNvSpPr txBox="1"/>
          <p:nvPr/>
        </p:nvSpPr>
        <p:spPr>
          <a:xfrm>
            <a:off x="3961799" y="5948248"/>
            <a:ext cx="5831255" cy="479617"/>
          </a:xfrm>
          <a:prstGeom prst="rect">
            <a:avLst/>
          </a:prstGeom>
        </p:spPr>
        <p:txBody>
          <a:bodyPr vert="horz" wrap="square" lIns="0" tIns="15937" rIns="0" bIns="0" rtlCol="0">
            <a:spAutoFit/>
          </a:bodyPr>
          <a:lstStyle/>
          <a:p>
            <a:pPr marL="47812">
              <a:spcBef>
                <a:spcPts val="125"/>
              </a:spcBef>
              <a:tabLst>
                <a:tab pos="4474377" algn="l"/>
              </a:tabLst>
            </a:pPr>
            <a:r>
              <a:rPr sz="3012" dirty="0">
                <a:solidFill>
                  <a:srgbClr val="FF0000"/>
                </a:solidFill>
                <a:latin typeface="Gill Sans MT"/>
                <a:cs typeface="Gill Sans MT"/>
              </a:rPr>
              <a:t>var(</a:t>
            </a:r>
            <a:r>
              <a:rPr sz="3012" spc="-75" dirty="0">
                <a:solidFill>
                  <a:srgbClr val="FF0000"/>
                </a:solidFill>
                <a:latin typeface="Gill Sans MT"/>
                <a:cs typeface="Gill Sans MT"/>
              </a:rPr>
              <a:t>x</a:t>
            </a:r>
            <a:r>
              <a:rPr sz="3012" dirty="0">
                <a:solidFill>
                  <a:srgbClr val="FF0000"/>
                </a:solidFill>
                <a:latin typeface="Gill Sans MT"/>
                <a:cs typeface="Gill Sans MT"/>
              </a:rPr>
              <a:t>)</a:t>
            </a:r>
            <a:r>
              <a:rPr sz="3012" spc="-195" dirty="0">
                <a:solidFill>
                  <a:srgbClr val="FF0000"/>
                </a:solidFill>
                <a:latin typeface="Gill Sans MT"/>
                <a:cs typeface="Gill Sans MT"/>
              </a:rPr>
              <a:t> </a:t>
            </a:r>
            <a:r>
              <a:rPr sz="3012" dirty="0">
                <a:solidFill>
                  <a:srgbClr val="FF0000"/>
                </a:solidFill>
                <a:latin typeface="Gill Sans MT"/>
                <a:cs typeface="Gill Sans MT"/>
              </a:rPr>
              <a:t>=</a:t>
            </a:r>
            <a:r>
              <a:rPr sz="3012" spc="100" dirty="0">
                <a:solidFill>
                  <a:srgbClr val="FF0000"/>
                </a:solidFill>
                <a:latin typeface="Gill Sans MT"/>
                <a:cs typeface="Gill Sans MT"/>
              </a:rPr>
              <a:t> </a:t>
            </a:r>
            <a:r>
              <a:rPr sz="3012" spc="-69" dirty="0">
                <a:solidFill>
                  <a:srgbClr val="FF0000"/>
                </a:solidFill>
                <a:latin typeface="Calibri"/>
                <a:cs typeface="Calibri"/>
              </a:rPr>
              <a:t>ρ</a:t>
            </a:r>
            <a:r>
              <a:rPr sz="3012" spc="-69" dirty="0">
                <a:solidFill>
                  <a:srgbClr val="FF0000"/>
                </a:solidFill>
                <a:latin typeface="Gill Sans MT"/>
                <a:cs typeface="Gill Sans MT"/>
              </a:rPr>
              <a:t>(x</a:t>
            </a:r>
            <a:r>
              <a:rPr sz="3012" dirty="0">
                <a:solidFill>
                  <a:srgbClr val="FF0000"/>
                </a:solidFill>
                <a:latin typeface="Gill Sans MT"/>
                <a:cs typeface="Gill Sans MT"/>
              </a:rPr>
              <a:t>)</a:t>
            </a:r>
            <a:r>
              <a:rPr sz="3012" spc="-143" dirty="0">
                <a:solidFill>
                  <a:srgbClr val="FF0000"/>
                </a:solidFill>
                <a:latin typeface="Gill Sans MT"/>
                <a:cs typeface="Gill Sans MT"/>
              </a:rPr>
              <a:t> </a:t>
            </a:r>
            <a:r>
              <a:rPr sz="3012" dirty="0">
                <a:solidFill>
                  <a:srgbClr val="FF0000"/>
                </a:solidFill>
                <a:latin typeface="Calibri"/>
                <a:cs typeface="Calibri"/>
              </a:rPr>
              <a:t>σ</a:t>
            </a:r>
            <a:r>
              <a:rPr sz="3012" spc="13" dirty="0">
                <a:solidFill>
                  <a:srgbClr val="FF0000"/>
                </a:solidFill>
                <a:latin typeface="Calibri"/>
                <a:cs typeface="Calibri"/>
              </a:rPr>
              <a:t> </a:t>
            </a:r>
            <a:r>
              <a:rPr sz="3012" spc="-112" baseline="27777" dirty="0">
                <a:solidFill>
                  <a:srgbClr val="FF0000"/>
                </a:solidFill>
                <a:latin typeface="Gill Sans MT"/>
                <a:cs typeface="Gill Sans MT"/>
              </a:rPr>
              <a:t>2</a:t>
            </a:r>
            <a:r>
              <a:rPr sz="3012" spc="-50" dirty="0">
                <a:solidFill>
                  <a:srgbClr val="FF0000"/>
                </a:solidFill>
                <a:latin typeface="Gill Sans MT"/>
                <a:cs typeface="Gill Sans MT"/>
              </a:rPr>
              <a:t>(x</a:t>
            </a:r>
            <a:r>
              <a:rPr sz="3012" dirty="0">
                <a:solidFill>
                  <a:srgbClr val="FF0000"/>
                </a:solidFill>
                <a:latin typeface="Gill Sans MT"/>
                <a:cs typeface="Gill Sans MT"/>
              </a:rPr>
              <a:t>)</a:t>
            </a:r>
            <a:r>
              <a:rPr sz="3012" spc="-408" dirty="0">
                <a:solidFill>
                  <a:srgbClr val="FF0000"/>
                </a:solidFill>
                <a:latin typeface="Gill Sans MT"/>
                <a:cs typeface="Gill Sans MT"/>
              </a:rPr>
              <a:t> </a:t>
            </a:r>
            <a:r>
              <a:rPr sz="3012" dirty="0">
                <a:solidFill>
                  <a:srgbClr val="FF0000"/>
                </a:solidFill>
                <a:latin typeface="Gill Sans MT"/>
                <a:cs typeface="Gill Sans MT"/>
              </a:rPr>
              <a:t>+</a:t>
            </a:r>
            <a:r>
              <a:rPr sz="3012" spc="-119" dirty="0">
                <a:solidFill>
                  <a:srgbClr val="FF0000"/>
                </a:solidFill>
                <a:latin typeface="Gill Sans MT"/>
                <a:cs typeface="Gill Sans MT"/>
              </a:rPr>
              <a:t> </a:t>
            </a:r>
            <a:r>
              <a:rPr sz="3388" spc="178" baseline="43209" dirty="0">
                <a:solidFill>
                  <a:srgbClr val="FF0000"/>
                </a:solidFill>
                <a:latin typeface="Cambria Math"/>
                <a:cs typeface="Cambria Math"/>
              </a:rPr>
              <a:t>𝟏</a:t>
            </a:r>
            <a:r>
              <a:rPr lang="en-US" sz="3388" spc="1289" baseline="43209" dirty="0">
                <a:solidFill>
                  <a:srgbClr val="FF0000"/>
                </a:solidFill>
                <a:latin typeface="Cambria Math"/>
                <a:cs typeface="Cambria Math"/>
              </a:rPr>
              <a:t> -</a:t>
            </a:r>
            <a:r>
              <a:rPr sz="3388" spc="169" baseline="43209" dirty="0">
                <a:solidFill>
                  <a:srgbClr val="FF0000"/>
                </a:solidFill>
                <a:latin typeface="Cambria Math"/>
                <a:cs typeface="Cambria Math"/>
              </a:rPr>
              <a:t>𝝆</a:t>
            </a:r>
            <a:r>
              <a:rPr sz="3388" spc="188" baseline="43209" dirty="0">
                <a:solidFill>
                  <a:srgbClr val="FF0000"/>
                </a:solidFill>
                <a:latin typeface="Cambria Math"/>
                <a:cs typeface="Cambria Math"/>
              </a:rPr>
              <a:t>(</a:t>
            </a:r>
            <a:r>
              <a:rPr sz="3388" spc="178" baseline="43209" dirty="0">
                <a:solidFill>
                  <a:srgbClr val="FF0000"/>
                </a:solidFill>
                <a:latin typeface="Cambria Math"/>
                <a:cs typeface="Cambria Math"/>
              </a:rPr>
              <a:t>𝒙</a:t>
            </a:r>
            <a:r>
              <a:rPr sz="3388" baseline="43209" dirty="0">
                <a:solidFill>
                  <a:srgbClr val="FF0000"/>
                </a:solidFill>
                <a:latin typeface="Cambria Math"/>
                <a:cs typeface="Cambria Math"/>
              </a:rPr>
              <a:t>)	</a:t>
            </a:r>
            <a:r>
              <a:rPr lang="en-US" sz="3388" baseline="43209" dirty="0">
                <a:solidFill>
                  <a:srgbClr val="FF0000"/>
                </a:solidFill>
                <a:latin typeface="Cambria Math"/>
                <a:cs typeface="Cambria Math"/>
              </a:rPr>
              <a:t>  </a:t>
            </a:r>
            <a:r>
              <a:rPr sz="3012" dirty="0" err="1">
                <a:solidFill>
                  <a:srgbClr val="FF0000"/>
                </a:solidFill>
                <a:latin typeface="Calibri"/>
                <a:cs typeface="Calibri"/>
              </a:rPr>
              <a:t>σ</a:t>
            </a:r>
            <a:r>
              <a:rPr sz="3012" spc="-163" dirty="0">
                <a:solidFill>
                  <a:srgbClr val="FF0000"/>
                </a:solidFill>
                <a:latin typeface="Calibri"/>
                <a:cs typeface="Calibri"/>
              </a:rPr>
              <a:t> </a:t>
            </a:r>
            <a:r>
              <a:rPr sz="3012" baseline="22569" dirty="0">
                <a:solidFill>
                  <a:srgbClr val="FF0000"/>
                </a:solidFill>
                <a:latin typeface="Gill Sans MT"/>
                <a:cs typeface="Gill Sans MT"/>
              </a:rPr>
              <a:t>2</a:t>
            </a:r>
            <a:r>
              <a:rPr sz="3012" spc="9" baseline="22569" dirty="0">
                <a:solidFill>
                  <a:srgbClr val="FF0000"/>
                </a:solidFill>
                <a:latin typeface="Gill Sans MT"/>
                <a:cs typeface="Gill Sans MT"/>
              </a:rPr>
              <a:t> </a:t>
            </a:r>
            <a:r>
              <a:rPr sz="3012" spc="-213" dirty="0">
                <a:solidFill>
                  <a:srgbClr val="FF0000"/>
                </a:solidFill>
                <a:latin typeface="Gill Sans MT"/>
                <a:cs typeface="Gill Sans MT"/>
              </a:rPr>
              <a:t>(x)</a:t>
            </a:r>
            <a:endParaRPr sz="3012" dirty="0">
              <a:latin typeface="Gill Sans MT"/>
              <a:cs typeface="Gill Sans MT"/>
            </a:endParaRPr>
          </a:p>
        </p:txBody>
      </p:sp>
      <p:sp>
        <p:nvSpPr>
          <p:cNvPr id="5" name="object 5"/>
          <p:cNvSpPr txBox="1"/>
          <p:nvPr/>
        </p:nvSpPr>
        <p:spPr>
          <a:xfrm>
            <a:off x="1938566" y="6281963"/>
            <a:ext cx="9482667" cy="2030065"/>
          </a:xfrm>
          <a:prstGeom prst="rect">
            <a:avLst/>
          </a:prstGeom>
        </p:spPr>
        <p:txBody>
          <a:bodyPr vert="horz" wrap="square" lIns="0" tIns="200809" rIns="0" bIns="0" rtlCol="0">
            <a:spAutoFit/>
          </a:bodyPr>
          <a:lstStyle/>
          <a:p>
            <a:pPr marL="1367414">
              <a:spcBef>
                <a:spcPts val="1581"/>
              </a:spcBef>
            </a:pPr>
            <a:r>
              <a:rPr lang="en-US" sz="2600" dirty="0">
                <a:solidFill>
                  <a:srgbClr val="FF0000"/>
                </a:solidFill>
                <a:latin typeface="+mn-lt"/>
                <a:cs typeface="Cambria Math"/>
              </a:rPr>
              <a:t>                </a:t>
            </a:r>
            <a:endParaRPr sz="2600" dirty="0">
              <a:latin typeface="+mn-lt"/>
              <a:cs typeface="Cambria Math"/>
            </a:endParaRPr>
          </a:p>
          <a:p>
            <a:pPr marL="15937" marR="6375" indent="2391">
              <a:lnSpc>
                <a:spcPct val="105200"/>
              </a:lnSpc>
              <a:spcBef>
                <a:spcPts val="1537"/>
              </a:spcBef>
            </a:pPr>
            <a:r>
              <a:rPr lang="en-US" sz="2600" dirty="0">
                <a:solidFill>
                  <a:schemeClr val="tx1"/>
                </a:solidFill>
                <a:latin typeface="+mn-lt"/>
                <a:cs typeface="Calibri"/>
              </a:rPr>
              <a:t>where </a:t>
            </a:r>
            <a:r>
              <a:rPr sz="2600" dirty="0" err="1">
                <a:solidFill>
                  <a:schemeClr val="tx1"/>
                </a:solidFill>
                <a:latin typeface="+mn-lt"/>
                <a:cs typeface="Calibri"/>
              </a:rPr>
              <a:t>σ</a:t>
            </a:r>
            <a:r>
              <a:rPr sz="2600" spc="576" dirty="0">
                <a:solidFill>
                  <a:schemeClr val="tx1"/>
                </a:solidFill>
                <a:latin typeface="+mn-lt"/>
                <a:cs typeface="Calibri"/>
              </a:rPr>
              <a:t> </a:t>
            </a:r>
            <a:r>
              <a:rPr sz="2600" dirty="0">
                <a:solidFill>
                  <a:schemeClr val="tx1"/>
                </a:solidFill>
                <a:latin typeface="+mn-lt"/>
                <a:cs typeface="Gill Sans MT"/>
              </a:rPr>
              <a:t>is</a:t>
            </a:r>
            <a:r>
              <a:rPr sz="2600" spc="13" dirty="0">
                <a:solidFill>
                  <a:schemeClr val="tx1"/>
                </a:solidFill>
                <a:latin typeface="+mn-lt"/>
                <a:cs typeface="Gill Sans MT"/>
              </a:rPr>
              <a:t> </a:t>
            </a:r>
            <a:r>
              <a:rPr sz="2600" spc="6" dirty="0">
                <a:solidFill>
                  <a:schemeClr val="tx1"/>
                </a:solidFill>
                <a:latin typeface="+mn-lt"/>
                <a:cs typeface="Gill Sans MT"/>
              </a:rPr>
              <a:t>the</a:t>
            </a:r>
            <a:r>
              <a:rPr sz="2600" spc="19" dirty="0">
                <a:solidFill>
                  <a:schemeClr val="tx1"/>
                </a:solidFill>
                <a:latin typeface="+mn-lt"/>
                <a:cs typeface="Gill Sans MT"/>
              </a:rPr>
              <a:t> </a:t>
            </a:r>
            <a:r>
              <a:rPr sz="2600" spc="6" dirty="0">
                <a:solidFill>
                  <a:schemeClr val="tx1"/>
                </a:solidFill>
                <a:latin typeface="+mn-lt"/>
                <a:cs typeface="Gill Sans MT"/>
              </a:rPr>
              <a:t>variance</a:t>
            </a:r>
            <a:r>
              <a:rPr sz="2600" spc="13" dirty="0">
                <a:solidFill>
                  <a:schemeClr val="tx1"/>
                </a:solidFill>
                <a:latin typeface="+mn-lt"/>
                <a:cs typeface="Gill Sans MT"/>
              </a:rPr>
              <a:t> </a:t>
            </a:r>
            <a:r>
              <a:rPr sz="2600" spc="6" dirty="0">
                <a:solidFill>
                  <a:schemeClr val="tx1"/>
                </a:solidFill>
                <a:latin typeface="+mn-lt"/>
                <a:cs typeface="Gill Sans MT"/>
              </a:rPr>
              <a:t>of</a:t>
            </a:r>
            <a:r>
              <a:rPr sz="2600" spc="13" dirty="0">
                <a:solidFill>
                  <a:schemeClr val="tx1"/>
                </a:solidFill>
                <a:latin typeface="+mn-lt"/>
                <a:cs typeface="Gill Sans MT"/>
              </a:rPr>
              <a:t> </a:t>
            </a:r>
            <a:r>
              <a:rPr sz="2600" dirty="0">
                <a:solidFill>
                  <a:schemeClr val="tx1"/>
                </a:solidFill>
                <a:latin typeface="+mn-lt"/>
                <a:cs typeface="Gill Sans MT"/>
              </a:rPr>
              <a:t>a</a:t>
            </a:r>
            <a:r>
              <a:rPr sz="2600" spc="25" dirty="0">
                <a:solidFill>
                  <a:schemeClr val="tx1"/>
                </a:solidFill>
                <a:latin typeface="+mn-lt"/>
                <a:cs typeface="Gill Sans MT"/>
              </a:rPr>
              <a:t> </a:t>
            </a:r>
            <a:r>
              <a:rPr sz="2600" dirty="0">
                <a:solidFill>
                  <a:schemeClr val="tx1"/>
                </a:solidFill>
                <a:latin typeface="+mn-lt"/>
                <a:cs typeface="Gill Sans MT"/>
              </a:rPr>
              <a:t>single</a:t>
            </a:r>
            <a:r>
              <a:rPr sz="2600" spc="13" dirty="0">
                <a:solidFill>
                  <a:schemeClr val="tx1"/>
                </a:solidFill>
                <a:latin typeface="+mn-lt"/>
                <a:cs typeface="Gill Sans MT"/>
              </a:rPr>
              <a:t> </a:t>
            </a:r>
            <a:r>
              <a:rPr sz="2600" spc="-6" dirty="0">
                <a:solidFill>
                  <a:schemeClr val="tx1"/>
                </a:solidFill>
                <a:latin typeface="+mn-lt"/>
                <a:cs typeface="Gill Sans MT"/>
              </a:rPr>
              <a:t>tree</a:t>
            </a:r>
            <a:r>
              <a:rPr lang="en-US" sz="2600" spc="-6" dirty="0">
                <a:solidFill>
                  <a:schemeClr val="tx1"/>
                </a:solidFill>
                <a:latin typeface="+mn-lt"/>
                <a:cs typeface="Gill Sans MT"/>
              </a:rPr>
              <a:t>,</a:t>
            </a:r>
            <a:r>
              <a:rPr lang="en-US" sz="2600" spc="-264" dirty="0">
                <a:solidFill>
                  <a:schemeClr val="tx1"/>
                </a:solidFill>
                <a:latin typeface="+mn-lt"/>
                <a:cs typeface="Gill Sans MT"/>
              </a:rPr>
              <a:t>  </a:t>
            </a:r>
            <a:r>
              <a:rPr sz="2600" dirty="0">
                <a:solidFill>
                  <a:schemeClr val="tx1"/>
                </a:solidFill>
                <a:latin typeface="+mn-lt"/>
                <a:cs typeface="Gill Sans MT"/>
              </a:rPr>
              <a:t>M</a:t>
            </a:r>
            <a:r>
              <a:rPr sz="2600" spc="31" dirty="0">
                <a:solidFill>
                  <a:schemeClr val="tx1"/>
                </a:solidFill>
                <a:latin typeface="+mn-lt"/>
                <a:cs typeface="Gill Sans MT"/>
              </a:rPr>
              <a:t> </a:t>
            </a:r>
            <a:r>
              <a:rPr sz="2600" dirty="0">
                <a:solidFill>
                  <a:schemeClr val="tx1"/>
                </a:solidFill>
                <a:latin typeface="+mn-lt"/>
                <a:cs typeface="Gill Sans MT"/>
              </a:rPr>
              <a:t>is</a:t>
            </a:r>
            <a:r>
              <a:rPr sz="2600" spc="13" dirty="0">
                <a:solidFill>
                  <a:schemeClr val="tx1"/>
                </a:solidFill>
                <a:latin typeface="+mn-lt"/>
                <a:cs typeface="Gill Sans MT"/>
              </a:rPr>
              <a:t> </a:t>
            </a:r>
            <a:r>
              <a:rPr sz="2600" spc="6" dirty="0">
                <a:solidFill>
                  <a:schemeClr val="tx1"/>
                </a:solidFill>
                <a:latin typeface="+mn-lt"/>
                <a:cs typeface="Gill Sans MT"/>
              </a:rPr>
              <a:t>the</a:t>
            </a:r>
            <a:r>
              <a:rPr sz="2600" spc="13" dirty="0">
                <a:solidFill>
                  <a:schemeClr val="tx1"/>
                </a:solidFill>
                <a:latin typeface="+mn-lt"/>
                <a:cs typeface="Gill Sans MT"/>
              </a:rPr>
              <a:t> </a:t>
            </a:r>
            <a:r>
              <a:rPr sz="2600" dirty="0">
                <a:solidFill>
                  <a:schemeClr val="tx1"/>
                </a:solidFill>
                <a:latin typeface="+mn-lt"/>
                <a:cs typeface="Gill Sans MT"/>
              </a:rPr>
              <a:t>number</a:t>
            </a:r>
            <a:r>
              <a:rPr sz="2600" spc="25" dirty="0">
                <a:solidFill>
                  <a:schemeClr val="tx1"/>
                </a:solidFill>
                <a:latin typeface="+mn-lt"/>
                <a:cs typeface="Gill Sans MT"/>
              </a:rPr>
              <a:t> </a:t>
            </a:r>
            <a:r>
              <a:rPr sz="2600" spc="6" dirty="0">
                <a:solidFill>
                  <a:schemeClr val="tx1"/>
                </a:solidFill>
                <a:latin typeface="+mn-lt"/>
                <a:cs typeface="Gill Sans MT"/>
              </a:rPr>
              <a:t>of</a:t>
            </a:r>
            <a:r>
              <a:rPr sz="2600" spc="13" dirty="0">
                <a:solidFill>
                  <a:schemeClr val="tx1"/>
                </a:solidFill>
                <a:latin typeface="+mn-lt"/>
                <a:cs typeface="Gill Sans MT"/>
              </a:rPr>
              <a:t> </a:t>
            </a:r>
            <a:r>
              <a:rPr sz="2600" spc="-6" dirty="0">
                <a:solidFill>
                  <a:schemeClr val="tx1"/>
                </a:solidFill>
                <a:latin typeface="+mn-lt"/>
                <a:cs typeface="Gill Sans MT"/>
              </a:rPr>
              <a:t>trees,</a:t>
            </a:r>
            <a:r>
              <a:rPr sz="2600" spc="-256" dirty="0">
                <a:solidFill>
                  <a:schemeClr val="tx1"/>
                </a:solidFill>
                <a:latin typeface="+mn-lt"/>
                <a:cs typeface="Gill Sans MT"/>
              </a:rPr>
              <a:t> </a:t>
            </a:r>
            <a:r>
              <a:rPr lang="en-US" sz="2600" spc="-256" dirty="0">
                <a:solidFill>
                  <a:schemeClr val="tx1"/>
                </a:solidFill>
                <a:latin typeface="+mn-lt"/>
                <a:cs typeface="Gill Sans MT"/>
              </a:rPr>
              <a:t> </a:t>
            </a:r>
            <a:r>
              <a:rPr sz="2600" dirty="0">
                <a:solidFill>
                  <a:schemeClr val="tx1"/>
                </a:solidFill>
                <a:latin typeface="+mn-lt"/>
                <a:cs typeface="Gill Sans MT"/>
              </a:rPr>
              <a:t>and </a:t>
            </a:r>
            <a:r>
              <a:rPr sz="2600" dirty="0">
                <a:solidFill>
                  <a:schemeClr val="tx1"/>
                </a:solidFill>
                <a:latin typeface="+mn-lt"/>
                <a:cs typeface="Verdana"/>
              </a:rPr>
              <a:t>ρ</a:t>
            </a:r>
            <a:r>
              <a:rPr sz="2600" dirty="0">
                <a:solidFill>
                  <a:schemeClr val="tx1"/>
                </a:solidFill>
                <a:latin typeface="+mn-lt"/>
                <a:cs typeface="Gill Sans MT"/>
              </a:rPr>
              <a:t>(x)  is</a:t>
            </a:r>
            <a:r>
              <a:rPr sz="2600" spc="6" dirty="0">
                <a:solidFill>
                  <a:schemeClr val="tx1"/>
                </a:solidFill>
                <a:latin typeface="+mn-lt"/>
                <a:cs typeface="Gill Sans MT"/>
              </a:rPr>
              <a:t> the </a:t>
            </a:r>
            <a:r>
              <a:rPr sz="2600" dirty="0">
                <a:solidFill>
                  <a:schemeClr val="tx1"/>
                </a:solidFill>
                <a:latin typeface="+mn-lt"/>
                <a:cs typeface="Gill Sans MT"/>
              </a:rPr>
              <a:t>Pearson</a:t>
            </a:r>
            <a:r>
              <a:rPr sz="2600" spc="13" dirty="0">
                <a:solidFill>
                  <a:schemeClr val="tx1"/>
                </a:solidFill>
                <a:latin typeface="+mn-lt"/>
                <a:cs typeface="Gill Sans MT"/>
              </a:rPr>
              <a:t> </a:t>
            </a:r>
            <a:r>
              <a:rPr sz="2600" dirty="0">
                <a:solidFill>
                  <a:schemeClr val="tx1"/>
                </a:solidFill>
                <a:latin typeface="+mn-lt"/>
                <a:cs typeface="Gill Sans MT"/>
              </a:rPr>
              <a:t>correlation</a:t>
            </a:r>
            <a:r>
              <a:rPr sz="2600" spc="19" dirty="0">
                <a:solidFill>
                  <a:schemeClr val="tx1"/>
                </a:solidFill>
                <a:latin typeface="+mn-lt"/>
                <a:cs typeface="Gill Sans MT"/>
              </a:rPr>
              <a:t> </a:t>
            </a:r>
            <a:r>
              <a:rPr sz="2600" spc="6" dirty="0">
                <a:solidFill>
                  <a:schemeClr val="tx1"/>
                </a:solidFill>
                <a:latin typeface="+mn-lt"/>
                <a:cs typeface="Gill Sans MT"/>
              </a:rPr>
              <a:t>coefficient</a:t>
            </a:r>
            <a:r>
              <a:rPr sz="2600" spc="13" dirty="0">
                <a:solidFill>
                  <a:schemeClr val="tx1"/>
                </a:solidFill>
                <a:latin typeface="+mn-lt"/>
                <a:cs typeface="Gill Sans MT"/>
              </a:rPr>
              <a:t> </a:t>
            </a:r>
            <a:r>
              <a:rPr sz="2600" dirty="0">
                <a:solidFill>
                  <a:schemeClr val="tx1"/>
                </a:solidFill>
                <a:latin typeface="+mn-lt"/>
                <a:cs typeface="Gill Sans MT"/>
              </a:rPr>
              <a:t>between</a:t>
            </a:r>
            <a:r>
              <a:rPr sz="2600" spc="13" dirty="0">
                <a:solidFill>
                  <a:schemeClr val="tx1"/>
                </a:solidFill>
                <a:latin typeface="+mn-lt"/>
                <a:cs typeface="Gill Sans MT"/>
              </a:rPr>
              <a:t> </a:t>
            </a:r>
            <a:r>
              <a:rPr sz="2600" spc="6" dirty="0">
                <a:solidFill>
                  <a:schemeClr val="tx1"/>
                </a:solidFill>
                <a:latin typeface="+mn-lt"/>
                <a:cs typeface="Gill Sans MT"/>
              </a:rPr>
              <a:t>the</a:t>
            </a:r>
            <a:r>
              <a:rPr sz="2600" spc="13" dirty="0">
                <a:solidFill>
                  <a:schemeClr val="tx1"/>
                </a:solidFill>
                <a:latin typeface="+mn-lt"/>
                <a:cs typeface="Gill Sans MT"/>
              </a:rPr>
              <a:t> </a:t>
            </a:r>
            <a:r>
              <a:rPr sz="2600" dirty="0">
                <a:solidFill>
                  <a:schemeClr val="tx1"/>
                </a:solidFill>
                <a:latin typeface="+mn-lt"/>
                <a:cs typeface="Gill Sans MT"/>
              </a:rPr>
              <a:t>predictions</a:t>
            </a:r>
            <a:r>
              <a:rPr sz="2600" spc="6" dirty="0">
                <a:solidFill>
                  <a:schemeClr val="tx1"/>
                </a:solidFill>
                <a:latin typeface="+mn-lt"/>
                <a:cs typeface="Gill Sans MT"/>
              </a:rPr>
              <a:t> of </a:t>
            </a:r>
            <a:r>
              <a:rPr lang="en-US" sz="2600" spc="6" dirty="0">
                <a:solidFill>
                  <a:schemeClr val="tx1"/>
                </a:solidFill>
                <a:latin typeface="+mn-lt"/>
                <a:cs typeface="Gill Sans MT"/>
              </a:rPr>
              <a:t>two ra</a:t>
            </a:r>
            <a:r>
              <a:rPr sz="2600" spc="6" dirty="0">
                <a:solidFill>
                  <a:schemeClr val="tx1"/>
                </a:solidFill>
                <a:latin typeface="+mn-lt"/>
                <a:cs typeface="Gill Sans MT"/>
              </a:rPr>
              <a:t>ndomized</a:t>
            </a:r>
            <a:r>
              <a:rPr sz="2600" spc="13" dirty="0">
                <a:solidFill>
                  <a:schemeClr val="tx1"/>
                </a:solidFill>
                <a:latin typeface="+mn-lt"/>
                <a:cs typeface="Gill Sans MT"/>
              </a:rPr>
              <a:t> </a:t>
            </a:r>
            <a:r>
              <a:rPr sz="2600" spc="-6" dirty="0">
                <a:solidFill>
                  <a:schemeClr val="tx1"/>
                </a:solidFill>
                <a:latin typeface="+mn-lt"/>
                <a:cs typeface="Gill Sans MT"/>
              </a:rPr>
              <a:t>trees</a:t>
            </a:r>
            <a:r>
              <a:rPr sz="2600" spc="6" dirty="0">
                <a:solidFill>
                  <a:schemeClr val="tx1"/>
                </a:solidFill>
                <a:latin typeface="+mn-lt"/>
                <a:cs typeface="Gill Sans MT"/>
              </a:rPr>
              <a:t> </a:t>
            </a:r>
            <a:r>
              <a:rPr sz="2600" dirty="0">
                <a:solidFill>
                  <a:schemeClr val="tx1"/>
                </a:solidFill>
                <a:latin typeface="+mn-lt"/>
                <a:cs typeface="Gill Sans MT"/>
              </a:rPr>
              <a:t>built</a:t>
            </a:r>
            <a:r>
              <a:rPr sz="2600" spc="19" dirty="0">
                <a:solidFill>
                  <a:schemeClr val="tx1"/>
                </a:solidFill>
                <a:latin typeface="+mn-lt"/>
                <a:cs typeface="Gill Sans MT"/>
              </a:rPr>
              <a:t> </a:t>
            </a:r>
            <a:r>
              <a:rPr sz="2600" spc="6" dirty="0">
                <a:solidFill>
                  <a:schemeClr val="tx1"/>
                </a:solidFill>
                <a:latin typeface="+mn-lt"/>
                <a:cs typeface="Gill Sans MT"/>
              </a:rPr>
              <a:t>on</a:t>
            </a:r>
            <a:r>
              <a:rPr sz="2600" spc="19" dirty="0">
                <a:solidFill>
                  <a:schemeClr val="tx1"/>
                </a:solidFill>
                <a:latin typeface="+mn-lt"/>
                <a:cs typeface="Gill Sans MT"/>
              </a:rPr>
              <a:t> </a:t>
            </a:r>
            <a:r>
              <a:rPr sz="2600" spc="6" dirty="0">
                <a:solidFill>
                  <a:schemeClr val="tx1"/>
                </a:solidFill>
                <a:latin typeface="+mn-lt"/>
                <a:cs typeface="Gill Sans MT"/>
              </a:rPr>
              <a:t>the</a:t>
            </a:r>
            <a:r>
              <a:rPr sz="2600" spc="13" dirty="0">
                <a:solidFill>
                  <a:schemeClr val="tx1"/>
                </a:solidFill>
                <a:latin typeface="+mn-lt"/>
                <a:cs typeface="Gill Sans MT"/>
              </a:rPr>
              <a:t> </a:t>
            </a:r>
            <a:r>
              <a:rPr sz="2600" spc="6" dirty="0">
                <a:solidFill>
                  <a:schemeClr val="tx1"/>
                </a:solidFill>
                <a:latin typeface="+mn-lt"/>
                <a:cs typeface="Gill Sans MT"/>
              </a:rPr>
              <a:t>same</a:t>
            </a:r>
            <a:r>
              <a:rPr sz="2600" spc="13" dirty="0">
                <a:solidFill>
                  <a:schemeClr val="tx1"/>
                </a:solidFill>
                <a:latin typeface="+mn-lt"/>
                <a:cs typeface="Gill Sans MT"/>
              </a:rPr>
              <a:t> </a:t>
            </a:r>
            <a:r>
              <a:rPr sz="2600" spc="6" dirty="0">
                <a:solidFill>
                  <a:schemeClr val="tx1"/>
                </a:solidFill>
                <a:latin typeface="+mn-lt"/>
                <a:cs typeface="Gill Sans MT"/>
              </a:rPr>
              <a:t>learning</a:t>
            </a:r>
            <a:r>
              <a:rPr sz="2600" spc="19" dirty="0">
                <a:solidFill>
                  <a:schemeClr val="tx1"/>
                </a:solidFill>
                <a:latin typeface="+mn-lt"/>
                <a:cs typeface="Gill Sans MT"/>
              </a:rPr>
              <a:t> </a:t>
            </a:r>
            <a:r>
              <a:rPr sz="2600" spc="6" dirty="0">
                <a:solidFill>
                  <a:schemeClr val="tx1"/>
                </a:solidFill>
                <a:latin typeface="+mn-lt"/>
                <a:cs typeface="Gill Sans MT"/>
              </a:rPr>
              <a:t>set.</a:t>
            </a:r>
            <a:endParaRPr sz="2600" dirty="0">
              <a:solidFill>
                <a:schemeClr val="tx1"/>
              </a:solidFill>
              <a:latin typeface="+mn-lt"/>
              <a:cs typeface="Gill Sans MT"/>
            </a:endParaRPr>
          </a:p>
        </p:txBody>
      </p:sp>
      <p:sp>
        <p:nvSpPr>
          <p:cNvPr id="7" name="object 7"/>
          <p:cNvSpPr txBox="1"/>
          <p:nvPr/>
        </p:nvSpPr>
        <p:spPr>
          <a:xfrm>
            <a:off x="482600" y="9144000"/>
            <a:ext cx="9601200" cy="402352"/>
          </a:xfrm>
          <a:prstGeom prst="rect">
            <a:avLst/>
          </a:prstGeom>
        </p:spPr>
        <p:txBody>
          <a:bodyPr vert="horz" wrap="square" lIns="0" tIns="15937" rIns="0" bIns="0" rtlCol="0">
            <a:spAutoFit/>
          </a:bodyPr>
          <a:lstStyle/>
          <a:p>
            <a:pPr marL="15937">
              <a:spcBef>
                <a:spcPts val="125"/>
              </a:spcBef>
            </a:pPr>
            <a:r>
              <a:rPr sz="2510" dirty="0">
                <a:latin typeface="Gill Sans MT"/>
                <a:cs typeface="Gill Sans MT"/>
              </a:rPr>
              <a:t>Slide adapted from Gilles </a:t>
            </a:r>
            <a:r>
              <a:rPr sz="2510" dirty="0" err="1">
                <a:latin typeface="Gill Sans MT"/>
                <a:cs typeface="Gill Sans MT"/>
              </a:rPr>
              <a:t>Louppe</a:t>
            </a:r>
            <a:r>
              <a:rPr sz="2510" dirty="0">
                <a:latin typeface="Gill Sans MT"/>
                <a:cs typeface="Gill Sans MT"/>
              </a:rPr>
              <a:t>; see </a:t>
            </a:r>
            <a:r>
              <a:rPr lang="en-US" sz="2510" dirty="0">
                <a:latin typeface="Gill Sans MT"/>
                <a:cs typeface="Gill Sans MT"/>
              </a:rPr>
              <a:t>arXiv:1407.7502</a:t>
            </a:r>
            <a:r>
              <a:rPr sz="2510" dirty="0">
                <a:latin typeface="Gill Sans MT"/>
                <a:cs typeface="Gill Sans MT"/>
              </a:rPr>
              <a:t> for derivation</a:t>
            </a:r>
          </a:p>
        </p:txBody>
      </p:sp>
      <p:sp>
        <p:nvSpPr>
          <p:cNvPr id="9" name="Title 8">
            <a:extLst>
              <a:ext uri="{FF2B5EF4-FFF2-40B4-BE49-F238E27FC236}">
                <a16:creationId xmlns:a16="http://schemas.microsoft.com/office/drawing/2014/main" id="{A5BBEA63-04C1-294D-BF31-52C50B9182AF}"/>
              </a:ext>
            </a:extLst>
          </p:cNvPr>
          <p:cNvSpPr>
            <a:spLocks noGrp="1"/>
          </p:cNvSpPr>
          <p:nvPr>
            <p:ph type="title"/>
          </p:nvPr>
        </p:nvSpPr>
        <p:spPr>
          <a:xfrm>
            <a:off x="2457497" y="534459"/>
            <a:ext cx="8444807" cy="1690624"/>
          </a:xfrm>
        </p:spPr>
        <p:txBody>
          <a:bodyPr>
            <a:normAutofit fontScale="90000"/>
          </a:bodyPr>
          <a:lstStyle/>
          <a:p>
            <a:pPr marR="24703">
              <a:spcBef>
                <a:spcPts val="3144"/>
              </a:spcBef>
              <a:tabLst>
                <a:tab pos="3374708" algn="l"/>
              </a:tabLst>
            </a:pPr>
            <a:br>
              <a:rPr lang="en-US" sz="4000" spc="232" dirty="0">
                <a:solidFill>
                  <a:srgbClr val="262626"/>
                </a:solidFill>
                <a:latin typeface="Gill Sans MT"/>
                <a:cs typeface="Gill Sans MT"/>
              </a:rPr>
            </a:br>
            <a:r>
              <a:rPr lang="en-US" sz="4000" spc="232" dirty="0">
                <a:solidFill>
                  <a:srgbClr val="262626"/>
                </a:solidFill>
                <a:latin typeface="Gill Sans MT"/>
                <a:cs typeface="Gill Sans MT"/>
              </a:rPr>
              <a:t>THEOREM:</a:t>
            </a:r>
            <a:br>
              <a:rPr lang="en-US" sz="4000" spc="232" dirty="0">
                <a:solidFill>
                  <a:srgbClr val="262626"/>
                </a:solidFill>
                <a:latin typeface="Gill Sans MT"/>
                <a:cs typeface="Gill Sans MT"/>
              </a:rPr>
            </a:br>
            <a:r>
              <a:rPr lang="en-US" spc="238" dirty="0">
                <a:solidFill>
                  <a:srgbClr val="262626"/>
                </a:solidFill>
                <a:latin typeface="Gill Sans MT"/>
                <a:cs typeface="Gill Sans MT"/>
              </a:rPr>
              <a:t>WE CAN </a:t>
            </a:r>
            <a:r>
              <a:rPr lang="en-US" sz="4000" spc="238" dirty="0">
                <a:solidFill>
                  <a:srgbClr val="262626"/>
                </a:solidFill>
                <a:latin typeface="Gill Sans MT"/>
                <a:cs typeface="Gill Sans MT"/>
              </a:rPr>
              <a:t>further decompose the </a:t>
            </a:r>
            <a:r>
              <a:rPr lang="en-US" sz="4000" spc="195" dirty="0">
                <a:solidFill>
                  <a:srgbClr val="262626"/>
                </a:solidFill>
                <a:latin typeface="Gill Sans MT"/>
                <a:cs typeface="Gill Sans MT"/>
              </a:rPr>
              <a:t>VARIANCE</a:t>
            </a:r>
            <a:r>
              <a:rPr lang="en-US" sz="4000" spc="82" dirty="0">
                <a:solidFill>
                  <a:srgbClr val="262626"/>
                </a:solidFill>
                <a:latin typeface="Gill Sans MT"/>
                <a:cs typeface="Gill Sans MT"/>
              </a:rPr>
              <a:t> </a:t>
            </a:r>
            <a:r>
              <a:rPr lang="en-US" sz="4000" spc="270" dirty="0">
                <a:solidFill>
                  <a:srgbClr val="262626"/>
                </a:solidFill>
                <a:latin typeface="Gill Sans MT"/>
                <a:cs typeface="Gill Sans MT"/>
              </a:rPr>
              <a:t>AS follows.</a:t>
            </a:r>
            <a:br>
              <a:rPr lang="en-US" sz="4000" dirty="0">
                <a:latin typeface="Gill Sans MT"/>
                <a:cs typeface="Gill Sans MT"/>
              </a:rPr>
            </a:br>
            <a:endParaRPr lang="en-US" dirty="0"/>
          </a:p>
        </p:txBody>
      </p:sp>
      <p:sp>
        <p:nvSpPr>
          <p:cNvPr id="11" name="TextBox 10">
            <a:extLst>
              <a:ext uri="{FF2B5EF4-FFF2-40B4-BE49-F238E27FC236}">
                <a16:creationId xmlns:a16="http://schemas.microsoft.com/office/drawing/2014/main" id="{F9A818E3-18BB-4743-8925-CF94450C2F44}"/>
              </a:ext>
            </a:extLst>
          </p:cNvPr>
          <p:cNvSpPr txBox="1"/>
          <p:nvPr/>
        </p:nvSpPr>
        <p:spPr>
          <a:xfrm>
            <a:off x="7484244" y="6353229"/>
            <a:ext cx="930915" cy="492443"/>
          </a:xfrm>
          <a:prstGeom prst="rect">
            <a:avLst/>
          </a:prstGeom>
          <a:noFill/>
        </p:spPr>
        <p:txBody>
          <a:bodyPr wrap="square" rtlCol="0">
            <a:spAutoFit/>
          </a:bodyPr>
          <a:lstStyle/>
          <a:p>
            <a:r>
              <a:rPr lang="en-US" sz="2600" dirty="0">
                <a:solidFill>
                  <a:srgbClr val="FF0000"/>
                </a:solidFill>
                <a:latin typeface="Cambria Math"/>
                <a:cs typeface="Cambria Math"/>
              </a:rPr>
              <a:t>𝑴</a:t>
            </a:r>
            <a:endParaRPr lang="en-US" sz="26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299170" y="4216107"/>
            <a:ext cx="1019984" cy="15937"/>
          </a:xfrm>
          <a:custGeom>
            <a:avLst/>
            <a:gdLst/>
            <a:ahLst/>
            <a:cxnLst/>
            <a:rect l="l" t="t" r="r" b="b"/>
            <a:pathLst>
              <a:path w="812800" h="12700">
                <a:moveTo>
                  <a:pt x="812800" y="0"/>
                </a:moveTo>
                <a:lnTo>
                  <a:pt x="0" y="0"/>
                </a:lnTo>
                <a:lnTo>
                  <a:pt x="0" y="12700"/>
                </a:lnTo>
                <a:lnTo>
                  <a:pt x="812800" y="12700"/>
                </a:lnTo>
                <a:lnTo>
                  <a:pt x="812800" y="0"/>
                </a:lnTo>
                <a:close/>
              </a:path>
            </a:pathLst>
          </a:custGeom>
          <a:solidFill>
            <a:srgbClr val="000000"/>
          </a:solidFill>
        </p:spPr>
        <p:txBody>
          <a:bodyPr wrap="square" lIns="0" tIns="0" rIns="0" bIns="0" rtlCol="0"/>
          <a:lstStyle/>
          <a:p>
            <a:endParaRPr sz="4016"/>
          </a:p>
        </p:txBody>
      </p:sp>
      <p:sp>
        <p:nvSpPr>
          <p:cNvPr id="4" name="object 4"/>
          <p:cNvSpPr txBox="1"/>
          <p:nvPr/>
        </p:nvSpPr>
        <p:spPr>
          <a:xfrm>
            <a:off x="406400" y="2667000"/>
            <a:ext cx="11751136" cy="6865741"/>
          </a:xfrm>
          <a:prstGeom prst="rect">
            <a:avLst/>
          </a:prstGeom>
        </p:spPr>
        <p:txBody>
          <a:bodyPr vert="horz" wrap="square" lIns="0" tIns="11953" rIns="0" bIns="0" rtlCol="0">
            <a:spAutoFit/>
          </a:bodyPr>
          <a:lstStyle/>
          <a:p>
            <a:pPr marL="4304646" marR="2850374" indent="-1315618">
              <a:lnSpc>
                <a:spcPct val="100899"/>
              </a:lnSpc>
              <a:spcBef>
                <a:spcPts val="94"/>
              </a:spcBef>
            </a:pPr>
            <a:r>
              <a:rPr sz="2886" spc="-25" dirty="0">
                <a:solidFill>
                  <a:schemeClr val="tx1"/>
                </a:solidFill>
                <a:latin typeface="Gill Sans MT"/>
                <a:cs typeface="Gill Sans MT"/>
              </a:rPr>
              <a:t>B</a:t>
            </a:r>
            <a:r>
              <a:rPr sz="2886" spc="-6" dirty="0">
                <a:solidFill>
                  <a:schemeClr val="tx1"/>
                </a:solidFill>
                <a:latin typeface="Gill Sans MT"/>
                <a:cs typeface="Gill Sans MT"/>
              </a:rPr>
              <a:t>i</a:t>
            </a:r>
            <a:r>
              <a:rPr sz="2886" spc="-25" dirty="0">
                <a:solidFill>
                  <a:schemeClr val="tx1"/>
                </a:solidFill>
                <a:latin typeface="Gill Sans MT"/>
                <a:cs typeface="Gill Sans MT"/>
              </a:rPr>
              <a:t>a</a:t>
            </a:r>
            <a:r>
              <a:rPr sz="2886" spc="-19" dirty="0">
                <a:solidFill>
                  <a:schemeClr val="tx1"/>
                </a:solidFill>
                <a:latin typeface="Gill Sans MT"/>
                <a:cs typeface="Gill Sans MT"/>
              </a:rPr>
              <a:t>s</a:t>
            </a:r>
            <a:r>
              <a:rPr sz="2886" dirty="0">
                <a:solidFill>
                  <a:schemeClr val="tx1"/>
                </a:solidFill>
                <a:latin typeface="Gill Sans MT"/>
                <a:cs typeface="Gill Sans MT"/>
              </a:rPr>
              <a:t>:</a:t>
            </a:r>
            <a:r>
              <a:rPr sz="2886" spc="-295" dirty="0">
                <a:solidFill>
                  <a:schemeClr val="tx1"/>
                </a:solidFill>
                <a:latin typeface="Gill Sans MT"/>
                <a:cs typeface="Gill Sans MT"/>
              </a:rPr>
              <a:t> </a:t>
            </a:r>
            <a:r>
              <a:rPr lang="en-US" sz="2886" spc="-295" dirty="0">
                <a:solidFill>
                  <a:schemeClr val="tx1"/>
                </a:solidFill>
                <a:latin typeface="Gill Sans MT"/>
                <a:cs typeface="Gill Sans MT"/>
              </a:rPr>
              <a:t> </a:t>
            </a:r>
            <a:r>
              <a:rPr sz="2886" spc="-13" dirty="0">
                <a:solidFill>
                  <a:srgbClr val="FF0000"/>
                </a:solidFill>
                <a:latin typeface="Gill Sans MT"/>
                <a:cs typeface="Gill Sans MT"/>
              </a:rPr>
              <a:t>I</a:t>
            </a:r>
            <a:r>
              <a:rPr sz="2886" spc="-25" dirty="0">
                <a:solidFill>
                  <a:srgbClr val="FF0000"/>
                </a:solidFill>
                <a:latin typeface="Gill Sans MT"/>
                <a:cs typeface="Gill Sans MT"/>
              </a:rPr>
              <a:t>d</a:t>
            </a:r>
            <a:r>
              <a:rPr sz="2886" spc="-19" dirty="0">
                <a:solidFill>
                  <a:srgbClr val="FF0000"/>
                </a:solidFill>
                <a:latin typeface="Gill Sans MT"/>
                <a:cs typeface="Gill Sans MT"/>
              </a:rPr>
              <a:t>en</a:t>
            </a:r>
            <a:r>
              <a:rPr sz="2886" spc="-13" dirty="0">
                <a:solidFill>
                  <a:srgbClr val="FF0000"/>
                </a:solidFill>
                <a:latin typeface="Gill Sans MT"/>
                <a:cs typeface="Gill Sans MT"/>
              </a:rPr>
              <a:t>t</a:t>
            </a:r>
            <a:r>
              <a:rPr sz="2886" spc="-6" dirty="0">
                <a:solidFill>
                  <a:srgbClr val="FF0000"/>
                </a:solidFill>
                <a:latin typeface="Gill Sans MT"/>
                <a:cs typeface="Gill Sans MT"/>
              </a:rPr>
              <a:t>i</a:t>
            </a:r>
            <a:r>
              <a:rPr sz="2886" spc="-19" dirty="0">
                <a:solidFill>
                  <a:srgbClr val="FF0000"/>
                </a:solidFill>
                <a:latin typeface="Gill Sans MT"/>
                <a:cs typeface="Gill Sans MT"/>
              </a:rPr>
              <a:t>c</a:t>
            </a:r>
            <a:r>
              <a:rPr sz="2886" spc="-25" dirty="0">
                <a:solidFill>
                  <a:srgbClr val="FF0000"/>
                </a:solidFill>
                <a:latin typeface="Gill Sans MT"/>
                <a:cs typeface="Gill Sans MT"/>
              </a:rPr>
              <a:t>a</a:t>
            </a:r>
            <a:r>
              <a:rPr sz="2886" dirty="0">
                <a:solidFill>
                  <a:srgbClr val="FF0000"/>
                </a:solidFill>
                <a:latin typeface="Gill Sans MT"/>
                <a:cs typeface="Gill Sans MT"/>
              </a:rPr>
              <a:t>l</a:t>
            </a:r>
            <a:r>
              <a:rPr sz="2886" spc="-6" dirty="0">
                <a:solidFill>
                  <a:schemeClr val="tx1"/>
                </a:solidFill>
                <a:latin typeface="Gill Sans MT"/>
                <a:cs typeface="Gill Sans MT"/>
              </a:rPr>
              <a:t> </a:t>
            </a:r>
            <a:r>
              <a:rPr sz="2886" spc="-13" dirty="0">
                <a:solidFill>
                  <a:schemeClr val="tx1"/>
                </a:solidFill>
                <a:latin typeface="Gill Sans MT"/>
                <a:cs typeface="Gill Sans MT"/>
              </a:rPr>
              <a:t>t</a:t>
            </a:r>
            <a:r>
              <a:rPr sz="2886" dirty="0">
                <a:solidFill>
                  <a:schemeClr val="tx1"/>
                </a:solidFill>
                <a:latin typeface="Gill Sans MT"/>
                <a:cs typeface="Gill Sans MT"/>
              </a:rPr>
              <a:t>o</a:t>
            </a:r>
            <a:r>
              <a:rPr sz="2886" spc="-31" dirty="0">
                <a:solidFill>
                  <a:schemeClr val="tx1"/>
                </a:solidFill>
                <a:latin typeface="Gill Sans MT"/>
                <a:cs typeface="Gill Sans MT"/>
              </a:rPr>
              <a:t> </a:t>
            </a:r>
            <a:r>
              <a:rPr sz="2886" spc="-13" dirty="0">
                <a:solidFill>
                  <a:schemeClr val="tx1"/>
                </a:solidFill>
                <a:latin typeface="Gill Sans MT"/>
                <a:cs typeface="Gill Sans MT"/>
              </a:rPr>
              <a:t>t</a:t>
            </a:r>
            <a:r>
              <a:rPr sz="2886" spc="-19" dirty="0">
                <a:solidFill>
                  <a:schemeClr val="tx1"/>
                </a:solidFill>
                <a:latin typeface="Gill Sans MT"/>
                <a:cs typeface="Gill Sans MT"/>
              </a:rPr>
              <a:t>h</a:t>
            </a:r>
            <a:r>
              <a:rPr sz="2886" dirty="0">
                <a:solidFill>
                  <a:schemeClr val="tx1"/>
                </a:solidFill>
                <a:latin typeface="Gill Sans MT"/>
                <a:cs typeface="Gill Sans MT"/>
              </a:rPr>
              <a:t>e</a:t>
            </a:r>
            <a:r>
              <a:rPr sz="2886" spc="-25" dirty="0">
                <a:solidFill>
                  <a:schemeClr val="tx1"/>
                </a:solidFill>
                <a:latin typeface="Gill Sans MT"/>
                <a:cs typeface="Gill Sans MT"/>
              </a:rPr>
              <a:t> </a:t>
            </a:r>
            <a:r>
              <a:rPr sz="2886" spc="-19" dirty="0">
                <a:solidFill>
                  <a:schemeClr val="tx1"/>
                </a:solidFill>
                <a:latin typeface="Gill Sans MT"/>
                <a:cs typeface="Gill Sans MT"/>
              </a:rPr>
              <a:t>b</a:t>
            </a:r>
            <a:r>
              <a:rPr sz="2886" spc="-6" dirty="0">
                <a:solidFill>
                  <a:schemeClr val="tx1"/>
                </a:solidFill>
                <a:latin typeface="Gill Sans MT"/>
                <a:cs typeface="Gill Sans MT"/>
              </a:rPr>
              <a:t>i</a:t>
            </a:r>
            <a:r>
              <a:rPr sz="2886" spc="-19" dirty="0">
                <a:solidFill>
                  <a:schemeClr val="tx1"/>
                </a:solidFill>
                <a:latin typeface="Gill Sans MT"/>
                <a:cs typeface="Gill Sans MT"/>
              </a:rPr>
              <a:t>a</a:t>
            </a:r>
            <a:r>
              <a:rPr sz="2886" dirty="0">
                <a:solidFill>
                  <a:schemeClr val="tx1"/>
                </a:solidFill>
                <a:latin typeface="Gill Sans MT"/>
                <a:cs typeface="Gill Sans MT"/>
              </a:rPr>
              <a:t>s</a:t>
            </a:r>
            <a:r>
              <a:rPr sz="2886" spc="-25" dirty="0">
                <a:solidFill>
                  <a:schemeClr val="tx1"/>
                </a:solidFill>
                <a:latin typeface="Gill Sans MT"/>
                <a:cs typeface="Gill Sans MT"/>
              </a:rPr>
              <a:t> o</a:t>
            </a:r>
            <a:r>
              <a:rPr sz="2886" dirty="0">
                <a:solidFill>
                  <a:schemeClr val="tx1"/>
                </a:solidFill>
                <a:latin typeface="Gill Sans MT"/>
                <a:cs typeface="Gill Sans MT"/>
              </a:rPr>
              <a:t>f</a:t>
            </a:r>
            <a:r>
              <a:rPr sz="2886" spc="-19" dirty="0">
                <a:solidFill>
                  <a:schemeClr val="tx1"/>
                </a:solidFill>
                <a:latin typeface="Gill Sans MT"/>
                <a:cs typeface="Gill Sans MT"/>
              </a:rPr>
              <a:t> </a:t>
            </a:r>
            <a:r>
              <a:rPr sz="2886" dirty="0">
                <a:solidFill>
                  <a:schemeClr val="tx1"/>
                </a:solidFill>
                <a:latin typeface="Gill Sans MT"/>
                <a:cs typeface="Gill Sans MT"/>
              </a:rPr>
              <a:t>a</a:t>
            </a:r>
            <a:r>
              <a:rPr sz="2886" spc="-25" dirty="0">
                <a:solidFill>
                  <a:schemeClr val="tx1"/>
                </a:solidFill>
                <a:latin typeface="Gill Sans MT"/>
                <a:cs typeface="Gill Sans MT"/>
              </a:rPr>
              <a:t> </a:t>
            </a:r>
            <a:r>
              <a:rPr sz="2886" spc="-19" dirty="0">
                <a:solidFill>
                  <a:schemeClr val="tx1"/>
                </a:solidFill>
                <a:latin typeface="Gill Sans MT"/>
                <a:cs typeface="Gill Sans MT"/>
              </a:rPr>
              <a:t>s</a:t>
            </a:r>
            <a:r>
              <a:rPr sz="2886" spc="-6" dirty="0">
                <a:solidFill>
                  <a:schemeClr val="tx1"/>
                </a:solidFill>
                <a:latin typeface="Gill Sans MT"/>
                <a:cs typeface="Gill Sans MT"/>
              </a:rPr>
              <a:t>i</a:t>
            </a:r>
            <a:r>
              <a:rPr sz="2886" spc="-19" dirty="0">
                <a:solidFill>
                  <a:schemeClr val="tx1"/>
                </a:solidFill>
                <a:latin typeface="Gill Sans MT"/>
                <a:cs typeface="Gill Sans MT"/>
              </a:rPr>
              <a:t>ng</a:t>
            </a:r>
            <a:r>
              <a:rPr sz="2886" spc="-6" dirty="0">
                <a:solidFill>
                  <a:schemeClr val="tx1"/>
                </a:solidFill>
                <a:latin typeface="Gill Sans MT"/>
                <a:cs typeface="Gill Sans MT"/>
              </a:rPr>
              <a:t>l</a:t>
            </a:r>
            <a:r>
              <a:rPr sz="2886" dirty="0">
                <a:solidFill>
                  <a:schemeClr val="tx1"/>
                </a:solidFill>
                <a:latin typeface="Gill Sans MT"/>
                <a:cs typeface="Gill Sans MT"/>
              </a:rPr>
              <a:t>e  </a:t>
            </a:r>
            <a:r>
              <a:rPr sz="2886" spc="-19" dirty="0">
                <a:solidFill>
                  <a:schemeClr val="tx1"/>
                </a:solidFill>
                <a:latin typeface="Gill Sans MT"/>
                <a:cs typeface="Gill Sans MT"/>
              </a:rPr>
              <a:t>randomized</a:t>
            </a:r>
            <a:r>
              <a:rPr sz="2886" spc="-44" dirty="0">
                <a:solidFill>
                  <a:schemeClr val="tx1"/>
                </a:solidFill>
                <a:latin typeface="Gill Sans MT"/>
                <a:cs typeface="Gill Sans MT"/>
              </a:rPr>
              <a:t> </a:t>
            </a:r>
            <a:r>
              <a:rPr sz="2886" spc="-19" dirty="0">
                <a:solidFill>
                  <a:schemeClr val="tx1"/>
                </a:solidFill>
                <a:latin typeface="Gill Sans MT"/>
                <a:cs typeface="Gill Sans MT"/>
              </a:rPr>
              <a:t>tree.</a:t>
            </a:r>
            <a:endParaRPr sz="2886" dirty="0">
              <a:solidFill>
                <a:schemeClr val="tx1"/>
              </a:solidFill>
              <a:latin typeface="Gill Sans MT"/>
              <a:cs typeface="Gill Sans MT"/>
            </a:endParaRPr>
          </a:p>
          <a:p>
            <a:pPr marR="465367">
              <a:lnSpc>
                <a:spcPts val="2830"/>
              </a:lnSpc>
              <a:spcBef>
                <a:spcPts val="1958"/>
              </a:spcBef>
            </a:pPr>
            <a:r>
              <a:rPr sz="2886" dirty="0">
                <a:solidFill>
                  <a:schemeClr val="tx1"/>
                </a:solidFill>
                <a:latin typeface="+mj-lt"/>
                <a:cs typeface="Gill Sans MT"/>
              </a:rPr>
              <a:t>Variance: var (x) = </a:t>
            </a:r>
            <a:r>
              <a:rPr sz="2886" dirty="0" err="1">
                <a:solidFill>
                  <a:schemeClr val="tx1"/>
                </a:solidFill>
                <a:latin typeface="+mj-lt"/>
                <a:cs typeface="Calibri"/>
              </a:rPr>
              <a:t>ρ</a:t>
            </a:r>
            <a:r>
              <a:rPr sz="2886" dirty="0">
                <a:solidFill>
                  <a:schemeClr val="tx1"/>
                </a:solidFill>
                <a:latin typeface="+mj-lt"/>
                <a:cs typeface="Gill Sans MT"/>
              </a:rPr>
              <a:t>(x) </a:t>
            </a:r>
            <a:r>
              <a:rPr sz="2886" dirty="0">
                <a:solidFill>
                  <a:schemeClr val="tx1"/>
                </a:solidFill>
                <a:latin typeface="+mj-lt"/>
                <a:cs typeface="Calibri"/>
              </a:rPr>
              <a:t>σ </a:t>
            </a:r>
            <a:r>
              <a:rPr sz="2824" baseline="25925" dirty="0">
                <a:solidFill>
                  <a:schemeClr val="tx1"/>
                </a:solidFill>
                <a:latin typeface="+mj-lt"/>
                <a:cs typeface="Gill Sans MT"/>
              </a:rPr>
              <a:t>2</a:t>
            </a:r>
            <a:r>
              <a:rPr sz="2886" dirty="0">
                <a:solidFill>
                  <a:schemeClr val="tx1"/>
                </a:solidFill>
                <a:latin typeface="+mj-lt"/>
                <a:cs typeface="Gill Sans MT"/>
              </a:rPr>
              <a:t>(x) + </a:t>
            </a:r>
            <a:r>
              <a:rPr lang="en-US" sz="3200" baseline="43209" dirty="0">
                <a:solidFill>
                  <a:schemeClr val="tx1"/>
                </a:solidFill>
                <a:latin typeface="+mj-lt"/>
                <a:cs typeface="Cambria Math"/>
              </a:rPr>
              <a:t>𝟏 -𝝆(𝒙)</a:t>
            </a:r>
            <a:r>
              <a:rPr lang="en-US" baseline="44117" dirty="0">
                <a:solidFill>
                  <a:schemeClr val="tx1"/>
                </a:solidFill>
                <a:latin typeface="+mj-lt"/>
                <a:cs typeface="Cambria Math"/>
              </a:rPr>
              <a:t> </a:t>
            </a:r>
            <a:r>
              <a:rPr lang="el-GR" sz="2886" dirty="0">
                <a:solidFill>
                  <a:schemeClr val="tx1"/>
                </a:solidFill>
                <a:latin typeface="+mj-lt"/>
                <a:cs typeface="Calibri"/>
              </a:rPr>
              <a:t>σ</a:t>
            </a:r>
            <a:r>
              <a:rPr lang="el-GR" sz="2824" baseline="25925" dirty="0">
                <a:solidFill>
                  <a:schemeClr val="tx1"/>
                </a:solidFill>
                <a:latin typeface="+mj-lt"/>
                <a:cs typeface="Gill Sans MT"/>
              </a:rPr>
              <a:t>2 </a:t>
            </a:r>
            <a:r>
              <a:rPr lang="el-GR" sz="2886" dirty="0">
                <a:solidFill>
                  <a:schemeClr val="tx1"/>
                </a:solidFill>
                <a:latin typeface="+mj-lt"/>
                <a:cs typeface="Gill Sans MT"/>
              </a:rPr>
              <a:t>(</a:t>
            </a:r>
            <a:r>
              <a:rPr lang="en-US" sz="2886" dirty="0">
                <a:solidFill>
                  <a:schemeClr val="tx1"/>
                </a:solidFill>
                <a:latin typeface="+mj-lt"/>
                <a:cs typeface="Gill Sans MT"/>
              </a:rPr>
              <a:t>x)</a:t>
            </a:r>
          </a:p>
          <a:p>
            <a:pPr marL="3092619">
              <a:lnSpc>
                <a:spcPts val="1926"/>
              </a:lnSpc>
            </a:pPr>
            <a:endParaRPr lang="en-US" sz="2133" b="1" spc="1368" dirty="0">
              <a:solidFill>
                <a:schemeClr val="tx1"/>
              </a:solidFill>
              <a:latin typeface="+mj-lt"/>
              <a:cs typeface="Cambria Math"/>
            </a:endParaRPr>
          </a:p>
          <a:p>
            <a:pPr marL="3092619">
              <a:lnSpc>
                <a:spcPts val="1926"/>
              </a:lnSpc>
            </a:pPr>
            <a:r>
              <a:rPr lang="en-US" sz="2133" b="1" i="1" spc="1368" dirty="0">
                <a:solidFill>
                  <a:schemeClr val="tx1"/>
                </a:solidFill>
                <a:latin typeface="+mj-lt"/>
                <a:cs typeface="Cambria Math"/>
              </a:rPr>
              <a:t>M</a:t>
            </a:r>
            <a:endParaRPr sz="2133" b="1" i="1" dirty="0">
              <a:solidFill>
                <a:schemeClr val="tx1"/>
              </a:solidFill>
              <a:latin typeface="+mj-lt"/>
              <a:cs typeface="Cambria Math"/>
            </a:endParaRPr>
          </a:p>
          <a:p>
            <a:pPr marL="3274304" indent="-435883" algn="l">
              <a:spcBef>
                <a:spcPts val="1713"/>
              </a:spcBef>
              <a:buFont typeface="Arial"/>
              <a:buChar char="•"/>
              <a:tabLst>
                <a:tab pos="3274304" algn="l"/>
                <a:tab pos="3275101" algn="l"/>
                <a:tab pos="5207490" algn="l"/>
              </a:tabLst>
            </a:pPr>
            <a:r>
              <a:rPr sz="2886" spc="-13" dirty="0">
                <a:solidFill>
                  <a:schemeClr val="tx1"/>
                </a:solidFill>
                <a:latin typeface="Gill Sans MT"/>
                <a:cs typeface="Gill Sans MT"/>
              </a:rPr>
              <a:t>As</a:t>
            </a:r>
            <a:r>
              <a:rPr sz="2886" spc="-25" dirty="0">
                <a:solidFill>
                  <a:schemeClr val="tx1"/>
                </a:solidFill>
                <a:latin typeface="Gill Sans MT"/>
                <a:cs typeface="Gill Sans MT"/>
              </a:rPr>
              <a:t> </a:t>
            </a:r>
            <a:r>
              <a:rPr sz="2886" dirty="0">
                <a:solidFill>
                  <a:srgbClr val="FF0000"/>
                </a:solidFill>
                <a:latin typeface="Gill Sans MT"/>
                <a:cs typeface="Gill Sans MT"/>
              </a:rPr>
              <a:t>M</a:t>
            </a:r>
            <a:r>
              <a:rPr sz="2886" spc="-38" dirty="0">
                <a:solidFill>
                  <a:srgbClr val="FF0000"/>
                </a:solidFill>
                <a:latin typeface="Gill Sans MT"/>
                <a:cs typeface="Gill Sans MT"/>
              </a:rPr>
              <a:t> </a:t>
            </a:r>
            <a:r>
              <a:rPr sz="2886" dirty="0">
                <a:solidFill>
                  <a:srgbClr val="FF0000"/>
                </a:solidFill>
                <a:latin typeface="Arial"/>
                <a:cs typeface="Arial"/>
              </a:rPr>
              <a:t>→</a:t>
            </a:r>
            <a:r>
              <a:rPr sz="2886" spc="-44" dirty="0">
                <a:solidFill>
                  <a:srgbClr val="FF0000"/>
                </a:solidFill>
                <a:latin typeface="Arial"/>
                <a:cs typeface="Arial"/>
              </a:rPr>
              <a:t> </a:t>
            </a:r>
            <a:r>
              <a:rPr sz="2886" spc="-13" dirty="0">
                <a:solidFill>
                  <a:srgbClr val="FF0000"/>
                </a:solidFill>
                <a:latin typeface="Gill Sans MT"/>
                <a:cs typeface="Gill Sans MT"/>
              </a:rPr>
              <a:t>∞</a:t>
            </a:r>
            <a:r>
              <a:rPr sz="2886" spc="-13" dirty="0">
                <a:solidFill>
                  <a:schemeClr val="tx1"/>
                </a:solidFill>
                <a:latin typeface="Gill Sans MT"/>
                <a:cs typeface="Gill Sans MT"/>
              </a:rPr>
              <a:t>,	</a:t>
            </a:r>
            <a:r>
              <a:rPr sz="2886" spc="-19" dirty="0">
                <a:solidFill>
                  <a:schemeClr val="tx1"/>
                </a:solidFill>
                <a:latin typeface="Gill Sans MT"/>
                <a:cs typeface="Gill Sans MT"/>
              </a:rPr>
              <a:t>var</a:t>
            </a:r>
            <a:r>
              <a:rPr sz="2886" spc="-38" dirty="0">
                <a:solidFill>
                  <a:schemeClr val="tx1"/>
                </a:solidFill>
                <a:latin typeface="Gill Sans MT"/>
                <a:cs typeface="Gill Sans MT"/>
              </a:rPr>
              <a:t> </a:t>
            </a:r>
            <a:r>
              <a:rPr sz="2886" spc="-13" dirty="0">
                <a:solidFill>
                  <a:schemeClr val="tx1"/>
                </a:solidFill>
                <a:latin typeface="Gill Sans MT"/>
                <a:cs typeface="Gill Sans MT"/>
              </a:rPr>
              <a:t>(x)</a:t>
            </a:r>
            <a:r>
              <a:rPr sz="2886" spc="119" dirty="0">
                <a:solidFill>
                  <a:schemeClr val="tx1"/>
                </a:solidFill>
                <a:latin typeface="Gill Sans MT"/>
                <a:cs typeface="Gill Sans MT"/>
              </a:rPr>
              <a:t> </a:t>
            </a:r>
            <a:r>
              <a:rPr sz="2886" dirty="0">
                <a:solidFill>
                  <a:schemeClr val="tx1"/>
                </a:solidFill>
                <a:latin typeface="Arial"/>
                <a:cs typeface="Arial"/>
              </a:rPr>
              <a:t>→</a:t>
            </a:r>
            <a:r>
              <a:rPr sz="2886" spc="151" dirty="0">
                <a:solidFill>
                  <a:schemeClr val="tx1"/>
                </a:solidFill>
                <a:latin typeface="Arial"/>
                <a:cs typeface="Arial"/>
              </a:rPr>
              <a:t> </a:t>
            </a:r>
            <a:r>
              <a:rPr sz="2886" spc="-13" dirty="0">
                <a:solidFill>
                  <a:srgbClr val="FF0000"/>
                </a:solidFill>
                <a:latin typeface="Calibri"/>
                <a:cs typeface="Calibri"/>
              </a:rPr>
              <a:t>ρ</a:t>
            </a:r>
            <a:r>
              <a:rPr sz="2886" spc="-13" dirty="0">
                <a:solidFill>
                  <a:srgbClr val="FF0000"/>
                </a:solidFill>
                <a:latin typeface="Gill Sans MT"/>
                <a:cs typeface="Gill Sans MT"/>
              </a:rPr>
              <a:t>(x)</a:t>
            </a:r>
            <a:r>
              <a:rPr sz="2886" spc="-25" dirty="0">
                <a:solidFill>
                  <a:srgbClr val="FF0000"/>
                </a:solidFill>
                <a:latin typeface="Gill Sans MT"/>
                <a:cs typeface="Gill Sans MT"/>
              </a:rPr>
              <a:t> </a:t>
            </a:r>
            <a:r>
              <a:rPr sz="2886" spc="-13" dirty="0">
                <a:solidFill>
                  <a:srgbClr val="FF0000"/>
                </a:solidFill>
                <a:latin typeface="Calibri"/>
                <a:cs typeface="Calibri"/>
              </a:rPr>
              <a:t>σ</a:t>
            </a:r>
            <a:r>
              <a:rPr sz="2824" spc="-19" baseline="25925" dirty="0">
                <a:solidFill>
                  <a:srgbClr val="FF0000"/>
                </a:solidFill>
                <a:latin typeface="Gill Sans MT"/>
                <a:cs typeface="Gill Sans MT"/>
              </a:rPr>
              <a:t>2</a:t>
            </a:r>
            <a:r>
              <a:rPr sz="2886" spc="-13" dirty="0">
                <a:solidFill>
                  <a:srgbClr val="FF0000"/>
                </a:solidFill>
                <a:latin typeface="Gill Sans MT"/>
                <a:cs typeface="Gill Sans MT"/>
              </a:rPr>
              <a:t>(x)</a:t>
            </a:r>
            <a:endParaRPr lang="en-US" sz="2886" dirty="0">
              <a:solidFill>
                <a:srgbClr val="FF0000"/>
              </a:solidFill>
              <a:latin typeface="Gill Sans MT"/>
              <a:cs typeface="Gill Sans MT"/>
            </a:endParaRPr>
          </a:p>
          <a:p>
            <a:pPr marL="3274304" indent="-435883" algn="l">
              <a:spcBef>
                <a:spcPts val="1713"/>
              </a:spcBef>
              <a:buFont typeface="Arial"/>
              <a:buChar char="•"/>
              <a:tabLst>
                <a:tab pos="3274304" algn="l"/>
                <a:tab pos="3275101" algn="l"/>
                <a:tab pos="5207490" algn="l"/>
              </a:tabLst>
            </a:pPr>
            <a:r>
              <a:rPr sz="2886" spc="-19" dirty="0">
                <a:solidFill>
                  <a:schemeClr val="tx1"/>
                </a:solidFill>
                <a:latin typeface="Gill Sans MT"/>
                <a:cs typeface="Gill Sans MT"/>
              </a:rPr>
              <a:t>S</a:t>
            </a:r>
            <a:r>
              <a:rPr sz="2886" spc="-13" dirty="0">
                <a:solidFill>
                  <a:schemeClr val="tx1"/>
                </a:solidFill>
                <a:latin typeface="Gill Sans MT"/>
                <a:cs typeface="Gill Sans MT"/>
              </a:rPr>
              <a:t>t</a:t>
            </a:r>
            <a:r>
              <a:rPr sz="2886" spc="-88" dirty="0">
                <a:solidFill>
                  <a:schemeClr val="tx1"/>
                </a:solidFill>
                <a:latin typeface="Gill Sans MT"/>
                <a:cs typeface="Gill Sans MT"/>
              </a:rPr>
              <a:t>r</a:t>
            </a:r>
            <a:r>
              <a:rPr sz="2886" spc="-25" dirty="0">
                <a:solidFill>
                  <a:schemeClr val="tx1"/>
                </a:solidFill>
                <a:latin typeface="Gill Sans MT"/>
                <a:cs typeface="Gill Sans MT"/>
              </a:rPr>
              <a:t>o</a:t>
            </a:r>
            <a:r>
              <a:rPr sz="2886" spc="-19" dirty="0">
                <a:solidFill>
                  <a:schemeClr val="tx1"/>
                </a:solidFill>
                <a:latin typeface="Gill Sans MT"/>
                <a:cs typeface="Gill Sans MT"/>
              </a:rPr>
              <a:t>n</a:t>
            </a:r>
            <a:r>
              <a:rPr sz="2886" spc="-25" dirty="0">
                <a:solidFill>
                  <a:schemeClr val="tx1"/>
                </a:solidFill>
                <a:latin typeface="Gill Sans MT"/>
                <a:cs typeface="Gill Sans MT"/>
              </a:rPr>
              <a:t>g</a:t>
            </a:r>
            <a:r>
              <a:rPr sz="2886" spc="-19" dirty="0">
                <a:solidFill>
                  <a:schemeClr val="tx1"/>
                </a:solidFill>
                <a:latin typeface="Gill Sans MT"/>
                <a:cs typeface="Gill Sans MT"/>
              </a:rPr>
              <a:t>e</a:t>
            </a:r>
            <a:r>
              <a:rPr sz="2886" dirty="0">
                <a:solidFill>
                  <a:schemeClr val="tx1"/>
                </a:solidFill>
                <a:latin typeface="Gill Sans MT"/>
                <a:cs typeface="Gill Sans MT"/>
              </a:rPr>
              <a:t>r</a:t>
            </a:r>
            <a:r>
              <a:rPr sz="2886" spc="-25" dirty="0">
                <a:solidFill>
                  <a:schemeClr val="tx1"/>
                </a:solidFill>
                <a:latin typeface="Gill Sans MT"/>
                <a:cs typeface="Gill Sans MT"/>
              </a:rPr>
              <a:t> </a:t>
            </a:r>
            <a:r>
              <a:rPr sz="2886" spc="-19" dirty="0">
                <a:solidFill>
                  <a:schemeClr val="tx1"/>
                </a:solidFill>
                <a:latin typeface="Gill Sans MT"/>
                <a:cs typeface="Gill Sans MT"/>
              </a:rPr>
              <a:t>r</a:t>
            </a:r>
            <a:r>
              <a:rPr sz="2886" spc="-25" dirty="0">
                <a:solidFill>
                  <a:schemeClr val="tx1"/>
                </a:solidFill>
                <a:latin typeface="Gill Sans MT"/>
                <a:cs typeface="Gill Sans MT"/>
              </a:rPr>
              <a:t>a</a:t>
            </a:r>
            <a:r>
              <a:rPr sz="2886" spc="-19" dirty="0">
                <a:solidFill>
                  <a:schemeClr val="tx1"/>
                </a:solidFill>
                <a:latin typeface="Gill Sans MT"/>
                <a:cs typeface="Gill Sans MT"/>
              </a:rPr>
              <a:t>n</a:t>
            </a:r>
            <a:r>
              <a:rPr sz="2886" spc="-25" dirty="0">
                <a:solidFill>
                  <a:schemeClr val="tx1"/>
                </a:solidFill>
                <a:latin typeface="Gill Sans MT"/>
                <a:cs typeface="Gill Sans MT"/>
              </a:rPr>
              <a:t>dom</a:t>
            </a:r>
            <a:r>
              <a:rPr sz="2886" spc="-6" dirty="0">
                <a:solidFill>
                  <a:schemeClr val="tx1"/>
                </a:solidFill>
                <a:latin typeface="Gill Sans MT"/>
                <a:cs typeface="Gill Sans MT"/>
              </a:rPr>
              <a:t>i</a:t>
            </a:r>
            <a:r>
              <a:rPr sz="2886" spc="-19" dirty="0">
                <a:solidFill>
                  <a:schemeClr val="tx1"/>
                </a:solidFill>
                <a:latin typeface="Gill Sans MT"/>
                <a:cs typeface="Gill Sans MT"/>
              </a:rPr>
              <a:t>z</a:t>
            </a:r>
            <a:r>
              <a:rPr sz="2886" spc="-25" dirty="0">
                <a:solidFill>
                  <a:schemeClr val="tx1"/>
                </a:solidFill>
                <a:latin typeface="Gill Sans MT"/>
                <a:cs typeface="Gill Sans MT"/>
              </a:rPr>
              <a:t>a</a:t>
            </a:r>
            <a:r>
              <a:rPr sz="2886" spc="-13" dirty="0">
                <a:solidFill>
                  <a:schemeClr val="tx1"/>
                </a:solidFill>
                <a:latin typeface="Gill Sans MT"/>
                <a:cs typeface="Gill Sans MT"/>
              </a:rPr>
              <a:t>t</a:t>
            </a:r>
            <a:r>
              <a:rPr sz="2886" spc="-6" dirty="0">
                <a:solidFill>
                  <a:schemeClr val="tx1"/>
                </a:solidFill>
                <a:latin typeface="Gill Sans MT"/>
                <a:cs typeface="Gill Sans MT"/>
              </a:rPr>
              <a:t>i</a:t>
            </a:r>
            <a:r>
              <a:rPr sz="2886" spc="-25" dirty="0">
                <a:solidFill>
                  <a:schemeClr val="tx1"/>
                </a:solidFill>
                <a:latin typeface="Gill Sans MT"/>
                <a:cs typeface="Gill Sans MT"/>
              </a:rPr>
              <a:t>o</a:t>
            </a:r>
            <a:r>
              <a:rPr sz="2886" spc="-19" dirty="0">
                <a:solidFill>
                  <a:schemeClr val="tx1"/>
                </a:solidFill>
                <a:latin typeface="Gill Sans MT"/>
                <a:cs typeface="Gill Sans MT"/>
              </a:rPr>
              <a:t>n</a:t>
            </a:r>
            <a:r>
              <a:rPr sz="2886" dirty="0">
                <a:solidFill>
                  <a:schemeClr val="tx1"/>
                </a:solidFill>
                <a:latin typeface="Gill Sans MT"/>
                <a:cs typeface="Gill Sans MT"/>
              </a:rPr>
              <a:t>,</a:t>
            </a:r>
            <a:r>
              <a:rPr sz="2886" spc="-295" dirty="0">
                <a:solidFill>
                  <a:schemeClr val="tx1"/>
                </a:solidFill>
                <a:latin typeface="Gill Sans MT"/>
                <a:cs typeface="Gill Sans MT"/>
              </a:rPr>
              <a:t> </a:t>
            </a:r>
            <a:r>
              <a:rPr sz="2886" spc="-25" dirty="0">
                <a:solidFill>
                  <a:schemeClr val="tx1"/>
                </a:solidFill>
                <a:latin typeface="Verdana"/>
                <a:cs typeface="Verdana"/>
              </a:rPr>
              <a:t>ρ</a:t>
            </a:r>
            <a:r>
              <a:rPr sz="2886" spc="-6" dirty="0">
                <a:solidFill>
                  <a:schemeClr val="tx1"/>
                </a:solidFill>
                <a:latin typeface="Gill Sans MT"/>
                <a:cs typeface="Gill Sans MT"/>
              </a:rPr>
              <a:t>(</a:t>
            </a:r>
            <a:r>
              <a:rPr sz="2886" spc="-19" dirty="0">
                <a:solidFill>
                  <a:schemeClr val="tx1"/>
                </a:solidFill>
                <a:latin typeface="Gill Sans MT"/>
                <a:cs typeface="Gill Sans MT"/>
              </a:rPr>
              <a:t>x</a:t>
            </a:r>
            <a:r>
              <a:rPr sz="2886" dirty="0">
                <a:solidFill>
                  <a:schemeClr val="tx1"/>
                </a:solidFill>
                <a:latin typeface="Gill Sans MT"/>
                <a:cs typeface="Gill Sans MT"/>
              </a:rPr>
              <a:t>)</a:t>
            </a:r>
            <a:r>
              <a:rPr sz="2886" spc="-13" dirty="0">
                <a:solidFill>
                  <a:schemeClr val="tx1"/>
                </a:solidFill>
                <a:latin typeface="Gill Sans MT"/>
                <a:cs typeface="Gill Sans MT"/>
              </a:rPr>
              <a:t> </a:t>
            </a:r>
            <a:r>
              <a:rPr sz="2886" dirty="0">
                <a:solidFill>
                  <a:schemeClr val="tx1"/>
                </a:solidFill>
                <a:latin typeface="Arial"/>
                <a:cs typeface="Arial"/>
              </a:rPr>
              <a:t>→</a:t>
            </a:r>
            <a:r>
              <a:rPr sz="2886" spc="163" dirty="0">
                <a:solidFill>
                  <a:schemeClr val="tx1"/>
                </a:solidFill>
                <a:latin typeface="Arial"/>
                <a:cs typeface="Arial"/>
              </a:rPr>
              <a:t> </a:t>
            </a:r>
            <a:r>
              <a:rPr sz="2886" spc="-19" dirty="0">
                <a:solidFill>
                  <a:schemeClr val="tx1"/>
                </a:solidFill>
                <a:latin typeface="Gill Sans MT"/>
                <a:cs typeface="Gill Sans MT"/>
              </a:rPr>
              <a:t>0</a:t>
            </a:r>
            <a:r>
              <a:rPr sz="2886" dirty="0">
                <a:solidFill>
                  <a:schemeClr val="tx1"/>
                </a:solidFill>
                <a:latin typeface="Gill Sans MT"/>
                <a:cs typeface="Gill Sans MT"/>
              </a:rPr>
              <a:t>,</a:t>
            </a:r>
            <a:r>
              <a:rPr sz="2886" spc="-295" dirty="0">
                <a:solidFill>
                  <a:schemeClr val="tx1"/>
                </a:solidFill>
                <a:latin typeface="Gill Sans MT"/>
                <a:cs typeface="Gill Sans MT"/>
              </a:rPr>
              <a:t> </a:t>
            </a:r>
            <a:r>
              <a:rPr sz="2886" spc="-19" dirty="0">
                <a:solidFill>
                  <a:schemeClr val="tx1"/>
                </a:solidFill>
                <a:latin typeface="Gill Sans MT"/>
                <a:cs typeface="Gill Sans MT"/>
              </a:rPr>
              <a:t>v</a:t>
            </a:r>
            <a:r>
              <a:rPr sz="2886" spc="-25" dirty="0">
                <a:solidFill>
                  <a:schemeClr val="tx1"/>
                </a:solidFill>
                <a:latin typeface="Gill Sans MT"/>
                <a:cs typeface="Gill Sans MT"/>
              </a:rPr>
              <a:t>a</a:t>
            </a:r>
            <a:r>
              <a:rPr sz="2886" spc="-19" dirty="0">
                <a:solidFill>
                  <a:schemeClr val="tx1"/>
                </a:solidFill>
                <a:latin typeface="Gill Sans MT"/>
                <a:cs typeface="Gill Sans MT"/>
              </a:rPr>
              <a:t>r</a:t>
            </a:r>
            <a:r>
              <a:rPr sz="2886" spc="-6" dirty="0">
                <a:solidFill>
                  <a:schemeClr val="tx1"/>
                </a:solidFill>
                <a:latin typeface="Gill Sans MT"/>
                <a:cs typeface="Gill Sans MT"/>
              </a:rPr>
              <a:t>(</a:t>
            </a:r>
            <a:r>
              <a:rPr sz="2886" spc="-19" dirty="0">
                <a:solidFill>
                  <a:schemeClr val="tx1"/>
                </a:solidFill>
                <a:latin typeface="Gill Sans MT"/>
                <a:cs typeface="Gill Sans MT"/>
              </a:rPr>
              <a:t>x</a:t>
            </a:r>
            <a:r>
              <a:rPr sz="2886" dirty="0">
                <a:solidFill>
                  <a:schemeClr val="tx1"/>
                </a:solidFill>
                <a:latin typeface="Gill Sans MT"/>
                <a:cs typeface="Gill Sans MT"/>
              </a:rPr>
              <a:t>)</a:t>
            </a:r>
            <a:r>
              <a:rPr sz="2886" spc="-13" dirty="0">
                <a:solidFill>
                  <a:schemeClr val="tx1"/>
                </a:solidFill>
                <a:latin typeface="Gill Sans MT"/>
                <a:cs typeface="Gill Sans MT"/>
              </a:rPr>
              <a:t> </a:t>
            </a:r>
            <a:r>
              <a:rPr sz="2886" dirty="0">
                <a:solidFill>
                  <a:schemeClr val="tx1"/>
                </a:solidFill>
                <a:latin typeface="Arial"/>
                <a:cs typeface="Arial"/>
              </a:rPr>
              <a:t>→</a:t>
            </a:r>
            <a:r>
              <a:rPr sz="2886" spc="163" dirty="0">
                <a:solidFill>
                  <a:schemeClr val="tx1"/>
                </a:solidFill>
                <a:latin typeface="Arial"/>
                <a:cs typeface="Arial"/>
              </a:rPr>
              <a:t> </a:t>
            </a:r>
            <a:r>
              <a:rPr sz="2886" dirty="0">
                <a:solidFill>
                  <a:schemeClr val="tx1"/>
                </a:solidFill>
                <a:latin typeface="Verdana"/>
                <a:cs typeface="Verdana"/>
              </a:rPr>
              <a:t>0</a:t>
            </a:r>
            <a:endParaRPr lang="en-US" sz="2886" dirty="0">
              <a:solidFill>
                <a:schemeClr val="tx1"/>
              </a:solidFill>
              <a:latin typeface="Verdana"/>
              <a:cs typeface="Verdana"/>
            </a:endParaRPr>
          </a:p>
          <a:p>
            <a:pPr marL="3274304" indent="-435883" algn="l">
              <a:spcBef>
                <a:spcPts val="1713"/>
              </a:spcBef>
              <a:buFont typeface="Arial"/>
              <a:buChar char="•"/>
              <a:tabLst>
                <a:tab pos="3274304" algn="l"/>
                <a:tab pos="3275101" algn="l"/>
                <a:tab pos="5207490" algn="l"/>
              </a:tabLst>
            </a:pPr>
            <a:r>
              <a:rPr sz="2886" spc="-82" dirty="0">
                <a:solidFill>
                  <a:schemeClr val="tx1"/>
                </a:solidFill>
                <a:latin typeface="Gill Sans MT"/>
                <a:cs typeface="Gill Sans MT"/>
              </a:rPr>
              <a:t>Weaker</a:t>
            </a:r>
            <a:r>
              <a:rPr sz="2886" spc="-13" dirty="0">
                <a:solidFill>
                  <a:schemeClr val="tx1"/>
                </a:solidFill>
                <a:latin typeface="Gill Sans MT"/>
                <a:cs typeface="Gill Sans MT"/>
              </a:rPr>
              <a:t> </a:t>
            </a:r>
            <a:r>
              <a:rPr sz="2886" spc="-19" dirty="0">
                <a:solidFill>
                  <a:schemeClr val="tx1"/>
                </a:solidFill>
                <a:latin typeface="Gill Sans MT"/>
                <a:cs typeface="Gill Sans MT"/>
              </a:rPr>
              <a:t>randomization,</a:t>
            </a:r>
            <a:r>
              <a:rPr sz="2886" spc="-287" dirty="0">
                <a:solidFill>
                  <a:schemeClr val="tx1"/>
                </a:solidFill>
                <a:latin typeface="Gill Sans MT"/>
                <a:cs typeface="Gill Sans MT"/>
              </a:rPr>
              <a:t> </a:t>
            </a:r>
            <a:r>
              <a:rPr sz="2886" spc="-13" dirty="0">
                <a:solidFill>
                  <a:schemeClr val="tx1"/>
                </a:solidFill>
                <a:latin typeface="Verdana"/>
                <a:cs typeface="Verdana"/>
              </a:rPr>
              <a:t>ρ</a:t>
            </a:r>
            <a:r>
              <a:rPr sz="2886" spc="-13" dirty="0">
                <a:solidFill>
                  <a:schemeClr val="tx1"/>
                </a:solidFill>
                <a:latin typeface="Gill Sans MT"/>
                <a:cs typeface="Gill Sans MT"/>
              </a:rPr>
              <a:t>(x)</a:t>
            </a:r>
            <a:r>
              <a:rPr sz="2886" spc="-6" dirty="0">
                <a:solidFill>
                  <a:schemeClr val="tx1"/>
                </a:solidFill>
                <a:latin typeface="Gill Sans MT"/>
                <a:cs typeface="Gill Sans MT"/>
              </a:rPr>
              <a:t> </a:t>
            </a:r>
            <a:r>
              <a:rPr sz="2886" dirty="0">
                <a:solidFill>
                  <a:schemeClr val="tx1"/>
                </a:solidFill>
                <a:latin typeface="Arial"/>
                <a:cs typeface="Arial"/>
              </a:rPr>
              <a:t>→</a:t>
            </a:r>
            <a:r>
              <a:rPr sz="2886" spc="176" dirty="0">
                <a:solidFill>
                  <a:schemeClr val="tx1"/>
                </a:solidFill>
                <a:latin typeface="Arial"/>
                <a:cs typeface="Arial"/>
              </a:rPr>
              <a:t> </a:t>
            </a:r>
            <a:r>
              <a:rPr sz="2886" spc="-13" dirty="0">
                <a:solidFill>
                  <a:schemeClr val="tx1"/>
                </a:solidFill>
                <a:latin typeface="Gill Sans MT"/>
                <a:cs typeface="Gill Sans MT"/>
              </a:rPr>
              <a:t>1,</a:t>
            </a:r>
            <a:r>
              <a:rPr sz="2886" spc="-287" dirty="0">
                <a:solidFill>
                  <a:schemeClr val="tx1"/>
                </a:solidFill>
                <a:latin typeface="Gill Sans MT"/>
                <a:cs typeface="Gill Sans MT"/>
              </a:rPr>
              <a:t> </a:t>
            </a:r>
            <a:r>
              <a:rPr sz="2886" spc="-19" dirty="0">
                <a:solidFill>
                  <a:schemeClr val="tx1"/>
                </a:solidFill>
                <a:latin typeface="Gill Sans MT"/>
                <a:cs typeface="Gill Sans MT"/>
              </a:rPr>
              <a:t>var(x)</a:t>
            </a:r>
            <a:r>
              <a:rPr sz="2886" spc="-6" dirty="0">
                <a:solidFill>
                  <a:schemeClr val="tx1"/>
                </a:solidFill>
                <a:latin typeface="Gill Sans MT"/>
                <a:cs typeface="Gill Sans MT"/>
              </a:rPr>
              <a:t> </a:t>
            </a:r>
            <a:r>
              <a:rPr sz="2886" dirty="0">
                <a:solidFill>
                  <a:schemeClr val="tx1"/>
                </a:solidFill>
                <a:latin typeface="Arial"/>
                <a:cs typeface="Arial"/>
              </a:rPr>
              <a:t>→</a:t>
            </a:r>
            <a:r>
              <a:rPr lang="en-US" sz="2886" dirty="0">
                <a:solidFill>
                  <a:schemeClr val="tx1"/>
                </a:solidFill>
                <a:latin typeface="Arial"/>
                <a:cs typeface="Arial"/>
              </a:rPr>
              <a:t> </a:t>
            </a:r>
            <a:r>
              <a:rPr sz="2886" spc="-13" dirty="0">
                <a:solidFill>
                  <a:schemeClr val="tx1"/>
                </a:solidFill>
                <a:latin typeface="Verdana"/>
                <a:cs typeface="Verdana"/>
              </a:rPr>
              <a:t>σ</a:t>
            </a:r>
            <a:r>
              <a:rPr sz="2824" spc="-19" baseline="25925" dirty="0">
                <a:solidFill>
                  <a:schemeClr val="tx1"/>
                </a:solidFill>
                <a:latin typeface="Verdana"/>
                <a:cs typeface="Verdana"/>
              </a:rPr>
              <a:t>2</a:t>
            </a:r>
            <a:r>
              <a:rPr sz="2824" spc="442" baseline="25925" dirty="0">
                <a:solidFill>
                  <a:schemeClr val="tx1"/>
                </a:solidFill>
                <a:latin typeface="Verdana"/>
                <a:cs typeface="Verdana"/>
              </a:rPr>
              <a:t> </a:t>
            </a:r>
            <a:r>
              <a:rPr sz="2886" spc="-13" dirty="0">
                <a:solidFill>
                  <a:schemeClr val="tx1"/>
                </a:solidFill>
                <a:latin typeface="Gill Sans MT"/>
                <a:cs typeface="Gill Sans MT"/>
              </a:rPr>
              <a:t>(x)</a:t>
            </a:r>
            <a:endParaRPr sz="2886" dirty="0">
              <a:solidFill>
                <a:schemeClr val="tx1"/>
              </a:solidFill>
              <a:latin typeface="Gill Sans MT"/>
              <a:cs typeface="Gill Sans MT"/>
            </a:endParaRPr>
          </a:p>
          <a:p>
            <a:pPr>
              <a:spcBef>
                <a:spcPts val="63"/>
              </a:spcBef>
            </a:pPr>
            <a:endParaRPr dirty="0">
              <a:latin typeface="Gill Sans MT"/>
              <a:cs typeface="Gill Sans MT"/>
            </a:endParaRPr>
          </a:p>
          <a:p>
            <a:pPr marL="686098" marR="84467" algn="just">
              <a:lnSpc>
                <a:spcPct val="106700"/>
              </a:lnSpc>
            </a:pPr>
            <a:r>
              <a:rPr sz="2384" spc="13" dirty="0">
                <a:solidFill>
                  <a:schemeClr val="tx1"/>
                </a:solidFill>
                <a:latin typeface="Gill Sans MT"/>
                <a:cs typeface="Gill Sans MT"/>
              </a:rPr>
              <a:t>Bias-variance</a:t>
            </a:r>
            <a:r>
              <a:rPr sz="2384" spc="195" dirty="0">
                <a:solidFill>
                  <a:schemeClr val="tx1"/>
                </a:solidFill>
                <a:latin typeface="Gill Sans MT"/>
                <a:cs typeface="Gill Sans MT"/>
              </a:rPr>
              <a:t> </a:t>
            </a:r>
            <a:r>
              <a:rPr sz="2384" spc="13" dirty="0">
                <a:solidFill>
                  <a:srgbClr val="FF0000"/>
                </a:solidFill>
                <a:latin typeface="Gill Sans MT"/>
                <a:cs typeface="Gill Sans MT"/>
              </a:rPr>
              <a:t>trade-off</a:t>
            </a:r>
            <a:r>
              <a:rPr sz="2384" spc="188" dirty="0">
                <a:solidFill>
                  <a:schemeClr val="tx1"/>
                </a:solidFill>
                <a:latin typeface="Gill Sans MT"/>
                <a:cs typeface="Gill Sans MT"/>
              </a:rPr>
              <a:t> </a:t>
            </a:r>
            <a:r>
              <a:rPr sz="2384" spc="6" dirty="0">
                <a:solidFill>
                  <a:schemeClr val="tx1"/>
                </a:solidFill>
                <a:latin typeface="Gill Sans MT"/>
                <a:cs typeface="Gill Sans MT"/>
              </a:rPr>
              <a:t>take-home</a:t>
            </a:r>
            <a:r>
              <a:rPr sz="2384" spc="195" dirty="0">
                <a:solidFill>
                  <a:schemeClr val="tx1"/>
                </a:solidFill>
                <a:latin typeface="Gill Sans MT"/>
                <a:cs typeface="Gill Sans MT"/>
              </a:rPr>
              <a:t> </a:t>
            </a:r>
            <a:r>
              <a:rPr sz="2384" spc="13" dirty="0">
                <a:solidFill>
                  <a:schemeClr val="tx1"/>
                </a:solidFill>
                <a:latin typeface="Gill Sans MT"/>
                <a:cs typeface="Gill Sans MT"/>
              </a:rPr>
              <a:t>point</a:t>
            </a:r>
            <a:r>
              <a:rPr lang="en-US" sz="2384" spc="13" dirty="0">
                <a:solidFill>
                  <a:schemeClr val="tx1"/>
                </a:solidFill>
                <a:latin typeface="Gill Sans MT"/>
                <a:cs typeface="Gill Sans MT"/>
              </a:rPr>
              <a:t>:</a:t>
            </a:r>
            <a:r>
              <a:rPr sz="2384" spc="-63" dirty="0">
                <a:solidFill>
                  <a:schemeClr val="tx1"/>
                </a:solidFill>
                <a:latin typeface="Gill Sans MT"/>
                <a:cs typeface="Gill Sans MT"/>
              </a:rPr>
              <a:t> </a:t>
            </a:r>
            <a:r>
              <a:rPr sz="2384" spc="13" dirty="0">
                <a:solidFill>
                  <a:schemeClr val="tx1"/>
                </a:solidFill>
                <a:latin typeface="Gill Sans MT"/>
                <a:cs typeface="Gill Sans MT"/>
              </a:rPr>
              <a:t>Randomization</a:t>
            </a:r>
            <a:r>
              <a:rPr sz="2384" spc="195" dirty="0">
                <a:solidFill>
                  <a:schemeClr val="tx1"/>
                </a:solidFill>
                <a:latin typeface="Gill Sans MT"/>
                <a:cs typeface="Gill Sans MT"/>
              </a:rPr>
              <a:t> </a:t>
            </a:r>
            <a:r>
              <a:rPr sz="2384" spc="6" dirty="0">
                <a:solidFill>
                  <a:srgbClr val="FF0000"/>
                </a:solidFill>
                <a:latin typeface="Gill Sans MT"/>
                <a:cs typeface="Gill Sans MT"/>
              </a:rPr>
              <a:t>increases</a:t>
            </a:r>
            <a:r>
              <a:rPr sz="2384" spc="195" dirty="0">
                <a:solidFill>
                  <a:srgbClr val="FF0000"/>
                </a:solidFill>
                <a:latin typeface="Gill Sans MT"/>
                <a:cs typeface="Gill Sans MT"/>
              </a:rPr>
              <a:t> </a:t>
            </a:r>
            <a:r>
              <a:rPr sz="2384" spc="6" dirty="0">
                <a:solidFill>
                  <a:srgbClr val="FF0000"/>
                </a:solidFill>
                <a:latin typeface="Gill Sans MT"/>
                <a:cs typeface="Gill Sans MT"/>
              </a:rPr>
              <a:t>bias</a:t>
            </a:r>
            <a:r>
              <a:rPr sz="2384" spc="201" dirty="0">
                <a:solidFill>
                  <a:srgbClr val="FF0000"/>
                </a:solidFill>
                <a:latin typeface="Gill Sans MT"/>
                <a:cs typeface="Gill Sans MT"/>
              </a:rPr>
              <a:t> </a:t>
            </a:r>
            <a:r>
              <a:rPr sz="2384" spc="13" dirty="0">
                <a:solidFill>
                  <a:schemeClr val="tx1"/>
                </a:solidFill>
                <a:latin typeface="Gill Sans MT"/>
                <a:cs typeface="Gill Sans MT"/>
              </a:rPr>
              <a:t>but</a:t>
            </a:r>
            <a:r>
              <a:rPr sz="2384" spc="188" dirty="0">
                <a:solidFill>
                  <a:schemeClr val="tx1"/>
                </a:solidFill>
                <a:latin typeface="Gill Sans MT"/>
                <a:cs typeface="Gill Sans MT"/>
              </a:rPr>
              <a:t> </a:t>
            </a:r>
            <a:r>
              <a:rPr sz="2384" dirty="0">
                <a:solidFill>
                  <a:schemeClr val="tx1"/>
                </a:solidFill>
                <a:latin typeface="Gill Sans MT"/>
                <a:cs typeface="Gill Sans MT"/>
              </a:rPr>
              <a:t>makes </a:t>
            </a:r>
            <a:r>
              <a:rPr sz="2384" spc="-646" dirty="0">
                <a:solidFill>
                  <a:schemeClr val="tx1"/>
                </a:solidFill>
                <a:latin typeface="Gill Sans MT"/>
                <a:cs typeface="Gill Sans MT"/>
              </a:rPr>
              <a:t> </a:t>
            </a:r>
            <a:r>
              <a:rPr sz="2384" dirty="0">
                <a:solidFill>
                  <a:schemeClr val="tx1"/>
                </a:solidFill>
                <a:latin typeface="Gill Sans MT"/>
                <a:cs typeface="Gill Sans MT"/>
              </a:rPr>
              <a:t>it </a:t>
            </a:r>
            <a:r>
              <a:rPr sz="2384" spc="13" dirty="0">
                <a:solidFill>
                  <a:schemeClr val="tx1"/>
                </a:solidFill>
                <a:latin typeface="Gill Sans MT"/>
                <a:cs typeface="Gill Sans MT"/>
              </a:rPr>
              <a:t>possible </a:t>
            </a:r>
            <a:r>
              <a:rPr sz="2384" spc="6" dirty="0">
                <a:solidFill>
                  <a:schemeClr val="tx1"/>
                </a:solidFill>
                <a:latin typeface="Gill Sans MT"/>
                <a:cs typeface="Gill Sans MT"/>
              </a:rPr>
              <a:t>to </a:t>
            </a:r>
            <a:r>
              <a:rPr sz="2384" spc="6" dirty="0">
                <a:solidFill>
                  <a:srgbClr val="FF0000"/>
                </a:solidFill>
                <a:latin typeface="Gill Sans MT"/>
                <a:cs typeface="Gill Sans MT"/>
              </a:rPr>
              <a:t>reduce the </a:t>
            </a:r>
            <a:r>
              <a:rPr sz="2384" spc="13" dirty="0">
                <a:solidFill>
                  <a:srgbClr val="FF0000"/>
                </a:solidFill>
                <a:latin typeface="Gill Sans MT"/>
                <a:cs typeface="Gill Sans MT"/>
              </a:rPr>
              <a:t>variance </a:t>
            </a:r>
            <a:r>
              <a:rPr sz="2384" spc="13" dirty="0">
                <a:solidFill>
                  <a:schemeClr val="tx1"/>
                </a:solidFill>
                <a:latin typeface="Gill Sans MT"/>
                <a:cs typeface="Gill Sans MT"/>
              </a:rPr>
              <a:t>of </a:t>
            </a:r>
            <a:r>
              <a:rPr sz="2384" spc="6" dirty="0">
                <a:solidFill>
                  <a:schemeClr val="tx1"/>
                </a:solidFill>
                <a:latin typeface="Gill Sans MT"/>
                <a:cs typeface="Gill Sans MT"/>
              </a:rPr>
              <a:t>the </a:t>
            </a:r>
            <a:r>
              <a:rPr sz="2384" spc="13" dirty="0">
                <a:solidFill>
                  <a:schemeClr val="tx1"/>
                </a:solidFill>
                <a:latin typeface="Gill Sans MT"/>
                <a:cs typeface="Gill Sans MT"/>
              </a:rPr>
              <a:t>corresponding ensemble model. The </a:t>
            </a:r>
            <a:r>
              <a:rPr sz="2384" spc="19" dirty="0">
                <a:solidFill>
                  <a:schemeClr val="tx1"/>
                </a:solidFill>
                <a:latin typeface="Gill Sans MT"/>
                <a:cs typeface="Gill Sans MT"/>
              </a:rPr>
              <a:t> </a:t>
            </a:r>
            <a:r>
              <a:rPr sz="2384" spc="13" dirty="0">
                <a:solidFill>
                  <a:schemeClr val="tx1"/>
                </a:solidFill>
                <a:latin typeface="Gill Sans MT"/>
                <a:cs typeface="Gill Sans MT"/>
              </a:rPr>
              <a:t>crux of </a:t>
            </a:r>
            <a:r>
              <a:rPr sz="2384" spc="6" dirty="0">
                <a:solidFill>
                  <a:schemeClr val="tx1"/>
                </a:solidFill>
                <a:latin typeface="Gill Sans MT"/>
                <a:cs typeface="Gill Sans MT"/>
              </a:rPr>
              <a:t>the problem </a:t>
            </a:r>
            <a:r>
              <a:rPr sz="2384" dirty="0">
                <a:solidFill>
                  <a:schemeClr val="tx1"/>
                </a:solidFill>
                <a:latin typeface="Gill Sans MT"/>
                <a:cs typeface="Gill Sans MT"/>
              </a:rPr>
              <a:t>is </a:t>
            </a:r>
            <a:r>
              <a:rPr sz="2384" spc="6" dirty="0">
                <a:solidFill>
                  <a:schemeClr val="tx1"/>
                </a:solidFill>
                <a:latin typeface="Gill Sans MT"/>
                <a:cs typeface="Gill Sans MT"/>
              </a:rPr>
              <a:t>to find the right </a:t>
            </a:r>
            <a:r>
              <a:rPr sz="2384" spc="13" dirty="0">
                <a:solidFill>
                  <a:schemeClr val="tx1"/>
                </a:solidFill>
                <a:latin typeface="Gill Sans MT"/>
                <a:cs typeface="Gill Sans MT"/>
              </a:rPr>
              <a:t>trade-off </a:t>
            </a:r>
            <a:r>
              <a:rPr sz="2384" spc="6" dirty="0">
                <a:solidFill>
                  <a:schemeClr val="tx1"/>
                </a:solidFill>
                <a:latin typeface="Gill Sans MT"/>
                <a:cs typeface="Gill Sans MT"/>
              </a:rPr>
              <a:t>(reducing </a:t>
            </a:r>
            <a:r>
              <a:rPr sz="2384" spc="13" dirty="0">
                <a:solidFill>
                  <a:schemeClr val="tx1"/>
                </a:solidFill>
                <a:latin typeface="Gill Sans MT"/>
                <a:cs typeface="Gill Sans MT"/>
              </a:rPr>
              <a:t>variance does not </a:t>
            </a:r>
            <a:r>
              <a:rPr sz="2384" spc="19" dirty="0">
                <a:solidFill>
                  <a:schemeClr val="tx1"/>
                </a:solidFill>
                <a:latin typeface="Gill Sans MT"/>
                <a:cs typeface="Gill Sans MT"/>
              </a:rPr>
              <a:t> </a:t>
            </a:r>
            <a:r>
              <a:rPr sz="2384" spc="13" dirty="0">
                <a:solidFill>
                  <a:schemeClr val="tx1"/>
                </a:solidFill>
                <a:latin typeface="Gill Sans MT"/>
                <a:cs typeface="Gill Sans MT"/>
              </a:rPr>
              <a:t>guarantee</a:t>
            </a:r>
            <a:r>
              <a:rPr sz="2384" spc="25" dirty="0">
                <a:solidFill>
                  <a:schemeClr val="tx1"/>
                </a:solidFill>
                <a:latin typeface="Gill Sans MT"/>
                <a:cs typeface="Gill Sans MT"/>
              </a:rPr>
              <a:t> </a:t>
            </a:r>
            <a:r>
              <a:rPr sz="2384" spc="13" dirty="0">
                <a:solidFill>
                  <a:schemeClr val="tx1"/>
                </a:solidFill>
                <a:latin typeface="Gill Sans MT"/>
                <a:cs typeface="Gill Sans MT"/>
              </a:rPr>
              <a:t>higher</a:t>
            </a:r>
            <a:r>
              <a:rPr sz="2384" spc="31" dirty="0">
                <a:solidFill>
                  <a:schemeClr val="tx1"/>
                </a:solidFill>
                <a:latin typeface="Gill Sans MT"/>
                <a:cs typeface="Gill Sans MT"/>
              </a:rPr>
              <a:t> </a:t>
            </a:r>
            <a:r>
              <a:rPr sz="2384" spc="13" dirty="0">
                <a:solidFill>
                  <a:schemeClr val="tx1"/>
                </a:solidFill>
                <a:latin typeface="Gill Sans MT"/>
                <a:cs typeface="Gill Sans MT"/>
              </a:rPr>
              <a:t>test</a:t>
            </a:r>
            <a:r>
              <a:rPr sz="2384" spc="25" dirty="0">
                <a:solidFill>
                  <a:schemeClr val="tx1"/>
                </a:solidFill>
                <a:latin typeface="Gill Sans MT"/>
                <a:cs typeface="Gill Sans MT"/>
              </a:rPr>
              <a:t> </a:t>
            </a:r>
            <a:r>
              <a:rPr sz="2384" spc="6" dirty="0">
                <a:solidFill>
                  <a:schemeClr val="tx1"/>
                </a:solidFill>
                <a:latin typeface="Gill Sans MT"/>
                <a:cs typeface="Gill Sans MT"/>
              </a:rPr>
              <a:t>scores!)</a:t>
            </a:r>
            <a:endParaRPr sz="2384" dirty="0">
              <a:solidFill>
                <a:schemeClr val="tx1"/>
              </a:solidFill>
              <a:latin typeface="Gill Sans MT"/>
              <a:cs typeface="Gill Sans MT"/>
            </a:endParaRPr>
          </a:p>
          <a:p>
            <a:pPr>
              <a:spcBef>
                <a:spcPts val="38"/>
              </a:spcBef>
            </a:pPr>
            <a:endParaRPr sz="2635" dirty="0">
              <a:solidFill>
                <a:schemeClr val="tx1"/>
              </a:solidFill>
              <a:latin typeface="Gill Sans MT"/>
              <a:cs typeface="Gill Sans MT"/>
            </a:endParaRPr>
          </a:p>
          <a:p>
            <a:pPr marL="31874"/>
            <a:r>
              <a:rPr sz="2510" spc="-25" dirty="0">
                <a:latin typeface="Gill Sans MT"/>
                <a:cs typeface="Gill Sans MT"/>
              </a:rPr>
              <a:t>S</a:t>
            </a:r>
            <a:r>
              <a:rPr sz="2510" spc="-6" dirty="0">
                <a:latin typeface="Gill Sans MT"/>
                <a:cs typeface="Gill Sans MT"/>
              </a:rPr>
              <a:t>li</a:t>
            </a:r>
            <a:r>
              <a:rPr sz="2510" spc="-25" dirty="0">
                <a:latin typeface="Gill Sans MT"/>
                <a:cs typeface="Gill Sans MT"/>
              </a:rPr>
              <a:t>d</a:t>
            </a:r>
            <a:r>
              <a:rPr sz="2510" dirty="0">
                <a:latin typeface="Gill Sans MT"/>
                <a:cs typeface="Gill Sans MT"/>
              </a:rPr>
              <a:t>e</a:t>
            </a:r>
            <a:r>
              <a:rPr sz="2510" spc="-25" dirty="0">
                <a:latin typeface="Gill Sans MT"/>
                <a:cs typeface="Gill Sans MT"/>
              </a:rPr>
              <a:t> </a:t>
            </a:r>
            <a:r>
              <a:rPr sz="2510" spc="-13" dirty="0">
                <a:latin typeface="Gill Sans MT"/>
                <a:cs typeface="Gill Sans MT"/>
              </a:rPr>
              <a:t>a</a:t>
            </a:r>
            <a:r>
              <a:rPr sz="2510" spc="-25" dirty="0">
                <a:latin typeface="Gill Sans MT"/>
                <a:cs typeface="Gill Sans MT"/>
              </a:rPr>
              <a:t>d</a:t>
            </a:r>
            <a:r>
              <a:rPr sz="2510" spc="-38" dirty="0">
                <a:latin typeface="Gill Sans MT"/>
                <a:cs typeface="Gill Sans MT"/>
              </a:rPr>
              <a:t>a</a:t>
            </a:r>
            <a:r>
              <a:rPr sz="2510" spc="-19" dirty="0">
                <a:latin typeface="Gill Sans MT"/>
                <a:cs typeface="Gill Sans MT"/>
              </a:rPr>
              <a:t>pt</a:t>
            </a:r>
            <a:r>
              <a:rPr sz="2510" spc="-13" dirty="0">
                <a:latin typeface="Gill Sans MT"/>
                <a:cs typeface="Gill Sans MT"/>
              </a:rPr>
              <a:t>e</a:t>
            </a:r>
            <a:r>
              <a:rPr sz="2510" dirty="0">
                <a:latin typeface="Gill Sans MT"/>
                <a:cs typeface="Gill Sans MT"/>
              </a:rPr>
              <a:t>d</a:t>
            </a:r>
            <a:r>
              <a:rPr sz="2510" spc="-31" dirty="0">
                <a:latin typeface="Gill Sans MT"/>
                <a:cs typeface="Gill Sans MT"/>
              </a:rPr>
              <a:t> </a:t>
            </a:r>
            <a:r>
              <a:rPr sz="2510" spc="-13" dirty="0">
                <a:latin typeface="Gill Sans MT"/>
                <a:cs typeface="Gill Sans MT"/>
              </a:rPr>
              <a:t>f</a:t>
            </a:r>
            <a:r>
              <a:rPr sz="2510" spc="-82" dirty="0">
                <a:latin typeface="Gill Sans MT"/>
                <a:cs typeface="Gill Sans MT"/>
              </a:rPr>
              <a:t>r</a:t>
            </a:r>
            <a:r>
              <a:rPr sz="2510" spc="-19" dirty="0">
                <a:latin typeface="Gill Sans MT"/>
                <a:cs typeface="Gill Sans MT"/>
              </a:rPr>
              <a:t>o</a:t>
            </a:r>
            <a:r>
              <a:rPr sz="2510" dirty="0">
                <a:latin typeface="Gill Sans MT"/>
                <a:cs typeface="Gill Sans MT"/>
              </a:rPr>
              <a:t>m</a:t>
            </a:r>
            <a:r>
              <a:rPr sz="2510" spc="-44" dirty="0">
                <a:latin typeface="Gill Sans MT"/>
                <a:cs typeface="Gill Sans MT"/>
              </a:rPr>
              <a:t> </a:t>
            </a:r>
            <a:r>
              <a:rPr sz="2510" spc="-31" dirty="0">
                <a:latin typeface="Gill Sans MT"/>
                <a:cs typeface="Gill Sans MT"/>
              </a:rPr>
              <a:t>G</a:t>
            </a:r>
            <a:r>
              <a:rPr sz="2510" spc="-6" dirty="0">
                <a:latin typeface="Gill Sans MT"/>
                <a:cs typeface="Gill Sans MT"/>
              </a:rPr>
              <a:t>ill</a:t>
            </a:r>
            <a:r>
              <a:rPr sz="2510" spc="-13" dirty="0">
                <a:latin typeface="Gill Sans MT"/>
                <a:cs typeface="Gill Sans MT"/>
              </a:rPr>
              <a:t>e</a:t>
            </a:r>
            <a:r>
              <a:rPr sz="2510" dirty="0">
                <a:latin typeface="Gill Sans MT"/>
                <a:cs typeface="Gill Sans MT"/>
              </a:rPr>
              <a:t>s</a:t>
            </a:r>
            <a:r>
              <a:rPr sz="2510" spc="-38" dirty="0">
                <a:latin typeface="Gill Sans MT"/>
                <a:cs typeface="Gill Sans MT"/>
              </a:rPr>
              <a:t> </a:t>
            </a:r>
            <a:r>
              <a:rPr sz="2510" spc="-19" dirty="0" err="1">
                <a:latin typeface="Gill Sans MT"/>
                <a:cs typeface="Gill Sans MT"/>
              </a:rPr>
              <a:t>Lo</a:t>
            </a:r>
            <a:r>
              <a:rPr sz="2510" spc="-25" dirty="0" err="1">
                <a:latin typeface="Gill Sans MT"/>
                <a:cs typeface="Gill Sans MT"/>
              </a:rPr>
              <a:t>upp</a:t>
            </a:r>
            <a:r>
              <a:rPr sz="2510" spc="-13" dirty="0" err="1">
                <a:latin typeface="Gill Sans MT"/>
                <a:cs typeface="Gill Sans MT"/>
              </a:rPr>
              <a:t>e</a:t>
            </a:r>
            <a:r>
              <a:rPr sz="2510" dirty="0">
                <a:latin typeface="Gill Sans MT"/>
                <a:cs typeface="Gill Sans MT"/>
              </a:rPr>
              <a:t>;</a:t>
            </a:r>
            <a:r>
              <a:rPr sz="2510" spc="-264" dirty="0">
                <a:latin typeface="Gill Sans MT"/>
                <a:cs typeface="Gill Sans MT"/>
              </a:rPr>
              <a:t> </a:t>
            </a:r>
            <a:r>
              <a:rPr sz="2510" spc="-19" dirty="0">
                <a:latin typeface="Gill Sans MT"/>
                <a:cs typeface="Gill Sans MT"/>
              </a:rPr>
              <a:t>se</a:t>
            </a:r>
            <a:r>
              <a:rPr sz="2510" dirty="0">
                <a:latin typeface="Gill Sans MT"/>
                <a:cs typeface="Gill Sans MT"/>
              </a:rPr>
              <a:t>e</a:t>
            </a:r>
            <a:r>
              <a:rPr sz="2510" spc="-25" dirty="0">
                <a:latin typeface="Gill Sans MT"/>
                <a:cs typeface="Gill Sans MT"/>
              </a:rPr>
              <a:t> </a:t>
            </a:r>
            <a:r>
              <a:rPr lang="en-US" sz="2510" dirty="0">
                <a:latin typeface="Gill Sans MT"/>
                <a:cs typeface="Gill Sans MT"/>
              </a:rPr>
              <a:t>arXiv:1407.7502</a:t>
            </a:r>
            <a:r>
              <a:rPr sz="2510" spc="-25" dirty="0">
                <a:latin typeface="Gill Sans MT"/>
                <a:cs typeface="Gill Sans MT"/>
              </a:rPr>
              <a:t> </a:t>
            </a:r>
            <a:r>
              <a:rPr sz="2510" spc="-38" dirty="0">
                <a:latin typeface="Gill Sans MT"/>
                <a:cs typeface="Gill Sans MT"/>
              </a:rPr>
              <a:t>f</a:t>
            </a:r>
            <a:r>
              <a:rPr sz="2510" spc="-19" dirty="0">
                <a:latin typeface="Gill Sans MT"/>
                <a:cs typeface="Gill Sans MT"/>
              </a:rPr>
              <a:t>o</a:t>
            </a:r>
            <a:r>
              <a:rPr sz="2510" dirty="0">
                <a:latin typeface="Gill Sans MT"/>
                <a:cs typeface="Gill Sans MT"/>
              </a:rPr>
              <a:t>r</a:t>
            </a:r>
            <a:r>
              <a:rPr sz="2510" spc="-31" dirty="0">
                <a:latin typeface="Gill Sans MT"/>
                <a:cs typeface="Gill Sans MT"/>
              </a:rPr>
              <a:t> </a:t>
            </a:r>
            <a:r>
              <a:rPr sz="2510" spc="-19" dirty="0">
                <a:latin typeface="Gill Sans MT"/>
                <a:cs typeface="Gill Sans MT"/>
              </a:rPr>
              <a:t>der</a:t>
            </a:r>
            <a:r>
              <a:rPr sz="2510" spc="-6" dirty="0">
                <a:latin typeface="Gill Sans MT"/>
                <a:cs typeface="Gill Sans MT"/>
              </a:rPr>
              <a:t>i</a:t>
            </a:r>
            <a:r>
              <a:rPr sz="2510" spc="-19" dirty="0">
                <a:latin typeface="Gill Sans MT"/>
                <a:cs typeface="Gill Sans MT"/>
              </a:rPr>
              <a:t>vat</a:t>
            </a:r>
            <a:r>
              <a:rPr sz="2510" spc="-6" dirty="0">
                <a:latin typeface="Gill Sans MT"/>
                <a:cs typeface="Gill Sans MT"/>
              </a:rPr>
              <a:t>i</a:t>
            </a:r>
            <a:r>
              <a:rPr sz="2510" spc="-19" dirty="0">
                <a:latin typeface="Gill Sans MT"/>
                <a:cs typeface="Gill Sans MT"/>
              </a:rPr>
              <a:t>o</a:t>
            </a:r>
            <a:r>
              <a:rPr sz="2510" dirty="0">
                <a:latin typeface="Gill Sans MT"/>
                <a:cs typeface="Gill Sans MT"/>
              </a:rPr>
              <a:t>n</a:t>
            </a:r>
          </a:p>
        </p:txBody>
      </p:sp>
      <p:sp>
        <p:nvSpPr>
          <p:cNvPr id="5" name="Title 4">
            <a:extLst>
              <a:ext uri="{FF2B5EF4-FFF2-40B4-BE49-F238E27FC236}">
                <a16:creationId xmlns:a16="http://schemas.microsoft.com/office/drawing/2014/main" id="{16027CDC-77AC-4148-BF29-682E76493DC7}"/>
              </a:ext>
            </a:extLst>
          </p:cNvPr>
          <p:cNvSpPr>
            <a:spLocks noGrp="1"/>
          </p:cNvSpPr>
          <p:nvPr>
            <p:ph type="title"/>
          </p:nvPr>
        </p:nvSpPr>
        <p:spPr>
          <a:xfrm>
            <a:off x="2279996" y="533400"/>
            <a:ext cx="8444807" cy="1690624"/>
          </a:xfrm>
        </p:spPr>
        <p:txBody>
          <a:bodyPr>
            <a:normAutofit fontScale="90000"/>
          </a:bodyPr>
          <a:lstStyle/>
          <a:p>
            <a:r>
              <a:rPr lang="en-US" dirty="0"/>
              <a:t>notes on bias and variance</a:t>
            </a:r>
            <a:br>
              <a:rPr lang="en-US" dirty="0"/>
            </a:br>
            <a:r>
              <a:rPr lang="en-US" dirty="0"/>
              <a:t>for a set of randomized trees (FOREST)</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3200" y="820110"/>
            <a:ext cx="10373559" cy="1346875"/>
          </a:xfrm>
          <a:prstGeom prst="rect">
            <a:avLst/>
          </a:prstGeom>
          <a:solidFill>
            <a:srgbClr val="FFFFFF"/>
          </a:solidFill>
          <a:ln w="24060">
            <a:solidFill>
              <a:srgbClr val="404040"/>
            </a:solidFill>
          </a:ln>
        </p:spPr>
        <p:txBody>
          <a:bodyPr vert="horz" wrap="square" lIns="0" tIns="292449" rIns="0" bIns="0" rtlCol="0" anchor="ctr">
            <a:spAutoFit/>
          </a:bodyPr>
          <a:lstStyle/>
          <a:p>
            <a:pPr marL="1001655" marR="1024764" indent="167341">
              <a:lnSpc>
                <a:spcPts val="4129"/>
              </a:lnSpc>
              <a:spcBef>
                <a:spcPts val="2303"/>
              </a:spcBef>
            </a:pPr>
            <a:r>
              <a:rPr lang="en-US" sz="3890" spc="300" dirty="0"/>
              <a:t>how do we build</a:t>
            </a:r>
            <a:br>
              <a:rPr lang="en-US" sz="3890" spc="300" dirty="0"/>
            </a:br>
            <a:r>
              <a:rPr lang="en-US" sz="3890" spc="300" dirty="0"/>
              <a:t>randomized trees?</a:t>
            </a:r>
            <a:endParaRPr sz="3890" spc="300" dirty="0"/>
          </a:p>
        </p:txBody>
      </p:sp>
      <p:sp>
        <p:nvSpPr>
          <p:cNvPr id="3" name="object 3"/>
          <p:cNvSpPr txBox="1"/>
          <p:nvPr/>
        </p:nvSpPr>
        <p:spPr>
          <a:xfrm>
            <a:off x="9518333" y="2949666"/>
            <a:ext cx="3207373" cy="1773497"/>
          </a:xfrm>
          <a:prstGeom prst="rect">
            <a:avLst/>
          </a:prstGeom>
        </p:spPr>
        <p:txBody>
          <a:bodyPr vert="horz" wrap="square" lIns="0" tIns="15937" rIns="0" bIns="0" rtlCol="0">
            <a:spAutoFit/>
          </a:bodyPr>
          <a:lstStyle/>
          <a:p>
            <a:pPr marL="15937">
              <a:spcBef>
                <a:spcPts val="125"/>
              </a:spcBef>
            </a:pPr>
            <a:r>
              <a:rPr sz="11420" spc="671" dirty="0">
                <a:latin typeface="Verdana"/>
                <a:cs typeface="Verdana"/>
              </a:rPr>
              <a:t>}</a:t>
            </a:r>
            <a:r>
              <a:rPr sz="2635" spc="-19" dirty="0">
                <a:solidFill>
                  <a:srgbClr val="0000FF"/>
                </a:solidFill>
                <a:latin typeface="Gill Sans MT"/>
                <a:cs typeface="Gill Sans MT"/>
              </a:rPr>
              <a:t>Ran</a:t>
            </a:r>
            <a:r>
              <a:rPr sz="2635" spc="-25" dirty="0">
                <a:solidFill>
                  <a:srgbClr val="0000FF"/>
                </a:solidFill>
                <a:latin typeface="Gill Sans MT"/>
                <a:cs typeface="Gill Sans MT"/>
              </a:rPr>
              <a:t>do</a:t>
            </a:r>
            <a:r>
              <a:rPr sz="2635" dirty="0">
                <a:solidFill>
                  <a:srgbClr val="0000FF"/>
                </a:solidFill>
                <a:latin typeface="Gill Sans MT"/>
                <a:cs typeface="Gill Sans MT"/>
              </a:rPr>
              <a:t>m</a:t>
            </a:r>
            <a:r>
              <a:rPr sz="2635" spc="-44" dirty="0">
                <a:solidFill>
                  <a:srgbClr val="0000FF"/>
                </a:solidFill>
                <a:latin typeface="Gill Sans MT"/>
                <a:cs typeface="Gill Sans MT"/>
              </a:rPr>
              <a:t> </a:t>
            </a:r>
            <a:r>
              <a:rPr sz="2635" spc="-75" dirty="0">
                <a:solidFill>
                  <a:srgbClr val="0000FF"/>
                </a:solidFill>
                <a:latin typeface="Gill Sans MT"/>
                <a:cs typeface="Gill Sans MT"/>
              </a:rPr>
              <a:t>F</a:t>
            </a:r>
            <a:r>
              <a:rPr sz="2635" spc="-38" dirty="0">
                <a:solidFill>
                  <a:srgbClr val="0000FF"/>
                </a:solidFill>
                <a:latin typeface="Gill Sans MT"/>
                <a:cs typeface="Gill Sans MT"/>
              </a:rPr>
              <a:t>o</a:t>
            </a:r>
            <a:r>
              <a:rPr sz="2635" spc="-82" dirty="0">
                <a:solidFill>
                  <a:srgbClr val="0000FF"/>
                </a:solidFill>
                <a:latin typeface="Gill Sans MT"/>
                <a:cs typeface="Gill Sans MT"/>
              </a:rPr>
              <a:t>r</a:t>
            </a:r>
            <a:r>
              <a:rPr sz="2635" spc="-38" dirty="0">
                <a:solidFill>
                  <a:srgbClr val="0000FF"/>
                </a:solidFill>
                <a:latin typeface="Gill Sans MT"/>
                <a:cs typeface="Gill Sans MT"/>
              </a:rPr>
              <a:t>es</a:t>
            </a:r>
            <a:r>
              <a:rPr sz="2635" spc="-31" dirty="0">
                <a:solidFill>
                  <a:srgbClr val="0000FF"/>
                </a:solidFill>
                <a:latin typeface="Gill Sans MT"/>
                <a:cs typeface="Gill Sans MT"/>
              </a:rPr>
              <a:t>t</a:t>
            </a:r>
            <a:r>
              <a:rPr sz="2635" dirty="0">
                <a:solidFill>
                  <a:srgbClr val="0000FF"/>
                </a:solidFill>
                <a:latin typeface="Gill Sans MT"/>
                <a:cs typeface="Gill Sans MT"/>
              </a:rPr>
              <a:t>s</a:t>
            </a:r>
            <a:endParaRPr sz="2635">
              <a:latin typeface="Gill Sans MT"/>
              <a:cs typeface="Gill Sans MT"/>
            </a:endParaRPr>
          </a:p>
        </p:txBody>
      </p:sp>
      <p:sp>
        <p:nvSpPr>
          <p:cNvPr id="4" name="object 4"/>
          <p:cNvSpPr txBox="1"/>
          <p:nvPr/>
        </p:nvSpPr>
        <p:spPr>
          <a:xfrm>
            <a:off x="1304554" y="4303059"/>
            <a:ext cx="7652112" cy="518218"/>
          </a:xfrm>
          <a:prstGeom prst="rect">
            <a:avLst/>
          </a:prstGeom>
        </p:spPr>
        <p:txBody>
          <a:bodyPr vert="horz" wrap="square" lIns="0" tIns="15937" rIns="0" bIns="0" rtlCol="0">
            <a:spAutoFit/>
          </a:bodyPr>
          <a:lstStyle/>
          <a:p>
            <a:pPr marL="161763" indent="-146621">
              <a:spcBef>
                <a:spcPts val="125"/>
              </a:spcBef>
              <a:buSzPct val="96153"/>
              <a:buFont typeface="Arial"/>
              <a:buChar char="•"/>
              <a:tabLst>
                <a:tab pos="162558" algn="l"/>
              </a:tabLst>
            </a:pPr>
            <a:r>
              <a:rPr sz="3263" dirty="0">
                <a:solidFill>
                  <a:schemeClr val="tx1"/>
                </a:solidFill>
                <a:latin typeface="Gill Sans MT"/>
                <a:cs typeface="Gill Sans MT"/>
              </a:rPr>
              <a:t>Random selection of K ≤ p split variables</a:t>
            </a:r>
          </a:p>
        </p:txBody>
      </p:sp>
      <p:sp>
        <p:nvSpPr>
          <p:cNvPr id="5" name="object 5"/>
          <p:cNvSpPr txBox="1"/>
          <p:nvPr/>
        </p:nvSpPr>
        <p:spPr>
          <a:xfrm>
            <a:off x="10181156" y="4950112"/>
            <a:ext cx="2317277" cy="2622960"/>
          </a:xfrm>
          <a:prstGeom prst="rect">
            <a:avLst/>
          </a:prstGeom>
        </p:spPr>
        <p:txBody>
          <a:bodyPr vert="horz" wrap="square" lIns="0" tIns="15937" rIns="0" bIns="0" rtlCol="0">
            <a:spAutoFit/>
          </a:bodyPr>
          <a:lstStyle/>
          <a:p>
            <a:pPr marL="15937">
              <a:spcBef>
                <a:spcPts val="125"/>
              </a:spcBef>
            </a:pPr>
            <a:r>
              <a:rPr sz="11420" dirty="0">
                <a:latin typeface="Verdana"/>
                <a:cs typeface="Verdana"/>
              </a:rPr>
              <a:t>}</a:t>
            </a:r>
            <a:r>
              <a:rPr sz="11420" spc="-2855" dirty="0">
                <a:latin typeface="Verdana"/>
                <a:cs typeface="Verdana"/>
              </a:rPr>
              <a:t> </a:t>
            </a:r>
            <a:r>
              <a:rPr sz="2635" spc="-19" dirty="0">
                <a:solidFill>
                  <a:srgbClr val="0000FF"/>
                </a:solidFill>
                <a:latin typeface="Gill Sans MT"/>
                <a:cs typeface="Gill Sans MT"/>
              </a:rPr>
              <a:t>Ext</a:t>
            </a:r>
            <a:r>
              <a:rPr sz="2635" spc="-13" dirty="0">
                <a:solidFill>
                  <a:srgbClr val="0000FF"/>
                </a:solidFill>
                <a:latin typeface="Gill Sans MT"/>
                <a:cs typeface="Gill Sans MT"/>
              </a:rPr>
              <a:t>r</a:t>
            </a:r>
            <a:r>
              <a:rPr sz="2635" dirty="0">
                <a:solidFill>
                  <a:srgbClr val="0000FF"/>
                </a:solidFill>
                <a:latin typeface="Gill Sans MT"/>
                <a:cs typeface="Gill Sans MT"/>
              </a:rPr>
              <a:t>a</a:t>
            </a:r>
            <a:endParaRPr sz="2635">
              <a:latin typeface="Gill Sans MT"/>
              <a:cs typeface="Gill Sans MT"/>
            </a:endParaRPr>
          </a:p>
          <a:p>
            <a:pPr marL="1168995">
              <a:spcBef>
                <a:spcPts val="50"/>
              </a:spcBef>
            </a:pPr>
            <a:r>
              <a:rPr sz="2635" spc="-19" dirty="0">
                <a:solidFill>
                  <a:srgbClr val="0000FF"/>
                </a:solidFill>
                <a:latin typeface="Gill Sans MT"/>
                <a:cs typeface="Gill Sans MT"/>
              </a:rPr>
              <a:t>Random</a:t>
            </a:r>
            <a:endParaRPr sz="2635">
              <a:latin typeface="Gill Sans MT"/>
              <a:cs typeface="Gill Sans MT"/>
            </a:endParaRPr>
          </a:p>
          <a:p>
            <a:pPr marL="1169793">
              <a:spcBef>
                <a:spcPts val="207"/>
              </a:spcBef>
            </a:pPr>
            <a:r>
              <a:rPr sz="2635" spc="-94" dirty="0">
                <a:solidFill>
                  <a:srgbClr val="0000FF"/>
                </a:solidFill>
                <a:latin typeface="Gill Sans MT"/>
                <a:cs typeface="Gill Sans MT"/>
              </a:rPr>
              <a:t>Trees</a:t>
            </a:r>
            <a:endParaRPr sz="2635">
              <a:latin typeface="Gill Sans MT"/>
              <a:cs typeface="Gill Sans MT"/>
            </a:endParaRPr>
          </a:p>
        </p:txBody>
      </p:sp>
      <p:sp>
        <p:nvSpPr>
          <p:cNvPr id="6" name="object 6"/>
          <p:cNvSpPr txBox="1"/>
          <p:nvPr/>
        </p:nvSpPr>
        <p:spPr>
          <a:xfrm>
            <a:off x="1282466" y="2807507"/>
            <a:ext cx="6462557" cy="518218"/>
          </a:xfrm>
          <a:prstGeom prst="rect">
            <a:avLst/>
          </a:prstGeom>
        </p:spPr>
        <p:txBody>
          <a:bodyPr vert="horz" wrap="square" lIns="0" tIns="15937" rIns="0" bIns="0" rtlCol="0">
            <a:spAutoFit/>
          </a:bodyPr>
          <a:lstStyle/>
          <a:p>
            <a:pPr marL="161763" indent="-146621">
              <a:spcBef>
                <a:spcPts val="125"/>
              </a:spcBef>
              <a:buSzPct val="96153"/>
              <a:buFont typeface="Arial"/>
              <a:buChar char="•"/>
              <a:tabLst>
                <a:tab pos="162558" algn="l"/>
              </a:tabLst>
            </a:pPr>
            <a:r>
              <a:rPr sz="3263" spc="-31" dirty="0">
                <a:solidFill>
                  <a:schemeClr val="tx1"/>
                </a:solidFill>
                <a:latin typeface="Gill Sans MT"/>
                <a:cs typeface="Gill Sans MT"/>
              </a:rPr>
              <a:t>Bootstrap</a:t>
            </a:r>
            <a:r>
              <a:rPr sz="3263" spc="-75" dirty="0">
                <a:solidFill>
                  <a:schemeClr val="tx1"/>
                </a:solidFill>
                <a:latin typeface="Gill Sans MT"/>
                <a:cs typeface="Gill Sans MT"/>
              </a:rPr>
              <a:t> </a:t>
            </a:r>
            <a:r>
              <a:rPr sz="3263" spc="-25" dirty="0">
                <a:solidFill>
                  <a:schemeClr val="tx1"/>
                </a:solidFill>
                <a:latin typeface="Gill Sans MT"/>
                <a:cs typeface="Gill Sans MT"/>
              </a:rPr>
              <a:t>samples</a:t>
            </a:r>
            <a:r>
              <a:rPr sz="3263" spc="-82" dirty="0">
                <a:solidFill>
                  <a:schemeClr val="tx1"/>
                </a:solidFill>
                <a:latin typeface="Gill Sans MT"/>
                <a:cs typeface="Gill Sans MT"/>
              </a:rPr>
              <a:t> </a:t>
            </a:r>
            <a:r>
              <a:rPr sz="3263" spc="-25" dirty="0">
                <a:solidFill>
                  <a:schemeClr val="tx1"/>
                </a:solidFill>
                <a:latin typeface="Gill Sans MT"/>
                <a:cs typeface="Gill Sans MT"/>
              </a:rPr>
              <a:t>(with</a:t>
            </a:r>
            <a:r>
              <a:rPr sz="3263" spc="-69" dirty="0">
                <a:solidFill>
                  <a:schemeClr val="tx1"/>
                </a:solidFill>
                <a:latin typeface="Gill Sans MT"/>
                <a:cs typeface="Gill Sans MT"/>
              </a:rPr>
              <a:t> </a:t>
            </a:r>
            <a:r>
              <a:rPr sz="3263" spc="-38" dirty="0">
                <a:solidFill>
                  <a:schemeClr val="tx1"/>
                </a:solidFill>
                <a:latin typeface="Gill Sans MT"/>
                <a:cs typeface="Gill Sans MT"/>
              </a:rPr>
              <a:t>replacement)</a:t>
            </a:r>
            <a:endParaRPr sz="3263" dirty="0">
              <a:solidFill>
                <a:schemeClr val="tx1"/>
              </a:solidFill>
              <a:latin typeface="Gill Sans MT"/>
              <a:cs typeface="Gill Sans MT"/>
            </a:endParaRPr>
          </a:p>
        </p:txBody>
      </p:sp>
      <p:sp>
        <p:nvSpPr>
          <p:cNvPr id="7" name="object 7"/>
          <p:cNvSpPr txBox="1"/>
          <p:nvPr/>
        </p:nvSpPr>
        <p:spPr>
          <a:xfrm>
            <a:off x="2053969" y="3434798"/>
            <a:ext cx="7593073" cy="518218"/>
          </a:xfrm>
          <a:prstGeom prst="rect">
            <a:avLst/>
          </a:prstGeom>
        </p:spPr>
        <p:txBody>
          <a:bodyPr vert="horz" wrap="square" lIns="0" tIns="15937" rIns="0" bIns="0" rtlCol="0">
            <a:spAutoFit/>
          </a:bodyPr>
          <a:lstStyle/>
          <a:p>
            <a:pPr marL="15937">
              <a:spcBef>
                <a:spcPts val="125"/>
              </a:spcBef>
            </a:pPr>
            <a:r>
              <a:rPr lang="en-US" sz="3263" spc="-6" dirty="0">
                <a:solidFill>
                  <a:srgbClr val="FF0000"/>
                </a:solidFill>
                <a:latin typeface="Gill Sans MT"/>
                <a:cs typeface="Gill Sans MT"/>
              </a:rPr>
              <a:t>build different learning sets using bootstrap</a:t>
            </a:r>
            <a:endParaRPr sz="3263" dirty="0">
              <a:latin typeface="Gill Sans MT"/>
              <a:cs typeface="Gill Sans MT"/>
            </a:endParaRPr>
          </a:p>
        </p:txBody>
      </p:sp>
      <p:sp>
        <p:nvSpPr>
          <p:cNvPr id="8" name="object 8"/>
          <p:cNvSpPr txBox="1"/>
          <p:nvPr/>
        </p:nvSpPr>
        <p:spPr>
          <a:xfrm>
            <a:off x="1166416" y="4858245"/>
            <a:ext cx="8351917" cy="1691691"/>
          </a:xfrm>
          <a:prstGeom prst="rect">
            <a:avLst/>
          </a:prstGeom>
        </p:spPr>
        <p:txBody>
          <a:bodyPr vert="horz" wrap="square" lIns="0" tIns="35061" rIns="0" bIns="0" rtlCol="0">
            <a:spAutoFit/>
          </a:bodyPr>
          <a:lstStyle/>
          <a:p>
            <a:pPr marL="2356319" marR="6375" indent="-750644">
              <a:lnSpc>
                <a:spcPts val="3890"/>
              </a:lnSpc>
              <a:spcBef>
                <a:spcPts val="275"/>
              </a:spcBef>
              <a:tabLst>
                <a:tab pos="5375628" algn="l"/>
              </a:tabLst>
            </a:pPr>
            <a:r>
              <a:rPr sz="3263" spc="-6" dirty="0">
                <a:solidFill>
                  <a:srgbClr val="FF0000"/>
                </a:solidFill>
                <a:latin typeface="Gill Sans MT"/>
                <a:cs typeface="Gill Sans MT"/>
              </a:rPr>
              <a:t>choose</a:t>
            </a:r>
            <a:r>
              <a:rPr sz="3263" spc="-31" dirty="0">
                <a:solidFill>
                  <a:srgbClr val="FF0000"/>
                </a:solidFill>
                <a:latin typeface="Gill Sans MT"/>
                <a:cs typeface="Gill Sans MT"/>
              </a:rPr>
              <a:t> </a:t>
            </a:r>
            <a:r>
              <a:rPr sz="3263" spc="-6" dirty="0">
                <a:solidFill>
                  <a:srgbClr val="FF0000"/>
                </a:solidFill>
                <a:latin typeface="Gill Sans MT"/>
                <a:cs typeface="Gill Sans MT"/>
              </a:rPr>
              <a:t>best</a:t>
            </a:r>
            <a:r>
              <a:rPr sz="3263" spc="-31" dirty="0">
                <a:solidFill>
                  <a:srgbClr val="FF0000"/>
                </a:solidFill>
                <a:latin typeface="Gill Sans MT"/>
                <a:cs typeface="Gill Sans MT"/>
              </a:rPr>
              <a:t> </a:t>
            </a:r>
            <a:r>
              <a:rPr sz="3263" spc="-6" dirty="0">
                <a:solidFill>
                  <a:srgbClr val="FF0000"/>
                </a:solidFill>
                <a:latin typeface="Gill Sans MT"/>
                <a:cs typeface="Gill Sans MT"/>
              </a:rPr>
              <a:t>split</a:t>
            </a:r>
            <a:r>
              <a:rPr sz="3263" spc="-25" dirty="0">
                <a:solidFill>
                  <a:srgbClr val="FF0000"/>
                </a:solidFill>
                <a:latin typeface="Gill Sans MT"/>
                <a:cs typeface="Gill Sans MT"/>
              </a:rPr>
              <a:t> </a:t>
            </a:r>
            <a:r>
              <a:rPr sz="3263" spc="-6" dirty="0">
                <a:solidFill>
                  <a:srgbClr val="FF0000"/>
                </a:solidFill>
                <a:latin typeface="Gill Sans MT"/>
                <a:cs typeface="Gill Sans MT"/>
              </a:rPr>
              <a:t>not</a:t>
            </a:r>
            <a:r>
              <a:rPr sz="3263" spc="-31" dirty="0">
                <a:solidFill>
                  <a:srgbClr val="FF0000"/>
                </a:solidFill>
                <a:latin typeface="Gill Sans MT"/>
                <a:cs typeface="Gill Sans MT"/>
              </a:rPr>
              <a:t> </a:t>
            </a:r>
            <a:r>
              <a:rPr sz="3263" spc="-6" dirty="0">
                <a:solidFill>
                  <a:srgbClr val="FF0000"/>
                </a:solidFill>
                <a:latin typeface="Gill Sans MT"/>
                <a:cs typeface="Gill Sans MT"/>
              </a:rPr>
              <a:t>among</a:t>
            </a:r>
            <a:r>
              <a:rPr sz="3263" spc="-19" dirty="0">
                <a:solidFill>
                  <a:srgbClr val="FF0000"/>
                </a:solidFill>
                <a:latin typeface="Gill Sans MT"/>
                <a:cs typeface="Gill Sans MT"/>
              </a:rPr>
              <a:t> </a:t>
            </a:r>
            <a:r>
              <a:rPr sz="3263" spc="-6" dirty="0">
                <a:solidFill>
                  <a:srgbClr val="FF0000"/>
                </a:solidFill>
                <a:latin typeface="Gill Sans MT"/>
                <a:cs typeface="Gill Sans MT"/>
              </a:rPr>
              <a:t>all</a:t>
            </a:r>
            <a:r>
              <a:rPr sz="3263" spc="-25" dirty="0">
                <a:solidFill>
                  <a:srgbClr val="FF0000"/>
                </a:solidFill>
                <a:latin typeface="Gill Sans MT"/>
                <a:cs typeface="Gill Sans MT"/>
              </a:rPr>
              <a:t> </a:t>
            </a:r>
            <a:r>
              <a:rPr sz="3263" spc="-19" dirty="0">
                <a:solidFill>
                  <a:srgbClr val="FF0000"/>
                </a:solidFill>
                <a:latin typeface="Gill Sans MT"/>
                <a:cs typeface="Gill Sans MT"/>
              </a:rPr>
              <a:t>features, </a:t>
            </a:r>
            <a:r>
              <a:rPr sz="3263" spc="-891" dirty="0">
                <a:solidFill>
                  <a:srgbClr val="FF0000"/>
                </a:solidFill>
                <a:latin typeface="Gill Sans MT"/>
                <a:cs typeface="Gill Sans MT"/>
              </a:rPr>
              <a:t> </a:t>
            </a:r>
            <a:r>
              <a:rPr sz="3263" spc="-6" dirty="0">
                <a:solidFill>
                  <a:srgbClr val="FF0000"/>
                </a:solidFill>
                <a:latin typeface="Gill Sans MT"/>
                <a:cs typeface="Gill Sans MT"/>
              </a:rPr>
              <a:t>but</a:t>
            </a:r>
            <a:r>
              <a:rPr sz="3263" spc="-13" dirty="0">
                <a:solidFill>
                  <a:srgbClr val="FF0000"/>
                </a:solidFill>
                <a:latin typeface="Gill Sans MT"/>
                <a:cs typeface="Gill Sans MT"/>
              </a:rPr>
              <a:t> </a:t>
            </a:r>
            <a:r>
              <a:rPr sz="3263" spc="-6" dirty="0">
                <a:solidFill>
                  <a:srgbClr val="FF0000"/>
                </a:solidFill>
                <a:latin typeface="Gill Sans MT"/>
                <a:cs typeface="Gill Sans MT"/>
              </a:rPr>
              <a:t>among</a:t>
            </a:r>
            <a:r>
              <a:rPr sz="3263" dirty="0">
                <a:solidFill>
                  <a:srgbClr val="FF0000"/>
                </a:solidFill>
                <a:latin typeface="Gill Sans MT"/>
                <a:cs typeface="Gill Sans MT"/>
              </a:rPr>
              <a:t> </a:t>
            </a:r>
            <a:r>
              <a:rPr sz="3263" spc="-6" dirty="0">
                <a:solidFill>
                  <a:srgbClr val="FF0000"/>
                </a:solidFill>
                <a:latin typeface="Gill Sans MT"/>
                <a:cs typeface="Gill Sans MT"/>
              </a:rPr>
              <a:t>some</a:t>
            </a:r>
            <a:r>
              <a:rPr lang="en-US" sz="3263" spc="-6" dirty="0">
                <a:solidFill>
                  <a:srgbClr val="FF0000"/>
                </a:solidFill>
                <a:latin typeface="Gill Sans MT"/>
                <a:cs typeface="Gill Sans MT"/>
              </a:rPr>
              <a:t> </a:t>
            </a:r>
            <a:r>
              <a:rPr sz="3263" spc="-13" dirty="0">
                <a:solidFill>
                  <a:srgbClr val="FF0000"/>
                </a:solidFill>
                <a:latin typeface="Gill Sans MT"/>
                <a:cs typeface="Gill Sans MT"/>
              </a:rPr>
              <a:t>random</a:t>
            </a:r>
            <a:r>
              <a:rPr sz="3263" spc="-25" dirty="0">
                <a:solidFill>
                  <a:srgbClr val="FF0000"/>
                </a:solidFill>
                <a:latin typeface="Gill Sans MT"/>
                <a:cs typeface="Gill Sans MT"/>
              </a:rPr>
              <a:t> </a:t>
            </a:r>
            <a:r>
              <a:rPr sz="3263" spc="-6" dirty="0">
                <a:solidFill>
                  <a:srgbClr val="FF0000"/>
                </a:solidFill>
                <a:latin typeface="Gill Sans MT"/>
                <a:cs typeface="Gill Sans MT"/>
              </a:rPr>
              <a:t>ones</a:t>
            </a:r>
            <a:endParaRPr sz="3263" dirty="0">
              <a:latin typeface="Gill Sans MT"/>
              <a:cs typeface="Gill Sans MT"/>
            </a:endParaRPr>
          </a:p>
          <a:p>
            <a:pPr marL="161763" indent="-146621">
              <a:spcBef>
                <a:spcPts val="1192"/>
              </a:spcBef>
              <a:buSzPct val="96153"/>
              <a:buFont typeface="Arial"/>
              <a:buChar char="•"/>
              <a:tabLst>
                <a:tab pos="162558" algn="l"/>
              </a:tabLst>
            </a:pPr>
            <a:r>
              <a:rPr sz="3263" spc="-25" dirty="0">
                <a:solidFill>
                  <a:schemeClr val="tx1"/>
                </a:solidFill>
                <a:latin typeface="Gill Sans MT"/>
                <a:cs typeface="Gill Sans MT"/>
              </a:rPr>
              <a:t>Random</a:t>
            </a:r>
            <a:r>
              <a:rPr sz="3263" spc="-63" dirty="0">
                <a:solidFill>
                  <a:schemeClr val="tx1"/>
                </a:solidFill>
                <a:latin typeface="Gill Sans MT"/>
                <a:cs typeface="Gill Sans MT"/>
              </a:rPr>
              <a:t> </a:t>
            </a:r>
            <a:r>
              <a:rPr sz="3263" spc="-31" dirty="0">
                <a:solidFill>
                  <a:schemeClr val="tx1"/>
                </a:solidFill>
                <a:latin typeface="Gill Sans MT"/>
                <a:cs typeface="Gill Sans MT"/>
              </a:rPr>
              <a:t>selection</a:t>
            </a:r>
            <a:r>
              <a:rPr sz="3263" spc="-56" dirty="0">
                <a:solidFill>
                  <a:schemeClr val="tx1"/>
                </a:solidFill>
                <a:latin typeface="Gill Sans MT"/>
                <a:cs typeface="Gill Sans MT"/>
              </a:rPr>
              <a:t> </a:t>
            </a:r>
            <a:r>
              <a:rPr sz="3263" dirty="0">
                <a:solidFill>
                  <a:schemeClr val="tx1"/>
                </a:solidFill>
                <a:latin typeface="Gill Sans MT"/>
                <a:cs typeface="Gill Sans MT"/>
              </a:rPr>
              <a:t>of</a:t>
            </a:r>
            <a:r>
              <a:rPr sz="3263" spc="-19" dirty="0">
                <a:solidFill>
                  <a:schemeClr val="tx1"/>
                </a:solidFill>
                <a:latin typeface="Gill Sans MT"/>
                <a:cs typeface="Gill Sans MT"/>
              </a:rPr>
              <a:t> </a:t>
            </a:r>
            <a:r>
              <a:rPr sz="3263" spc="-6" dirty="0">
                <a:solidFill>
                  <a:schemeClr val="tx1"/>
                </a:solidFill>
                <a:latin typeface="Gill Sans MT"/>
                <a:cs typeface="Gill Sans MT"/>
              </a:rPr>
              <a:t>the</a:t>
            </a:r>
            <a:r>
              <a:rPr sz="3263" spc="-151" dirty="0">
                <a:solidFill>
                  <a:schemeClr val="tx1"/>
                </a:solidFill>
                <a:latin typeface="Gill Sans MT"/>
                <a:cs typeface="Gill Sans MT"/>
              </a:rPr>
              <a:t> </a:t>
            </a:r>
            <a:r>
              <a:rPr sz="3263" spc="-25" dirty="0">
                <a:solidFill>
                  <a:schemeClr val="tx1"/>
                </a:solidFill>
                <a:latin typeface="Gill Sans MT"/>
                <a:cs typeface="Gill Sans MT"/>
              </a:rPr>
              <a:t>threshold</a:t>
            </a:r>
            <a:endParaRPr sz="3263" dirty="0">
              <a:solidFill>
                <a:schemeClr val="tx1"/>
              </a:solidFill>
              <a:latin typeface="Gill Sans MT"/>
              <a:cs typeface="Gill Sans MT"/>
            </a:endParaRPr>
          </a:p>
        </p:txBody>
      </p:sp>
      <p:sp>
        <p:nvSpPr>
          <p:cNvPr id="9" name="object 9"/>
          <p:cNvSpPr txBox="1"/>
          <p:nvPr/>
        </p:nvSpPr>
        <p:spPr>
          <a:xfrm>
            <a:off x="2753895" y="6590374"/>
            <a:ext cx="7498478" cy="518218"/>
          </a:xfrm>
          <a:prstGeom prst="rect">
            <a:avLst/>
          </a:prstGeom>
        </p:spPr>
        <p:txBody>
          <a:bodyPr vert="horz" wrap="square" lIns="0" tIns="15937" rIns="0" bIns="0" rtlCol="0">
            <a:spAutoFit/>
          </a:bodyPr>
          <a:lstStyle/>
          <a:p>
            <a:pPr marL="15937">
              <a:spcBef>
                <a:spcPts val="125"/>
              </a:spcBef>
            </a:pPr>
            <a:r>
              <a:rPr sz="3263" spc="-19" dirty="0">
                <a:solidFill>
                  <a:srgbClr val="FF0000"/>
                </a:solidFill>
                <a:latin typeface="Gill Sans MT"/>
                <a:cs typeface="Gill Sans MT"/>
              </a:rPr>
              <a:t>threshold</a:t>
            </a:r>
            <a:r>
              <a:rPr sz="3263" spc="-25" dirty="0">
                <a:solidFill>
                  <a:srgbClr val="FF0000"/>
                </a:solidFill>
                <a:latin typeface="Gill Sans MT"/>
                <a:cs typeface="Gill Sans MT"/>
              </a:rPr>
              <a:t> </a:t>
            </a:r>
            <a:r>
              <a:rPr sz="3263" spc="-6" dirty="0">
                <a:solidFill>
                  <a:srgbClr val="FF0000"/>
                </a:solidFill>
                <a:latin typeface="Gill Sans MT"/>
                <a:cs typeface="Gill Sans MT"/>
              </a:rPr>
              <a:t>value</a:t>
            </a:r>
            <a:r>
              <a:rPr sz="3263" spc="-19" dirty="0">
                <a:solidFill>
                  <a:srgbClr val="FF0000"/>
                </a:solidFill>
                <a:latin typeface="Gill Sans MT"/>
                <a:cs typeface="Gill Sans MT"/>
              </a:rPr>
              <a:t> for </a:t>
            </a:r>
            <a:r>
              <a:rPr sz="3263" spc="-6" dirty="0">
                <a:solidFill>
                  <a:srgbClr val="FF0000"/>
                </a:solidFill>
                <a:latin typeface="Gill Sans MT"/>
                <a:cs typeface="Gill Sans MT"/>
              </a:rPr>
              <a:t>split</a:t>
            </a:r>
            <a:r>
              <a:rPr sz="3263" spc="-13" dirty="0">
                <a:solidFill>
                  <a:srgbClr val="FF0000"/>
                </a:solidFill>
                <a:latin typeface="Gill Sans MT"/>
                <a:cs typeface="Gill Sans MT"/>
              </a:rPr>
              <a:t> </a:t>
            </a:r>
            <a:r>
              <a:rPr sz="3263" spc="-6" dirty="0">
                <a:solidFill>
                  <a:srgbClr val="FF0000"/>
                </a:solidFill>
                <a:latin typeface="Gill Sans MT"/>
                <a:cs typeface="Gill Sans MT"/>
              </a:rPr>
              <a:t>is</a:t>
            </a:r>
            <a:r>
              <a:rPr sz="3263" spc="-19" dirty="0">
                <a:solidFill>
                  <a:srgbClr val="FF0000"/>
                </a:solidFill>
                <a:latin typeface="Gill Sans MT"/>
                <a:cs typeface="Gill Sans MT"/>
              </a:rPr>
              <a:t> </a:t>
            </a:r>
            <a:r>
              <a:rPr sz="3263" spc="-6" dirty="0">
                <a:solidFill>
                  <a:srgbClr val="FF0000"/>
                </a:solidFill>
                <a:latin typeface="Gill Sans MT"/>
                <a:cs typeface="Gill Sans MT"/>
              </a:rPr>
              <a:t>chosen</a:t>
            </a:r>
            <a:r>
              <a:rPr sz="3263" spc="-13" dirty="0">
                <a:solidFill>
                  <a:srgbClr val="FF0000"/>
                </a:solidFill>
                <a:latin typeface="Gill Sans MT"/>
                <a:cs typeface="Gill Sans MT"/>
              </a:rPr>
              <a:t> </a:t>
            </a:r>
            <a:r>
              <a:rPr sz="3263" spc="-6" dirty="0">
                <a:solidFill>
                  <a:srgbClr val="FF0000"/>
                </a:solidFill>
                <a:latin typeface="Gill Sans MT"/>
                <a:cs typeface="Gill Sans MT"/>
              </a:rPr>
              <a:t>at</a:t>
            </a:r>
            <a:r>
              <a:rPr sz="3263" spc="-13" dirty="0">
                <a:solidFill>
                  <a:srgbClr val="FF0000"/>
                </a:solidFill>
                <a:latin typeface="Gill Sans MT"/>
                <a:cs typeface="Gill Sans MT"/>
              </a:rPr>
              <a:t> random</a:t>
            </a:r>
            <a:endParaRPr sz="3263">
              <a:latin typeface="Gill Sans MT"/>
              <a:cs typeface="Gill Sans MT"/>
            </a:endParaRPr>
          </a:p>
        </p:txBody>
      </p:sp>
      <p:sp>
        <p:nvSpPr>
          <p:cNvPr id="10" name="object 10"/>
          <p:cNvSpPr txBox="1"/>
          <p:nvPr/>
        </p:nvSpPr>
        <p:spPr>
          <a:xfrm>
            <a:off x="2053969" y="7829654"/>
            <a:ext cx="8351917" cy="1000129"/>
          </a:xfrm>
          <a:prstGeom prst="rect">
            <a:avLst/>
          </a:prstGeom>
        </p:spPr>
        <p:txBody>
          <a:bodyPr vert="horz" wrap="square" lIns="0" tIns="3984" rIns="0" bIns="0" rtlCol="0">
            <a:spAutoFit/>
          </a:bodyPr>
          <a:lstStyle/>
          <a:p>
            <a:pPr marL="730722" marR="6375" indent="-715582">
              <a:lnSpc>
                <a:spcPct val="102299"/>
              </a:lnSpc>
              <a:spcBef>
                <a:spcPts val="31"/>
              </a:spcBef>
            </a:pPr>
            <a:r>
              <a:rPr sz="3263" spc="-13" dirty="0">
                <a:solidFill>
                  <a:schemeClr val="tx1"/>
                </a:solidFill>
                <a:latin typeface="Gill Sans MT"/>
                <a:cs typeface="Gill Sans MT"/>
              </a:rPr>
              <a:t>These </a:t>
            </a:r>
            <a:r>
              <a:rPr sz="3263" spc="-6" dirty="0">
                <a:solidFill>
                  <a:schemeClr val="tx1"/>
                </a:solidFill>
                <a:latin typeface="Gill Sans MT"/>
                <a:cs typeface="Gill Sans MT"/>
              </a:rPr>
              <a:t>become </a:t>
            </a:r>
            <a:r>
              <a:rPr lang="en-US" sz="3263" spc="-6" dirty="0">
                <a:solidFill>
                  <a:schemeClr val="tx1"/>
                </a:solidFill>
                <a:latin typeface="Gill Sans MT"/>
                <a:cs typeface="Gill Sans MT"/>
              </a:rPr>
              <a:t>hyper </a:t>
            </a:r>
            <a:r>
              <a:rPr sz="3263" spc="-13" dirty="0">
                <a:solidFill>
                  <a:schemeClr val="tx1"/>
                </a:solidFill>
                <a:latin typeface="Gill Sans MT"/>
                <a:cs typeface="Gill Sans MT"/>
              </a:rPr>
              <a:t>parameters </a:t>
            </a:r>
            <a:r>
              <a:rPr sz="3263" spc="-6" dirty="0">
                <a:solidFill>
                  <a:schemeClr val="tx1"/>
                </a:solidFill>
                <a:latin typeface="Gill Sans MT"/>
                <a:cs typeface="Gill Sans MT"/>
              </a:rPr>
              <a:t>of the model, </a:t>
            </a:r>
            <a:r>
              <a:rPr sz="3263" spc="-891" dirty="0">
                <a:solidFill>
                  <a:schemeClr val="tx1"/>
                </a:solidFill>
                <a:latin typeface="Gill Sans MT"/>
                <a:cs typeface="Gill Sans MT"/>
              </a:rPr>
              <a:t> </a:t>
            </a:r>
            <a:r>
              <a:rPr sz="3263" spc="-6" dirty="0">
                <a:solidFill>
                  <a:schemeClr val="tx1"/>
                </a:solidFill>
                <a:latin typeface="Gill Sans MT"/>
                <a:cs typeface="Gill Sans MT"/>
              </a:rPr>
              <a:t>as</a:t>
            </a:r>
            <a:r>
              <a:rPr sz="3263" spc="-19" dirty="0">
                <a:solidFill>
                  <a:schemeClr val="tx1"/>
                </a:solidFill>
                <a:latin typeface="Gill Sans MT"/>
                <a:cs typeface="Gill Sans MT"/>
              </a:rPr>
              <a:t> </a:t>
            </a:r>
            <a:r>
              <a:rPr sz="3263" spc="-44" dirty="0">
                <a:solidFill>
                  <a:schemeClr val="tx1"/>
                </a:solidFill>
                <a:latin typeface="Gill Sans MT"/>
                <a:cs typeface="Gill Sans MT"/>
              </a:rPr>
              <a:t>we</a:t>
            </a:r>
            <a:r>
              <a:rPr sz="3263" spc="-19" dirty="0">
                <a:solidFill>
                  <a:schemeClr val="tx1"/>
                </a:solidFill>
                <a:latin typeface="Gill Sans MT"/>
                <a:cs typeface="Gill Sans MT"/>
              </a:rPr>
              <a:t> </a:t>
            </a:r>
            <a:r>
              <a:rPr sz="3263" spc="-13" dirty="0">
                <a:solidFill>
                  <a:schemeClr val="tx1"/>
                </a:solidFill>
                <a:latin typeface="Gill Sans MT"/>
                <a:cs typeface="Gill Sans MT"/>
              </a:rPr>
              <a:t>will </a:t>
            </a:r>
            <a:r>
              <a:rPr sz="3263" spc="-6" dirty="0">
                <a:solidFill>
                  <a:schemeClr val="tx1"/>
                </a:solidFill>
                <a:latin typeface="Gill Sans MT"/>
                <a:cs typeface="Gill Sans MT"/>
              </a:rPr>
              <a:t>see</a:t>
            </a:r>
            <a:r>
              <a:rPr sz="3263" spc="-19" dirty="0">
                <a:solidFill>
                  <a:schemeClr val="tx1"/>
                </a:solidFill>
                <a:latin typeface="Gill Sans MT"/>
                <a:cs typeface="Gill Sans MT"/>
              </a:rPr>
              <a:t> </a:t>
            </a:r>
            <a:r>
              <a:rPr sz="3263" spc="-6" dirty="0">
                <a:solidFill>
                  <a:schemeClr val="tx1"/>
                </a:solidFill>
                <a:latin typeface="Gill Sans MT"/>
                <a:cs typeface="Gill Sans MT"/>
              </a:rPr>
              <a:t>in</a:t>
            </a:r>
            <a:r>
              <a:rPr sz="3263" spc="-13" dirty="0">
                <a:solidFill>
                  <a:schemeClr val="tx1"/>
                </a:solidFill>
                <a:latin typeface="Gill Sans MT"/>
                <a:cs typeface="Gill Sans MT"/>
              </a:rPr>
              <a:t> </a:t>
            </a:r>
            <a:r>
              <a:rPr sz="3263" spc="-6" dirty="0">
                <a:solidFill>
                  <a:schemeClr val="tx1"/>
                </a:solidFill>
                <a:latin typeface="Gill Sans MT"/>
                <a:cs typeface="Gill Sans MT"/>
              </a:rPr>
              <a:t>the</a:t>
            </a:r>
            <a:r>
              <a:rPr sz="3263" spc="-19" dirty="0">
                <a:solidFill>
                  <a:schemeClr val="tx1"/>
                </a:solidFill>
                <a:latin typeface="Gill Sans MT"/>
                <a:cs typeface="Gill Sans MT"/>
              </a:rPr>
              <a:t> </a:t>
            </a:r>
            <a:r>
              <a:rPr sz="3263" spc="-6" dirty="0">
                <a:solidFill>
                  <a:schemeClr val="tx1"/>
                </a:solidFill>
                <a:latin typeface="Gill Sans MT"/>
                <a:cs typeface="Gill Sans MT"/>
              </a:rPr>
              <a:t>coding</a:t>
            </a:r>
            <a:r>
              <a:rPr sz="3263" spc="-13" dirty="0">
                <a:solidFill>
                  <a:schemeClr val="tx1"/>
                </a:solidFill>
                <a:latin typeface="Gill Sans MT"/>
                <a:cs typeface="Gill Sans MT"/>
              </a:rPr>
              <a:t> </a:t>
            </a:r>
            <a:r>
              <a:rPr sz="3263" spc="6" dirty="0">
                <a:solidFill>
                  <a:schemeClr val="tx1"/>
                </a:solidFill>
                <a:latin typeface="Gill Sans MT"/>
                <a:cs typeface="Gill Sans MT"/>
              </a:rPr>
              <a:t>part.</a:t>
            </a:r>
            <a:endParaRPr sz="3263" dirty="0">
              <a:solidFill>
                <a:schemeClr val="tx1"/>
              </a:solidFill>
              <a:latin typeface="Gill Sans MT"/>
              <a:cs typeface="Gill Sans MT"/>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6330" y="762000"/>
            <a:ext cx="8393355" cy="744479"/>
          </a:xfrm>
          <a:prstGeom prst="rect">
            <a:avLst/>
          </a:prstGeom>
          <a:solidFill>
            <a:srgbClr val="FFFFFF"/>
          </a:solidFill>
          <a:ln w="24060">
            <a:solidFill>
              <a:srgbClr val="404040"/>
            </a:solidFill>
          </a:ln>
        </p:spPr>
        <p:txBody>
          <a:bodyPr vert="horz" wrap="square" lIns="0" tIns="173716" rIns="0" bIns="0" rtlCol="0" anchor="ctr">
            <a:spAutoFit/>
          </a:bodyPr>
          <a:lstStyle/>
          <a:p>
            <a:pPr marR="24703">
              <a:lnSpc>
                <a:spcPct val="100000"/>
              </a:lnSpc>
              <a:spcBef>
                <a:spcPts val="1368"/>
              </a:spcBef>
              <a:tabLst>
                <a:tab pos="2182602" algn="l"/>
              </a:tabLst>
            </a:pPr>
            <a:r>
              <a:rPr spc="138" dirty="0"/>
              <a:t>HOW</a:t>
            </a:r>
            <a:r>
              <a:rPr spc="94" dirty="0"/>
              <a:t> </a:t>
            </a:r>
            <a:r>
              <a:rPr spc="19" dirty="0"/>
              <a:t>TO	</a:t>
            </a:r>
            <a:r>
              <a:rPr spc="232" dirty="0"/>
              <a:t>COMBINE</a:t>
            </a:r>
            <a:r>
              <a:rPr spc="31" dirty="0"/>
              <a:t> </a:t>
            </a:r>
            <a:r>
              <a:rPr spc="226" dirty="0"/>
              <a:t>TREES?</a:t>
            </a:r>
          </a:p>
        </p:txBody>
      </p:sp>
      <p:pic>
        <p:nvPicPr>
          <p:cNvPr id="3" name="object 3"/>
          <p:cNvPicPr/>
          <p:nvPr/>
        </p:nvPicPr>
        <p:blipFill>
          <a:blip r:embed="rId2" cstate="print"/>
          <a:stretch>
            <a:fillRect/>
          </a:stretch>
        </p:blipFill>
        <p:spPr>
          <a:xfrm>
            <a:off x="3169024" y="2366743"/>
            <a:ext cx="7553653" cy="4249207"/>
          </a:xfrm>
          <a:prstGeom prst="rect">
            <a:avLst/>
          </a:prstGeom>
        </p:spPr>
      </p:pic>
      <p:sp>
        <p:nvSpPr>
          <p:cNvPr id="4" name="object 4"/>
          <p:cNvSpPr txBox="1"/>
          <p:nvPr/>
        </p:nvSpPr>
        <p:spPr>
          <a:xfrm>
            <a:off x="368300" y="6934200"/>
            <a:ext cx="12268200" cy="2531306"/>
          </a:xfrm>
          <a:prstGeom prst="rect">
            <a:avLst/>
          </a:prstGeom>
        </p:spPr>
        <p:txBody>
          <a:bodyPr vert="horz" wrap="square" lIns="0" tIns="797" rIns="0" bIns="0" rtlCol="0">
            <a:spAutoFit/>
          </a:bodyPr>
          <a:lstStyle/>
          <a:p>
            <a:pPr marL="1420804" marR="1409648">
              <a:lnSpc>
                <a:spcPct val="103800"/>
              </a:lnSpc>
              <a:spcBef>
                <a:spcPts val="6"/>
              </a:spcBef>
            </a:pPr>
            <a:r>
              <a:rPr lang="en-US" dirty="0">
                <a:solidFill>
                  <a:srgbClr val="404040"/>
                </a:solidFill>
                <a:latin typeface="Gill Sans MT"/>
                <a:cs typeface="Gill Sans MT"/>
              </a:rPr>
              <a:t>The final prediction (class, or number) is the </a:t>
            </a:r>
          </a:p>
          <a:p>
            <a:pPr marL="1420804" marR="1409648">
              <a:lnSpc>
                <a:spcPct val="103800"/>
              </a:lnSpc>
              <a:spcBef>
                <a:spcPts val="6"/>
              </a:spcBef>
            </a:pPr>
            <a:r>
              <a:rPr lang="en-US" b="1" dirty="0">
                <a:solidFill>
                  <a:srgbClr val="404040"/>
                </a:solidFill>
                <a:latin typeface="Gill Sans MT Bold"/>
                <a:cs typeface="Gill Sans MT Bold"/>
              </a:rPr>
              <a:t>average of all predictions </a:t>
            </a:r>
          </a:p>
          <a:p>
            <a:pPr marL="1420804" marR="1409648">
              <a:lnSpc>
                <a:spcPct val="103800"/>
              </a:lnSpc>
              <a:spcBef>
                <a:spcPts val="6"/>
              </a:spcBef>
            </a:pPr>
            <a:r>
              <a:rPr lang="en-US" b="1" dirty="0">
                <a:solidFill>
                  <a:srgbClr val="404040"/>
                </a:solidFill>
                <a:latin typeface="Gill Sans MT Bold"/>
                <a:cs typeface="Gill Sans MT Bold"/>
              </a:rPr>
              <a:t>(for a regression problem), </a:t>
            </a:r>
          </a:p>
          <a:p>
            <a:pPr marL="1420804" marR="1409648">
              <a:lnSpc>
                <a:spcPct val="103800"/>
              </a:lnSpc>
              <a:spcBef>
                <a:spcPts val="6"/>
              </a:spcBef>
            </a:pPr>
            <a:r>
              <a:rPr lang="en-US" b="1" dirty="0">
                <a:solidFill>
                  <a:srgbClr val="404040"/>
                </a:solidFill>
                <a:latin typeface="Gill Sans MT Bold"/>
                <a:cs typeface="Gill Sans MT Bold"/>
              </a:rPr>
              <a:t>or the majority vote </a:t>
            </a:r>
          </a:p>
          <a:p>
            <a:pPr marL="1420804" marR="1409648">
              <a:lnSpc>
                <a:spcPct val="103800"/>
              </a:lnSpc>
              <a:spcBef>
                <a:spcPts val="6"/>
              </a:spcBef>
            </a:pPr>
            <a:r>
              <a:rPr lang="en-US" b="1" dirty="0">
                <a:solidFill>
                  <a:srgbClr val="404040"/>
                </a:solidFill>
                <a:latin typeface="Gill Sans MT Bold"/>
                <a:cs typeface="Gill Sans MT Bold"/>
              </a:rPr>
              <a:t>(for a classification problem)</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89306" y="533400"/>
            <a:ext cx="8031580" cy="1283408"/>
          </a:xfrm>
          <a:prstGeom prst="rect">
            <a:avLst/>
          </a:prstGeom>
          <a:solidFill>
            <a:srgbClr val="FFFFFF"/>
          </a:solidFill>
          <a:ln w="24060">
            <a:solidFill>
              <a:srgbClr val="404040"/>
            </a:solidFill>
          </a:ln>
        </p:spPr>
        <p:txBody>
          <a:bodyPr vert="horz" wrap="square" lIns="0" tIns="254996" rIns="0" bIns="0" rtlCol="0">
            <a:spAutoFit/>
          </a:bodyPr>
          <a:lstStyle/>
          <a:p>
            <a:pPr marL="9562">
              <a:lnSpc>
                <a:spcPts val="3991"/>
              </a:lnSpc>
              <a:spcBef>
                <a:spcPts val="2008"/>
              </a:spcBef>
            </a:pPr>
            <a:r>
              <a:rPr sz="3514" spc="220" dirty="0">
                <a:solidFill>
                  <a:srgbClr val="262626"/>
                </a:solidFill>
                <a:latin typeface="Gill Sans MT"/>
                <a:cs typeface="Gill Sans MT"/>
              </a:rPr>
              <a:t>APPLICATION:</a:t>
            </a:r>
            <a:endParaRPr sz="3514">
              <a:latin typeface="Gill Sans MT"/>
              <a:cs typeface="Gill Sans MT"/>
            </a:endParaRPr>
          </a:p>
          <a:p>
            <a:pPr marR="23109">
              <a:lnSpc>
                <a:spcPts val="3991"/>
              </a:lnSpc>
              <a:tabLst>
                <a:tab pos="3578705" algn="l"/>
              </a:tabLst>
            </a:pPr>
            <a:r>
              <a:rPr sz="3514" spc="201" dirty="0">
                <a:solidFill>
                  <a:srgbClr val="262626"/>
                </a:solidFill>
                <a:latin typeface="Gill Sans MT"/>
                <a:cs typeface="Gill Sans MT"/>
              </a:rPr>
              <a:t>PHOTOMETRIC	</a:t>
            </a:r>
            <a:r>
              <a:rPr sz="3514" spc="238" dirty="0">
                <a:solidFill>
                  <a:srgbClr val="262626"/>
                </a:solidFill>
                <a:latin typeface="Gill Sans MT"/>
                <a:cs typeface="Gill Sans MT"/>
              </a:rPr>
              <a:t>REDSHIFTS</a:t>
            </a:r>
            <a:endParaRPr sz="3514">
              <a:latin typeface="Gill Sans MT"/>
              <a:cs typeface="Gill Sans MT"/>
            </a:endParaRPr>
          </a:p>
        </p:txBody>
      </p:sp>
      <p:pic>
        <p:nvPicPr>
          <p:cNvPr id="3" name="object 3"/>
          <p:cNvPicPr/>
          <p:nvPr/>
        </p:nvPicPr>
        <p:blipFill>
          <a:blip r:embed="rId2" cstate="print"/>
          <a:stretch>
            <a:fillRect/>
          </a:stretch>
        </p:blipFill>
        <p:spPr>
          <a:xfrm>
            <a:off x="6468623" y="3675901"/>
            <a:ext cx="5830950" cy="4164966"/>
          </a:xfrm>
          <a:prstGeom prst="rect">
            <a:avLst/>
          </a:prstGeom>
        </p:spPr>
      </p:pic>
      <p:sp>
        <p:nvSpPr>
          <p:cNvPr id="4" name="object 4"/>
          <p:cNvSpPr txBox="1"/>
          <p:nvPr/>
        </p:nvSpPr>
        <p:spPr>
          <a:xfrm>
            <a:off x="705227" y="2615474"/>
            <a:ext cx="5111875" cy="6582314"/>
          </a:xfrm>
          <a:prstGeom prst="rect">
            <a:avLst/>
          </a:prstGeom>
        </p:spPr>
        <p:txBody>
          <a:bodyPr vert="horz" wrap="square" lIns="0" tIns="15937" rIns="0" bIns="0" rtlCol="0">
            <a:spAutoFit/>
          </a:bodyPr>
          <a:lstStyle/>
          <a:p>
            <a:pPr marL="15140" marR="6375">
              <a:spcBef>
                <a:spcPts val="125"/>
              </a:spcBef>
            </a:pPr>
            <a:r>
              <a:rPr sz="2510" dirty="0">
                <a:solidFill>
                  <a:schemeClr val="tx1"/>
                </a:solidFill>
                <a:latin typeface="Gill Sans MT"/>
                <a:cs typeface="Gill Sans MT"/>
              </a:rPr>
              <a:t>A spectrum is a </a:t>
            </a:r>
            <a:r>
              <a:rPr sz="2510" dirty="0">
                <a:solidFill>
                  <a:srgbClr val="FF0000"/>
                </a:solidFill>
                <a:latin typeface="Gill Sans MT"/>
                <a:cs typeface="Gill Sans MT"/>
              </a:rPr>
              <a:t>high-resolution</a:t>
            </a:r>
            <a:r>
              <a:rPr sz="2510" dirty="0">
                <a:solidFill>
                  <a:schemeClr val="tx1"/>
                </a:solidFill>
                <a:latin typeface="Gill Sans MT"/>
                <a:cs typeface="Gill Sans MT"/>
              </a:rPr>
              <a:t> chart of  brightness vs wavelength.</a:t>
            </a:r>
          </a:p>
          <a:p>
            <a:pPr>
              <a:spcBef>
                <a:spcPts val="6"/>
              </a:spcBef>
            </a:pPr>
            <a:endParaRPr sz="2761" dirty="0">
              <a:solidFill>
                <a:schemeClr val="tx1"/>
              </a:solidFill>
              <a:latin typeface="Gill Sans MT"/>
              <a:cs typeface="Gill Sans MT"/>
            </a:endParaRPr>
          </a:p>
          <a:p>
            <a:pPr marL="418352" marR="376119">
              <a:lnSpc>
                <a:spcPts val="2886"/>
              </a:lnSpc>
            </a:pPr>
            <a:r>
              <a:rPr sz="2510" dirty="0">
                <a:solidFill>
                  <a:schemeClr val="tx1"/>
                </a:solidFill>
                <a:latin typeface="Gill Sans MT"/>
                <a:cs typeface="Gill Sans MT"/>
              </a:rPr>
              <a:t>For galaxies that are further away,  the spectrum</a:t>
            </a:r>
          </a:p>
          <a:p>
            <a:pPr marL="3187">
              <a:lnSpc>
                <a:spcPts val="2943"/>
              </a:lnSpc>
            </a:pPr>
            <a:r>
              <a:rPr sz="2510" dirty="0">
                <a:solidFill>
                  <a:schemeClr val="tx1"/>
                </a:solidFill>
                <a:latin typeface="Gill Sans MT"/>
                <a:cs typeface="Gill Sans MT"/>
              </a:rPr>
              <a:t>is stretched</a:t>
            </a:r>
          </a:p>
          <a:p>
            <a:pPr algn="ctr">
              <a:lnSpc>
                <a:spcPct val="100000"/>
              </a:lnSpc>
            </a:pPr>
            <a:r>
              <a:rPr sz="2510" dirty="0">
                <a:solidFill>
                  <a:schemeClr val="tx1"/>
                </a:solidFill>
                <a:latin typeface="Gill Sans MT"/>
                <a:cs typeface="Gill Sans MT"/>
              </a:rPr>
              <a:t>(all the wavelengths are longer).</a:t>
            </a:r>
          </a:p>
          <a:p>
            <a:pPr>
              <a:spcBef>
                <a:spcPts val="31"/>
              </a:spcBef>
            </a:pPr>
            <a:endParaRPr sz="2635" dirty="0">
              <a:solidFill>
                <a:schemeClr val="tx1"/>
              </a:solidFill>
              <a:latin typeface="Gill Sans MT"/>
              <a:cs typeface="Gill Sans MT"/>
            </a:endParaRPr>
          </a:p>
          <a:p>
            <a:pPr marL="82077" marR="66936">
              <a:lnSpc>
                <a:spcPct val="97500"/>
              </a:lnSpc>
            </a:pPr>
            <a:r>
              <a:rPr sz="2510" dirty="0">
                <a:solidFill>
                  <a:schemeClr val="tx1"/>
                </a:solidFill>
                <a:latin typeface="Gill Sans MT"/>
                <a:cs typeface="Gill Sans MT"/>
              </a:rPr>
              <a:t>Spectra contains spikes and dips, which corresponds to known transition in  basic atoms (e.g., H, O).</a:t>
            </a:r>
          </a:p>
          <a:p>
            <a:pPr>
              <a:spcBef>
                <a:spcPts val="69"/>
              </a:spcBef>
            </a:pPr>
            <a:endParaRPr sz="2573" dirty="0">
              <a:solidFill>
                <a:schemeClr val="tx1"/>
              </a:solidFill>
              <a:latin typeface="Gill Sans MT"/>
              <a:cs typeface="Gill Sans MT"/>
            </a:endParaRPr>
          </a:p>
          <a:p>
            <a:pPr marL="55780" marR="43827" indent="-797">
              <a:lnSpc>
                <a:spcPct val="99700"/>
              </a:lnSpc>
            </a:pPr>
            <a:r>
              <a:rPr sz="2510" dirty="0">
                <a:solidFill>
                  <a:schemeClr val="tx1"/>
                </a:solidFill>
                <a:latin typeface="Gill Sans MT"/>
                <a:cs typeface="Gill Sans MT"/>
              </a:rPr>
              <a:t>If I can identify the emission lines I see  (from the structure – one is not  enough!), I can calculate the amount of  stretch, which is </a:t>
            </a:r>
            <a:r>
              <a:rPr sz="2510" dirty="0">
                <a:solidFill>
                  <a:srgbClr val="FF0000"/>
                </a:solidFill>
                <a:latin typeface="Gill Sans MT"/>
                <a:cs typeface="Gill Sans MT"/>
              </a:rPr>
              <a:t>1 + z</a:t>
            </a:r>
          </a:p>
          <a:p>
            <a:pPr>
              <a:lnSpc>
                <a:spcPts val="2893"/>
              </a:lnSpc>
            </a:pPr>
            <a:r>
              <a:rPr sz="2510" dirty="0">
                <a:solidFill>
                  <a:schemeClr val="tx1"/>
                </a:solidFill>
                <a:latin typeface="Gill Sans MT"/>
                <a:cs typeface="Gill Sans MT"/>
              </a:rPr>
              <a:t>(a Doppler effect, essentially!)</a:t>
            </a:r>
          </a:p>
        </p:txBody>
      </p:sp>
      <p:sp>
        <p:nvSpPr>
          <p:cNvPr id="5" name="TextBox 4">
            <a:extLst>
              <a:ext uri="{FF2B5EF4-FFF2-40B4-BE49-F238E27FC236}">
                <a16:creationId xmlns:a16="http://schemas.microsoft.com/office/drawing/2014/main" id="{3B72BA06-2CF1-5F4D-BF06-90B2C7C94252}"/>
              </a:ext>
            </a:extLst>
          </p:cNvPr>
          <p:cNvSpPr txBox="1"/>
          <p:nvPr/>
        </p:nvSpPr>
        <p:spPr>
          <a:xfrm>
            <a:off x="6468623" y="8001000"/>
            <a:ext cx="5764848" cy="492443"/>
          </a:xfrm>
          <a:prstGeom prst="rect">
            <a:avLst/>
          </a:prstGeom>
          <a:noFill/>
        </p:spPr>
        <p:txBody>
          <a:bodyPr wrap="none" rtlCol="0">
            <a:spAutoFit/>
          </a:bodyPr>
          <a:lstStyle/>
          <a:p>
            <a:r>
              <a:rPr lang="en-US" sz="2600" dirty="0">
                <a:latin typeface="+mj-lt"/>
              </a:rPr>
              <a:t>Example spectrum from the SDSS survey</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06220" y="3414061"/>
            <a:ext cx="5948580" cy="5806139"/>
          </a:xfrm>
          <a:prstGeom prst="rect">
            <a:avLst/>
          </a:prstGeom>
        </p:spPr>
        <p:txBody>
          <a:bodyPr vert="horz" wrap="square" lIns="0" tIns="15937" rIns="0" bIns="0" rtlCol="0">
            <a:spAutoFit/>
          </a:bodyPr>
          <a:lstStyle/>
          <a:p>
            <a:pPr marL="657411" marR="581709" indent="1594">
              <a:spcBef>
                <a:spcPts val="125"/>
              </a:spcBef>
            </a:pPr>
            <a:r>
              <a:rPr sz="2510" dirty="0">
                <a:solidFill>
                  <a:schemeClr val="tx1"/>
                </a:solidFill>
                <a:latin typeface="Gill Sans MT"/>
                <a:cs typeface="Gill Sans MT"/>
              </a:rPr>
              <a:t>In this case, </a:t>
            </a:r>
            <a:r>
              <a:rPr lang="en-US" sz="2510" dirty="0">
                <a:solidFill>
                  <a:schemeClr val="tx1"/>
                </a:solidFill>
                <a:latin typeface="Gill Sans MT"/>
                <a:cs typeface="Gill Sans MT"/>
              </a:rPr>
              <a:t>we</a:t>
            </a:r>
            <a:r>
              <a:rPr sz="2510" dirty="0">
                <a:solidFill>
                  <a:schemeClr val="tx1"/>
                </a:solidFill>
                <a:latin typeface="Gill Sans MT"/>
                <a:cs typeface="Gill Sans MT"/>
              </a:rPr>
              <a:t> only have the average  brightness over wide range of  wavelengths</a:t>
            </a:r>
            <a:r>
              <a:rPr lang="en-US" sz="2510" dirty="0">
                <a:solidFill>
                  <a:schemeClr val="tx1"/>
                </a:solidFill>
                <a:latin typeface="Gill Sans MT"/>
                <a:cs typeface="Gill Sans MT"/>
              </a:rPr>
              <a:t>, called filters or bands </a:t>
            </a:r>
            <a:r>
              <a:rPr sz="2510" dirty="0">
                <a:solidFill>
                  <a:schemeClr val="tx1"/>
                </a:solidFill>
                <a:latin typeface="Gill Sans MT"/>
                <a:cs typeface="Gill Sans MT"/>
              </a:rPr>
              <a:t>(1000s of Angstroms).</a:t>
            </a:r>
          </a:p>
          <a:p>
            <a:pPr>
              <a:spcBef>
                <a:spcPts val="19"/>
              </a:spcBef>
            </a:pPr>
            <a:endParaRPr sz="2447" dirty="0">
              <a:solidFill>
                <a:schemeClr val="tx1"/>
              </a:solidFill>
              <a:latin typeface="Gill Sans MT"/>
              <a:cs typeface="Gill Sans MT"/>
            </a:endParaRPr>
          </a:p>
          <a:p>
            <a:pPr marL="620755" marR="597646"/>
            <a:r>
              <a:rPr sz="2510" dirty="0">
                <a:solidFill>
                  <a:srgbClr val="FF0000"/>
                </a:solidFill>
                <a:latin typeface="Gill Sans MT"/>
                <a:cs typeface="Gill Sans MT"/>
              </a:rPr>
              <a:t>Much more challenging/less accurate,  but a lot cheaper</a:t>
            </a:r>
            <a:r>
              <a:rPr lang="en-US" sz="2510" dirty="0">
                <a:solidFill>
                  <a:srgbClr val="FF0000"/>
                </a:solidFill>
                <a:latin typeface="Gill Sans MT"/>
                <a:cs typeface="Gill Sans MT"/>
              </a:rPr>
              <a:t> to obtain</a:t>
            </a:r>
            <a:r>
              <a:rPr sz="2510" dirty="0">
                <a:solidFill>
                  <a:srgbClr val="FF0000"/>
                </a:solidFill>
                <a:latin typeface="Gill Sans MT"/>
                <a:cs typeface="Gill Sans MT"/>
              </a:rPr>
              <a:t>!</a:t>
            </a:r>
          </a:p>
          <a:p>
            <a:pPr>
              <a:spcBef>
                <a:spcPts val="31"/>
              </a:spcBef>
            </a:pPr>
            <a:endParaRPr sz="2573" dirty="0">
              <a:solidFill>
                <a:schemeClr val="tx1"/>
              </a:solidFill>
              <a:latin typeface="Gill Sans MT"/>
              <a:cs typeface="Gill Sans MT"/>
            </a:endParaRPr>
          </a:p>
          <a:p>
            <a:pPr marL="67733"/>
            <a:r>
              <a:rPr sz="2510" dirty="0">
                <a:solidFill>
                  <a:schemeClr val="tx1"/>
                </a:solidFill>
                <a:latin typeface="Gill Sans MT"/>
                <a:cs typeface="Gill Sans MT"/>
              </a:rPr>
              <a:t>Photo-z can be derived for billions of galaxies.</a:t>
            </a:r>
          </a:p>
          <a:p>
            <a:pPr>
              <a:spcBef>
                <a:spcPts val="13"/>
              </a:spcBef>
            </a:pPr>
            <a:endParaRPr sz="2635" dirty="0">
              <a:solidFill>
                <a:schemeClr val="tx1"/>
              </a:solidFill>
              <a:latin typeface="Gill Sans MT"/>
              <a:cs typeface="Gill Sans MT"/>
            </a:endParaRPr>
          </a:p>
          <a:p>
            <a:pPr marL="15937" marR="21515" indent="86858">
              <a:lnSpc>
                <a:spcPct val="98000"/>
              </a:lnSpc>
              <a:spcBef>
                <a:spcPts val="6"/>
              </a:spcBef>
            </a:pPr>
            <a:r>
              <a:rPr sz="2510" dirty="0">
                <a:solidFill>
                  <a:schemeClr val="tx1"/>
                </a:solidFill>
                <a:latin typeface="Gill Sans MT"/>
                <a:cs typeface="Gill Sans MT"/>
              </a:rPr>
              <a:t>Spectroscopic redshifts (derived from line  identification) can be used as a learning set for  photometric redshifts.</a:t>
            </a:r>
          </a:p>
        </p:txBody>
      </p:sp>
      <p:sp>
        <p:nvSpPr>
          <p:cNvPr id="5" name="Title 4">
            <a:extLst>
              <a:ext uri="{FF2B5EF4-FFF2-40B4-BE49-F238E27FC236}">
                <a16:creationId xmlns:a16="http://schemas.microsoft.com/office/drawing/2014/main" id="{17A860BA-CE61-A443-AB5B-1D0A2A1FEBBA}"/>
              </a:ext>
            </a:extLst>
          </p:cNvPr>
          <p:cNvSpPr>
            <a:spLocks noGrp="1"/>
          </p:cNvSpPr>
          <p:nvPr>
            <p:ph type="title"/>
          </p:nvPr>
        </p:nvSpPr>
        <p:spPr>
          <a:xfrm>
            <a:off x="1473201" y="685800"/>
            <a:ext cx="10210800" cy="2133600"/>
          </a:xfrm>
        </p:spPr>
        <p:txBody>
          <a:bodyPr>
            <a:normAutofit fontScale="90000"/>
          </a:bodyPr>
          <a:lstStyle/>
          <a:p>
            <a:pPr marL="529913" marR="557803">
              <a:lnSpc>
                <a:spcPts val="3376"/>
              </a:lnSpc>
              <a:spcBef>
                <a:spcPts val="634"/>
              </a:spcBef>
              <a:tabLst>
                <a:tab pos="1082138" algn="l"/>
                <a:tab pos="1577786" algn="l"/>
                <a:tab pos="3024089" algn="l"/>
                <a:tab pos="4382738" algn="l"/>
                <a:tab pos="5950962" algn="l"/>
                <a:tab pos="7949490" algn="l"/>
                <a:tab pos="8345530" algn="l"/>
              </a:tabLst>
            </a:pPr>
            <a:r>
              <a:rPr lang="en-US" sz="4000" dirty="0">
                <a:solidFill>
                  <a:srgbClr val="262626"/>
                </a:solidFill>
                <a:latin typeface="Gill Sans MT"/>
                <a:cs typeface="Gill Sans MT"/>
              </a:rPr>
              <a:t>IT	IS	MUCH MORE	CHALLENGING  TO DO THE SAME THING THROUGH A DILUTED MAP</a:t>
            </a:r>
            <a:br>
              <a:rPr lang="en-US" sz="4000" dirty="0">
                <a:latin typeface="Gill Sans MT"/>
                <a:cs typeface="Gill Sans MT"/>
              </a:rPr>
            </a:br>
            <a:r>
              <a:rPr lang="en-US" sz="4000" dirty="0">
                <a:solidFill>
                  <a:srgbClr val="262626"/>
                </a:solidFill>
                <a:latin typeface="Gill Sans MT"/>
                <a:cs typeface="Gill Sans MT"/>
              </a:rPr>
              <a:t>(PHOTOMETRY)</a:t>
            </a:r>
            <a:endParaRPr lang="en-US" dirty="0"/>
          </a:p>
        </p:txBody>
      </p:sp>
      <p:pic>
        <p:nvPicPr>
          <p:cNvPr id="9" name="Picture 8" descr="A picture containing text, diagram, drawing, plot&#10;&#10;Description automatically generated">
            <a:extLst>
              <a:ext uri="{FF2B5EF4-FFF2-40B4-BE49-F238E27FC236}">
                <a16:creationId xmlns:a16="http://schemas.microsoft.com/office/drawing/2014/main" id="{DA0AA617-29D9-1C4E-889E-A29DAC7B65CF}"/>
              </a:ext>
            </a:extLst>
          </p:cNvPr>
          <p:cNvPicPr>
            <a:picLocks noChangeAspect="1"/>
          </p:cNvPicPr>
          <p:nvPr/>
        </p:nvPicPr>
        <p:blipFill>
          <a:blip r:embed="rId2"/>
          <a:stretch>
            <a:fillRect/>
          </a:stretch>
        </p:blipFill>
        <p:spPr>
          <a:xfrm>
            <a:off x="6959600" y="3505200"/>
            <a:ext cx="5791200" cy="5791200"/>
          </a:xfrm>
          <a:prstGeom prst="rect">
            <a:avLst/>
          </a:prstGeom>
          <a:ln>
            <a:solidFill>
              <a:schemeClr val="tx1"/>
            </a:solidFill>
          </a:ln>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47633" y="2133600"/>
            <a:ext cx="9269308" cy="3826515"/>
          </a:xfrm>
        </p:spPr>
        <p:txBody>
          <a:bodyPr>
            <a:noAutofit/>
          </a:bodyPr>
          <a:lstStyle/>
          <a:p>
            <a:pPr algn="ctr"/>
            <a:r>
              <a:rPr lang="en-US" sz="5120" dirty="0" err="1"/>
              <a:t>Ensembling</a:t>
            </a:r>
            <a:r>
              <a:rPr lang="en-US" sz="5120" dirty="0"/>
              <a:t> FTW:</a:t>
            </a:r>
            <a:br>
              <a:rPr lang="en-US" sz="5120" dirty="0"/>
            </a:br>
            <a:br>
              <a:rPr lang="en-US" sz="5120" dirty="0"/>
            </a:br>
            <a:r>
              <a:rPr lang="en-US" sz="5120" b="1" dirty="0"/>
              <a:t>BOOSTING METHODS</a:t>
            </a:r>
            <a:br>
              <a:rPr lang="en-US" sz="5120" b="1" dirty="0"/>
            </a:br>
            <a:endParaRPr lang="en-US" sz="5120" b="1" dirty="0"/>
          </a:p>
        </p:txBody>
      </p:sp>
    </p:spTree>
    <p:extLst>
      <p:ext uri="{BB962C8B-B14F-4D97-AF65-F5344CB8AC3E}">
        <p14:creationId xmlns:p14="http://schemas.microsoft.com/office/powerpoint/2010/main" val="253062722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7850" y="381000"/>
            <a:ext cx="11849100" cy="3276600"/>
          </a:xfrm>
        </p:spPr>
        <p:txBody>
          <a:bodyPr>
            <a:normAutofit/>
          </a:bodyPr>
          <a:lstStyle/>
          <a:p>
            <a:pPr algn="ctr">
              <a:lnSpc>
                <a:spcPct val="150000"/>
              </a:lnSpc>
            </a:pPr>
            <a:r>
              <a:rPr lang="en-US" sz="4480" b="1" dirty="0"/>
              <a:t>Boosted ensemble methods</a:t>
            </a:r>
            <a:br>
              <a:rPr lang="en-US" sz="4267" dirty="0"/>
            </a:br>
            <a:r>
              <a:rPr lang="en-US" sz="3840" dirty="0"/>
              <a:t>(</a:t>
            </a:r>
            <a:r>
              <a:rPr lang="en-US" sz="3840" dirty="0">
                <a:solidFill>
                  <a:schemeClr val="accent4">
                    <a:lumMod val="75000"/>
                  </a:schemeClr>
                </a:solidFill>
              </a:rPr>
              <a:t>Gradient Boosted Trees, AdaBoost, XGB, LIGHTGBM…)</a:t>
            </a:r>
          </a:p>
        </p:txBody>
      </p:sp>
      <p:sp>
        <p:nvSpPr>
          <p:cNvPr id="3" name="Content Placeholder 2"/>
          <p:cNvSpPr>
            <a:spLocks noGrp="1"/>
          </p:cNvSpPr>
          <p:nvPr>
            <p:ph idx="1"/>
          </p:nvPr>
        </p:nvSpPr>
        <p:spPr>
          <a:xfrm>
            <a:off x="577850" y="4038600"/>
            <a:ext cx="12245715" cy="3826835"/>
          </a:xfrm>
        </p:spPr>
        <p:txBody>
          <a:bodyPr>
            <a:noAutofit/>
          </a:bodyPr>
          <a:lstStyle/>
          <a:p>
            <a:r>
              <a:rPr lang="en-US" sz="2773" dirty="0"/>
              <a:t>Tree-based boosting methods are the most common.</a:t>
            </a:r>
          </a:p>
          <a:p>
            <a:r>
              <a:rPr lang="en-US" sz="2773" dirty="0"/>
              <a:t>They work sequentially: a </a:t>
            </a:r>
            <a:r>
              <a:rPr lang="en-US" sz="2773" dirty="0">
                <a:solidFill>
                  <a:srgbClr val="FF0000"/>
                </a:solidFill>
              </a:rPr>
              <a:t>small tree </a:t>
            </a:r>
            <a:r>
              <a:rPr lang="en-US" sz="2773" dirty="0"/>
              <a:t>(sometimes called a </a:t>
            </a:r>
            <a:r>
              <a:rPr lang="en-US" sz="2773" dirty="0">
                <a:solidFill>
                  <a:srgbClr val="FF0000"/>
                </a:solidFill>
              </a:rPr>
              <a:t>stump</a:t>
            </a:r>
            <a:r>
              <a:rPr lang="en-US" sz="2773" dirty="0"/>
              <a:t>) is created and used to make predictions, then the next step focuses on </a:t>
            </a:r>
            <a:r>
              <a:rPr lang="en-US" sz="2773" dirty="0">
                <a:solidFill>
                  <a:srgbClr val="FF0000"/>
                </a:solidFill>
              </a:rPr>
              <a:t>getting the problematic examples right </a:t>
            </a:r>
            <a:r>
              <a:rPr lang="en-US" sz="2773" dirty="0"/>
              <a:t>and this procedure is applied iteratively. They are </a:t>
            </a:r>
            <a:r>
              <a:rPr lang="en-US" sz="2773" dirty="0">
                <a:solidFill>
                  <a:srgbClr val="FF0000"/>
                </a:solidFill>
              </a:rPr>
              <a:t>multi-stage</a:t>
            </a:r>
            <a:r>
              <a:rPr lang="en-US" sz="2773" dirty="0"/>
              <a:t> estimators.</a:t>
            </a:r>
          </a:p>
          <a:p>
            <a:r>
              <a:rPr lang="en-US" sz="2773" dirty="0"/>
              <a:t>There are two main schools of thought:</a:t>
            </a:r>
          </a:p>
          <a:p>
            <a:r>
              <a:rPr lang="en-US" sz="2773" dirty="0"/>
              <a:t>1. Update weights of each example (</a:t>
            </a:r>
            <a:r>
              <a:rPr lang="en-US" sz="2773" dirty="0" err="1"/>
              <a:t>AdaBoost</a:t>
            </a:r>
            <a:r>
              <a:rPr lang="en-US" sz="2773" dirty="0"/>
              <a:t>)</a:t>
            </a:r>
          </a:p>
          <a:p>
            <a:r>
              <a:rPr lang="en-US" sz="2773" dirty="0"/>
              <a:t>2. Update loss function (GBTs &amp; friends)</a:t>
            </a:r>
          </a:p>
          <a:p>
            <a:r>
              <a:rPr lang="en-US" sz="2773" dirty="0"/>
              <a:t>Also, the </a:t>
            </a:r>
            <a:r>
              <a:rPr lang="en-US" sz="2773" dirty="0" err="1"/>
              <a:t>ensembling</a:t>
            </a:r>
            <a:r>
              <a:rPr lang="en-US" sz="2773" dirty="0"/>
              <a:t> can combine different stage-estimators with non-uniform weights.</a:t>
            </a:r>
          </a:p>
        </p:txBody>
      </p:sp>
    </p:spTree>
    <p:extLst>
      <p:ext uri="{BB962C8B-B14F-4D97-AF65-F5344CB8AC3E}">
        <p14:creationId xmlns:p14="http://schemas.microsoft.com/office/powerpoint/2010/main" val="139423631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9996" y="399646"/>
            <a:ext cx="8444807" cy="1690624"/>
          </a:xfrm>
        </p:spPr>
        <p:txBody>
          <a:bodyPr/>
          <a:lstStyle/>
          <a:p>
            <a:pPr algn="ctr"/>
            <a:r>
              <a:rPr lang="en-US" dirty="0"/>
              <a:t>My personal observations re: Boosting</a:t>
            </a:r>
          </a:p>
        </p:txBody>
      </p:sp>
      <p:sp>
        <p:nvSpPr>
          <p:cNvPr id="3" name="Content Placeholder 2"/>
          <p:cNvSpPr>
            <a:spLocks noGrp="1"/>
          </p:cNvSpPr>
          <p:nvPr>
            <p:ph idx="1"/>
          </p:nvPr>
        </p:nvSpPr>
        <p:spPr>
          <a:xfrm>
            <a:off x="585215" y="2438400"/>
            <a:ext cx="11834368" cy="4291584"/>
          </a:xfrm>
        </p:spPr>
        <p:txBody>
          <a:bodyPr>
            <a:noAutofit/>
          </a:bodyPr>
          <a:lstStyle/>
          <a:p>
            <a:r>
              <a:rPr lang="en-US" sz="3200" dirty="0"/>
              <a:t>It’s not true that boosting would help any weak learner.</a:t>
            </a:r>
          </a:p>
          <a:p>
            <a:r>
              <a:rPr lang="en-US" sz="3200" dirty="0"/>
              <a:t>There is a “boost-worthiness” threshold!</a:t>
            </a:r>
          </a:p>
          <a:p>
            <a:r>
              <a:rPr lang="en-US" sz="3200" dirty="0"/>
              <a:t>In classification problems with majority vote (i.e. Random Forests) where all estimators count equally, “slightly better than random” is the key to </a:t>
            </a:r>
            <a:r>
              <a:rPr lang="en-US" sz="3200" dirty="0" err="1"/>
              <a:t>ensembling</a:t>
            </a:r>
            <a:endParaRPr lang="en-US" sz="3200" dirty="0"/>
          </a:p>
          <a:p>
            <a:r>
              <a:rPr lang="en-US" sz="3200" dirty="0"/>
              <a:t>In regression problems, it’s less clear what makes a base learner boost-worthy.</a:t>
            </a:r>
          </a:p>
          <a:p>
            <a:r>
              <a:rPr lang="en-US" sz="3200" dirty="0"/>
              <a:t>However/additionally, this is different from algorithm to algorithm.</a:t>
            </a:r>
          </a:p>
          <a:p>
            <a:r>
              <a:rPr lang="en-US" sz="3200" dirty="0"/>
              <a:t>I think one can empirically look at different stages and see if scores are improving when more stages are added, but I haven’t seen much literature on the subject.</a:t>
            </a:r>
          </a:p>
        </p:txBody>
      </p:sp>
    </p:spTree>
    <p:extLst>
      <p:ext uri="{BB962C8B-B14F-4D97-AF65-F5344CB8AC3E}">
        <p14:creationId xmlns:p14="http://schemas.microsoft.com/office/powerpoint/2010/main" val="3970999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7920" y="457200"/>
            <a:ext cx="10728960" cy="1356402"/>
          </a:xfrm>
        </p:spPr>
        <p:txBody>
          <a:bodyPr>
            <a:normAutofit fontScale="90000"/>
          </a:bodyPr>
          <a:lstStyle/>
          <a:p>
            <a:pPr algn="ctr"/>
            <a:r>
              <a:rPr lang="en-US" sz="4480" dirty="0" err="1"/>
              <a:t>AdaBoost</a:t>
            </a:r>
            <a:r>
              <a:rPr lang="en-US" sz="4480" dirty="0"/>
              <a:t> (Adaptive Boosting) pseudo-code</a:t>
            </a:r>
          </a:p>
        </p:txBody>
      </p:sp>
      <mc:AlternateContent xmlns:mc="http://schemas.openxmlformats.org/markup-compatibility/2006" xmlns:a14="http://schemas.microsoft.com/office/drawing/2010/main">
        <mc:Choice Requires="a14">
          <p:sp>
            <p:nvSpPr>
              <p:cNvPr id="4" name="TextBox 3"/>
              <p:cNvSpPr txBox="1"/>
              <p:nvPr/>
            </p:nvSpPr>
            <p:spPr>
              <a:xfrm>
                <a:off x="0" y="2133600"/>
                <a:ext cx="13004800" cy="7401450"/>
              </a:xfrm>
              <a:prstGeom prst="rect">
                <a:avLst/>
              </a:prstGeom>
              <a:noFill/>
            </p:spPr>
            <p:txBody>
              <a:bodyPr wrap="square" rtlCol="0">
                <a:spAutoFit/>
              </a:bodyPr>
              <a:lstStyle/>
              <a:p>
                <a:pPr algn="l">
                  <a:lnSpc>
                    <a:spcPct val="150000"/>
                  </a:lnSpc>
                </a:pPr>
                <a:r>
                  <a:rPr lang="en-US" sz="2400" dirty="0">
                    <a:solidFill>
                      <a:schemeClr val="tx1"/>
                    </a:solidFill>
                    <a:latin typeface="+mj-lt"/>
                  </a:rPr>
                  <a:t>1. Initialize weights (∝ probability of being picked as part of learning set) uniformly. </a:t>
                </a:r>
              </a:p>
              <a:p>
                <a:pPr algn="l"/>
                <a:r>
                  <a:rPr lang="en-US" sz="2400" dirty="0">
                    <a:solidFill>
                      <a:schemeClr val="tx1"/>
                    </a:solidFill>
                    <a:latin typeface="+mj-lt"/>
                  </a:rPr>
                  <a:t>2. Build (using sampling with replacement) a training sample of size N, using the weights/probabilities above. </a:t>
                </a:r>
              </a:p>
              <a:p>
                <a:pPr algn="l">
                  <a:lnSpc>
                    <a:spcPct val="150000"/>
                  </a:lnSpc>
                </a:pPr>
                <a:r>
                  <a:rPr lang="en-US" sz="2400" dirty="0">
                    <a:solidFill>
                      <a:schemeClr val="tx1"/>
                    </a:solidFill>
                    <a:latin typeface="+mj-lt"/>
                  </a:rPr>
                  <a:t>3. Build a regression model.</a:t>
                </a:r>
              </a:p>
              <a:p>
                <a:pPr algn="l"/>
                <a:r>
                  <a:rPr lang="en-US" sz="2400" dirty="0">
                    <a:solidFill>
                      <a:schemeClr val="tx1"/>
                    </a:solidFill>
                    <a:latin typeface="+mj-lt"/>
                  </a:rPr>
                  <a:t>4. Calculate average loss on training set; any loss function L is valid, but it needs to be normalized so that L ∈ [0,1].</a:t>
                </a:r>
              </a:p>
              <a:p>
                <a:pPr algn="l"/>
                <a:r>
                  <a:rPr lang="en-US" sz="2400" dirty="0">
                    <a:solidFill>
                      <a:schemeClr val="tx1"/>
                    </a:solidFill>
                    <a:latin typeface="+mj-lt"/>
                  </a:rPr>
                  <a:t>5. Form the quantity β = </a:t>
                </a:r>
                <a14:m>
                  <m:oMath xmlns:m="http://schemas.openxmlformats.org/officeDocument/2006/math">
                    <m:f>
                      <m:fPr>
                        <m:ctrlPr>
                          <a:rPr lang="mr-IN" sz="2400" i="1">
                            <a:solidFill>
                              <a:schemeClr val="tx1"/>
                            </a:solidFill>
                            <a:latin typeface="Cambria Math" panose="02040503050406030204" pitchFamily="18" charset="0"/>
                          </a:rPr>
                        </m:ctrlPr>
                      </m:fPr>
                      <m:num>
                        <m:acc>
                          <m:accPr>
                            <m:chr m:val="̅"/>
                            <m:ctrlPr>
                              <a:rPr lang="mr-IN" sz="2400" i="1">
                                <a:solidFill>
                                  <a:schemeClr val="tx1"/>
                                </a:solidFill>
                                <a:latin typeface="Cambria Math" panose="02040503050406030204" pitchFamily="18" charset="0"/>
                              </a:rPr>
                            </m:ctrlPr>
                          </m:accPr>
                          <m:e>
                            <m:r>
                              <a:rPr lang="en-US" sz="2400" i="1">
                                <a:solidFill>
                                  <a:schemeClr val="tx1"/>
                                </a:solidFill>
                                <a:latin typeface="Cambria Math" panose="02040503050406030204" pitchFamily="18" charset="0"/>
                              </a:rPr>
                              <m:t>𝐿</m:t>
                            </m:r>
                          </m:e>
                        </m:acc>
                      </m:num>
                      <m:den>
                        <m:r>
                          <a:rPr lang="en-US" sz="2400" i="1">
                            <a:solidFill>
                              <a:schemeClr val="tx1"/>
                            </a:solidFill>
                            <a:latin typeface="Cambria Math" panose="02040503050406030204" pitchFamily="18" charset="0"/>
                          </a:rPr>
                          <m:t>1 − </m:t>
                        </m:r>
                        <m:acc>
                          <m:accPr>
                            <m:chr m:val="̅"/>
                            <m:ctrlPr>
                              <a:rPr lang="en-US" sz="2400" i="1">
                                <a:solidFill>
                                  <a:schemeClr val="tx1"/>
                                </a:solidFill>
                                <a:latin typeface="Cambria Math" panose="02040503050406030204" pitchFamily="18" charset="0"/>
                              </a:rPr>
                            </m:ctrlPr>
                          </m:accPr>
                          <m:e>
                            <m:r>
                              <a:rPr lang="en-US" sz="2400" i="1">
                                <a:solidFill>
                                  <a:schemeClr val="tx1"/>
                                </a:solidFill>
                                <a:latin typeface="Cambria Math" panose="02040503050406030204" pitchFamily="18" charset="0"/>
                              </a:rPr>
                              <m:t>𝐿</m:t>
                            </m:r>
                          </m:e>
                        </m:acc>
                      </m:den>
                    </m:f>
                  </m:oMath>
                </a14:m>
                <a:r>
                  <a:rPr lang="en-US" sz="2400" dirty="0">
                    <a:solidFill>
                      <a:schemeClr val="tx1"/>
                    </a:solidFill>
                    <a:latin typeface="+mj-lt"/>
                  </a:rPr>
                  <a:t> , which measures the </a:t>
                </a:r>
                <a:r>
                  <a:rPr lang="en-US" sz="2400" dirty="0">
                    <a:solidFill>
                      <a:srgbClr val="FF0000"/>
                    </a:solidFill>
                    <a:latin typeface="+mj-lt"/>
                  </a:rPr>
                  <a:t>degree of confidence </a:t>
                </a:r>
                <a:r>
                  <a:rPr lang="en-US" sz="2400" dirty="0">
                    <a:solidFill>
                      <a:schemeClr val="tx1"/>
                    </a:solidFill>
                    <a:latin typeface="+mj-lt"/>
                  </a:rPr>
                  <a:t>in the predictor </a:t>
                </a:r>
              </a:p>
              <a:p>
                <a:pPr algn="l"/>
                <a:r>
                  <a:rPr lang="en-US" sz="2400" dirty="0">
                    <a:solidFill>
                      <a:schemeClr val="tx1"/>
                    </a:solidFill>
                    <a:latin typeface="+mj-lt"/>
                  </a:rPr>
                  <a:t>(small losses imply low β, which implies high confidence). </a:t>
                </a:r>
              </a:p>
              <a:p>
                <a:pPr algn="l">
                  <a:lnSpc>
                    <a:spcPct val="150000"/>
                  </a:lnSpc>
                </a:pPr>
                <a:r>
                  <a:rPr lang="en-US" sz="2400" dirty="0">
                    <a:solidFill>
                      <a:schemeClr val="tx1"/>
                    </a:solidFill>
                    <a:latin typeface="+mj-lt"/>
                  </a:rPr>
                  <a:t>6. Update the weights: </a:t>
                </a:r>
                <a:r>
                  <a:rPr lang="en-US" sz="2400" dirty="0" err="1">
                    <a:solidFill>
                      <a:schemeClr val="tx1"/>
                    </a:solidFill>
                    <a:latin typeface="+mj-lt"/>
                  </a:rPr>
                  <a:t>w</a:t>
                </a:r>
                <a:r>
                  <a:rPr lang="en-US" sz="2400" baseline="-25000" dirty="0" err="1">
                    <a:solidFill>
                      <a:schemeClr val="tx1"/>
                    </a:solidFill>
                    <a:latin typeface="+mj-lt"/>
                  </a:rPr>
                  <a:t>i</a:t>
                </a:r>
                <a:r>
                  <a:rPr lang="en-US" sz="2400" dirty="0">
                    <a:solidFill>
                      <a:schemeClr val="tx1"/>
                    </a:solidFill>
                    <a:latin typeface="+mj-lt"/>
                  </a:rPr>
                  <a:t> → </a:t>
                </a:r>
                <a:r>
                  <a:rPr lang="en-US" sz="2400" dirty="0" err="1">
                    <a:solidFill>
                      <a:schemeClr val="tx1"/>
                    </a:solidFill>
                    <a:latin typeface="+mj-lt"/>
                  </a:rPr>
                  <a:t>w</a:t>
                </a:r>
                <a:r>
                  <a:rPr lang="en-US" sz="2400" baseline="-25000" dirty="0" err="1">
                    <a:solidFill>
                      <a:schemeClr val="tx1"/>
                    </a:solidFill>
                    <a:latin typeface="+mj-lt"/>
                  </a:rPr>
                  <a:t>i</a:t>
                </a:r>
                <a:r>
                  <a:rPr lang="en-US" sz="2400" baseline="-25000" dirty="0">
                    <a:solidFill>
                      <a:schemeClr val="tx1"/>
                    </a:solidFill>
                    <a:latin typeface="+mj-lt"/>
                  </a:rPr>
                  <a:t> </a:t>
                </a:r>
                <a:r>
                  <a:rPr lang="en-US" sz="2400" dirty="0">
                    <a:solidFill>
                      <a:schemeClr val="tx1"/>
                    </a:solidFill>
                    <a:latin typeface="+mj-lt"/>
                  </a:rPr>
                  <a:t>β </a:t>
                </a:r>
                <a:r>
                  <a:rPr lang="en-US" sz="2400" baseline="30000" dirty="0">
                    <a:solidFill>
                      <a:schemeClr val="tx1"/>
                    </a:solidFill>
                    <a:latin typeface="+mj-lt"/>
                  </a:rPr>
                  <a:t>(1−Li) </a:t>
                </a:r>
                <a:r>
                  <a:rPr lang="en-US" sz="2400" dirty="0">
                    <a:solidFill>
                      <a:schemeClr val="tx1"/>
                    </a:solidFill>
                    <a:latin typeface="+mj-lt"/>
                  </a:rPr>
                  <a:t>(</a:t>
                </a:r>
                <a:r>
                  <a:rPr lang="en-US" sz="2400" dirty="0">
                    <a:solidFill>
                      <a:srgbClr val="FF0000"/>
                    </a:solidFill>
                    <a:latin typeface="+mj-lt"/>
                  </a:rPr>
                  <a:t>Examples with small losses (near-correct predictions) will incur</a:t>
                </a:r>
              </a:p>
              <a:p>
                <a:pPr algn="l">
                  <a:lnSpc>
                    <a:spcPct val="150000"/>
                  </a:lnSpc>
                </a:pPr>
                <a:r>
                  <a:rPr lang="en-US" sz="2400" dirty="0">
                    <a:solidFill>
                      <a:srgbClr val="FF0000"/>
                    </a:solidFill>
                    <a:latin typeface="+mj-lt"/>
                  </a:rPr>
                  <a:t>a stronger weight reduction, and they are less likely to be picked as a member of the training set in the following iteration.</a:t>
                </a:r>
                <a:r>
                  <a:rPr lang="en-US" sz="2400" dirty="0">
                    <a:solidFill>
                      <a:schemeClr val="tx1"/>
                    </a:solidFill>
                    <a:latin typeface="+mj-lt"/>
                  </a:rPr>
                  <a:t>)</a:t>
                </a:r>
                <a:endParaRPr lang="en-US" sz="2400" dirty="0">
                  <a:solidFill>
                    <a:srgbClr val="FF0000"/>
                  </a:solidFill>
                  <a:latin typeface="+mj-lt"/>
                </a:endParaRPr>
              </a:p>
              <a:p>
                <a:pPr algn="l">
                  <a:lnSpc>
                    <a:spcPct val="150000"/>
                  </a:lnSpc>
                </a:pPr>
                <a:r>
                  <a:rPr lang="en-US" sz="2400" dirty="0">
                    <a:solidFill>
                      <a:schemeClr val="tx1"/>
                    </a:solidFill>
                    <a:latin typeface="+mj-lt"/>
                  </a:rPr>
                  <a:t>7. Break if </a:t>
                </a:r>
                <a14:m>
                  <m:oMath xmlns:m="http://schemas.openxmlformats.org/officeDocument/2006/math">
                    <m:acc>
                      <m:accPr>
                        <m:chr m:val="̅"/>
                        <m:ctrlPr>
                          <a:rPr lang="en-US" sz="2400" i="1" dirty="0">
                            <a:solidFill>
                              <a:schemeClr val="tx1"/>
                            </a:solidFill>
                            <a:latin typeface="Cambria Math" panose="02040503050406030204" pitchFamily="18" charset="0"/>
                          </a:rPr>
                        </m:ctrlPr>
                      </m:accPr>
                      <m:e>
                        <m:r>
                          <a:rPr lang="en-US" sz="2400" i="1" dirty="0">
                            <a:solidFill>
                              <a:schemeClr val="tx1"/>
                            </a:solidFill>
                            <a:latin typeface="Cambria Math" panose="02040503050406030204" pitchFamily="18" charset="0"/>
                          </a:rPr>
                          <m:t>𝐿</m:t>
                        </m:r>
                      </m:e>
                    </m:acc>
                    <m:r>
                      <a:rPr lang="en-US" sz="2400" i="1" dirty="0">
                        <a:solidFill>
                          <a:schemeClr val="tx1"/>
                        </a:solidFill>
                        <a:latin typeface="Cambria Math" panose="02040503050406030204" pitchFamily="18" charset="0"/>
                      </a:rPr>
                      <m:t>  </m:t>
                    </m:r>
                  </m:oMath>
                </a14:m>
                <a:r>
                  <a:rPr lang="en-US" sz="2400" dirty="0">
                    <a:solidFill>
                      <a:schemeClr val="tx1"/>
                    </a:solidFill>
                    <a:latin typeface="+mj-lt"/>
                  </a:rPr>
                  <a:t>&gt; 0.5 (this corresponds to ensuring that </a:t>
                </a:r>
                <a:r>
                  <a:rPr lang="el-GR" sz="2400" dirty="0">
                    <a:solidFill>
                      <a:schemeClr val="tx1"/>
                    </a:solidFill>
                    <a:latin typeface="+mj-lt"/>
                  </a:rPr>
                  <a:t>β &lt; 1</a:t>
                </a:r>
                <a:r>
                  <a:rPr lang="en-US" sz="2400" dirty="0">
                    <a:solidFill>
                      <a:schemeClr val="tx1"/>
                    </a:solidFill>
                    <a:latin typeface="+mj-lt"/>
                  </a:rPr>
                  <a:t>); otherwise, repeat from 2. (</a:t>
                </a:r>
                <a:r>
                  <a:rPr lang="en-US" sz="2300" dirty="0">
                    <a:solidFill>
                      <a:srgbClr val="FF0000"/>
                    </a:solidFill>
                    <a:latin typeface="+mj-lt"/>
                  </a:rPr>
                  <a:t>note that because the model is given an increasingly difficult set of training examples, the average loss will increase!</a:t>
                </a:r>
                <a:r>
                  <a:rPr lang="en-US" sz="2300" dirty="0">
                    <a:solidFill>
                      <a:schemeClr val="tx1"/>
                    </a:solidFill>
                    <a:latin typeface="+mj-lt"/>
                  </a:rPr>
                  <a:t>)</a:t>
                </a:r>
                <a:endParaRPr lang="en-US" sz="2300" dirty="0">
                  <a:solidFill>
                    <a:srgbClr val="FF0000"/>
                  </a:solidFill>
                  <a:latin typeface="+mj-lt"/>
                </a:endParaRPr>
              </a:p>
              <a:p>
                <a:pPr algn="l">
                  <a:lnSpc>
                    <a:spcPct val="150000"/>
                  </a:lnSpc>
                </a:pPr>
                <a:r>
                  <a:rPr lang="en-US" sz="2400" dirty="0">
                    <a:solidFill>
                      <a:schemeClr val="tx1"/>
                    </a:solidFill>
                    <a:latin typeface="+mj-lt"/>
                  </a:rPr>
                  <a:t>8. Finally, combine all the models using a weighted average or median of the models built at each iteration (the weighted average is usually f(</a:t>
                </a:r>
                <a:r>
                  <a:rPr lang="el-GR" sz="2400" dirty="0">
                    <a:solidFill>
                      <a:schemeClr val="tx1"/>
                    </a:solidFill>
                    <a:latin typeface="+mj-lt"/>
                  </a:rPr>
                  <a:t>β</a:t>
                </a:r>
                <a:r>
                  <a:rPr lang="en-US" sz="2400" dirty="0">
                    <a:solidFill>
                      <a:schemeClr val="tx1"/>
                    </a:solidFill>
                    <a:latin typeface="+mj-lt"/>
                  </a:rPr>
                  <a:t>)).</a:t>
                </a:r>
              </a:p>
            </p:txBody>
          </p:sp>
        </mc:Choice>
        <mc:Fallback xmlns="">
          <p:sp>
            <p:nvSpPr>
              <p:cNvPr id="4" name="TextBox 3"/>
              <p:cNvSpPr txBox="1">
                <a:spLocks noRot="1" noChangeAspect="1" noMove="1" noResize="1" noEditPoints="1" noAdjustHandles="1" noChangeArrowheads="1" noChangeShapeType="1" noTextEdit="1"/>
              </p:cNvSpPr>
              <p:nvPr/>
            </p:nvSpPr>
            <p:spPr>
              <a:xfrm>
                <a:off x="0" y="2133600"/>
                <a:ext cx="13004800" cy="7401450"/>
              </a:xfrm>
              <a:prstGeom prst="rect">
                <a:avLst/>
              </a:prstGeom>
              <a:blipFill>
                <a:blip r:embed="rId3"/>
                <a:stretch>
                  <a:fillRect l="-781" r="-1270" b="-1029"/>
                </a:stretch>
              </a:blipFill>
            </p:spPr>
            <p:txBody>
              <a:bodyPr/>
              <a:lstStyle/>
              <a:p>
                <a:r>
                  <a:rPr lang="en-US">
                    <a:noFill/>
                  </a:rPr>
                  <a:t> </a:t>
                </a:r>
              </a:p>
            </p:txBody>
          </p:sp>
        </mc:Fallback>
      </mc:AlternateContent>
    </p:spTree>
    <p:extLst>
      <p:ext uri="{BB962C8B-B14F-4D97-AF65-F5344CB8AC3E}">
        <p14:creationId xmlns:p14="http://schemas.microsoft.com/office/powerpoint/2010/main" val="173560656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9996" y="586210"/>
            <a:ext cx="8444807" cy="1690624"/>
          </a:xfrm>
        </p:spPr>
        <p:txBody>
          <a:bodyPr anchor="ctr"/>
          <a:lstStyle/>
          <a:p>
            <a:pPr algn="ctr"/>
            <a:r>
              <a:rPr lang="en-US" dirty="0"/>
              <a:t>Toy model with </a:t>
            </a:r>
            <a:r>
              <a:rPr lang="en-US" dirty="0" err="1"/>
              <a:t>AdaBoost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3106" y="2895600"/>
            <a:ext cx="9725631" cy="6483754"/>
          </a:xfrm>
        </p:spPr>
      </p:pic>
      <p:sp>
        <p:nvSpPr>
          <p:cNvPr id="5" name="TextBox 4"/>
          <p:cNvSpPr txBox="1"/>
          <p:nvPr/>
        </p:nvSpPr>
        <p:spPr>
          <a:xfrm>
            <a:off x="10691608" y="4876800"/>
            <a:ext cx="2161490" cy="2193164"/>
          </a:xfrm>
          <a:prstGeom prst="rect">
            <a:avLst/>
          </a:prstGeom>
          <a:noFill/>
        </p:spPr>
        <p:txBody>
          <a:bodyPr wrap="none" rtlCol="0">
            <a:spAutoFit/>
          </a:bodyPr>
          <a:lstStyle/>
          <a:p>
            <a:pPr algn="ctr"/>
            <a:r>
              <a:rPr lang="en-US" sz="3413" dirty="0">
                <a:latin typeface="+mj-lt"/>
              </a:rPr>
              <a:t>base</a:t>
            </a:r>
          </a:p>
          <a:p>
            <a:pPr algn="ctr"/>
            <a:r>
              <a:rPr lang="en-US" sz="3413" dirty="0">
                <a:latin typeface="+mj-lt"/>
              </a:rPr>
              <a:t>learner</a:t>
            </a:r>
          </a:p>
          <a:p>
            <a:pPr algn="ctr"/>
            <a:r>
              <a:rPr lang="en-US" sz="3413" dirty="0">
                <a:latin typeface="+mj-lt"/>
              </a:rPr>
              <a:t>not strong </a:t>
            </a:r>
          </a:p>
          <a:p>
            <a:pPr algn="ctr"/>
            <a:r>
              <a:rPr lang="en-US" sz="3413" dirty="0">
                <a:latin typeface="+mj-lt"/>
              </a:rPr>
              <a:t>enough</a:t>
            </a:r>
          </a:p>
        </p:txBody>
      </p:sp>
    </p:spTree>
    <p:extLst>
      <p:ext uri="{BB962C8B-B14F-4D97-AF65-F5344CB8AC3E}">
        <p14:creationId xmlns:p14="http://schemas.microsoft.com/office/powerpoint/2010/main" val="70659235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9635" y="609600"/>
            <a:ext cx="8444807" cy="1690624"/>
          </a:xfrm>
        </p:spPr>
        <p:txBody>
          <a:bodyPr anchor="ctr"/>
          <a:lstStyle/>
          <a:p>
            <a:pPr algn="ctr"/>
            <a:r>
              <a:rPr lang="en-US" dirty="0"/>
              <a:t>Toy model with </a:t>
            </a:r>
            <a:r>
              <a:rPr lang="en-US" dirty="0" err="1"/>
              <a:t>AdaBoost</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0140" y="2895600"/>
            <a:ext cx="9130244" cy="6086829"/>
          </a:xfrm>
        </p:spPr>
      </p:pic>
      <p:sp>
        <p:nvSpPr>
          <p:cNvPr id="6" name="TextBox 5"/>
          <p:cNvSpPr txBox="1"/>
          <p:nvPr/>
        </p:nvSpPr>
        <p:spPr>
          <a:xfrm>
            <a:off x="10619577" y="4823791"/>
            <a:ext cx="1475083" cy="2193164"/>
          </a:xfrm>
          <a:prstGeom prst="rect">
            <a:avLst/>
          </a:prstGeom>
          <a:noFill/>
        </p:spPr>
        <p:txBody>
          <a:bodyPr wrap="none" rtlCol="0">
            <a:spAutoFit/>
          </a:bodyPr>
          <a:lstStyle/>
          <a:p>
            <a:pPr algn="ctr"/>
            <a:r>
              <a:rPr lang="en-US" sz="3413" dirty="0">
                <a:latin typeface="+mj-lt"/>
              </a:rPr>
              <a:t>base</a:t>
            </a:r>
          </a:p>
          <a:p>
            <a:pPr algn="ctr"/>
            <a:r>
              <a:rPr lang="en-US" sz="3413" dirty="0">
                <a:latin typeface="+mj-lt"/>
              </a:rPr>
              <a:t>learner</a:t>
            </a:r>
          </a:p>
          <a:p>
            <a:pPr algn="ctr"/>
            <a:r>
              <a:rPr lang="en-US" sz="3413" dirty="0">
                <a:latin typeface="+mj-lt"/>
              </a:rPr>
              <a:t>strong </a:t>
            </a:r>
          </a:p>
          <a:p>
            <a:pPr algn="ctr"/>
            <a:r>
              <a:rPr lang="en-US" sz="3413" dirty="0">
                <a:latin typeface="+mj-lt"/>
              </a:rPr>
              <a:t>enough</a:t>
            </a:r>
          </a:p>
        </p:txBody>
      </p:sp>
    </p:spTree>
    <p:extLst>
      <p:ext uri="{BB962C8B-B14F-4D97-AF65-F5344CB8AC3E}">
        <p14:creationId xmlns:p14="http://schemas.microsoft.com/office/powerpoint/2010/main" val="96245200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838200"/>
            <a:ext cx="10728960" cy="938227"/>
          </a:xfrm>
        </p:spPr>
        <p:txBody>
          <a:bodyPr/>
          <a:lstStyle/>
          <a:p>
            <a:pPr algn="ctr"/>
            <a:r>
              <a:rPr lang="en-US" dirty="0"/>
              <a:t>Gradient Boosted Trees</a:t>
            </a:r>
          </a:p>
        </p:txBody>
      </p:sp>
      <p:sp>
        <p:nvSpPr>
          <p:cNvPr id="3" name="Content Placeholder 2"/>
          <p:cNvSpPr>
            <a:spLocks noGrp="1"/>
          </p:cNvSpPr>
          <p:nvPr>
            <p:ph idx="1"/>
          </p:nvPr>
        </p:nvSpPr>
        <p:spPr>
          <a:xfrm>
            <a:off x="887720" y="3527239"/>
            <a:ext cx="4964441" cy="4291584"/>
          </a:xfrm>
        </p:spPr>
        <p:txBody>
          <a:bodyPr>
            <a:normAutofit fontScale="92500" lnSpcReduction="10000"/>
          </a:bodyPr>
          <a:lstStyle/>
          <a:p>
            <a:r>
              <a:rPr lang="en-US" dirty="0"/>
              <a:t>Simple idea:</a:t>
            </a:r>
          </a:p>
          <a:p>
            <a:r>
              <a:rPr lang="en-US" dirty="0"/>
              <a:t>1. Start with a weak learner (e.g. 1-split tree) and fit a model F to data y: F</a:t>
            </a:r>
            <a:r>
              <a:rPr lang="en-US" baseline="-25000" dirty="0"/>
              <a:t>1</a:t>
            </a:r>
            <a:r>
              <a:rPr lang="en-US" dirty="0"/>
              <a:t>(x) = y</a:t>
            </a:r>
          </a:p>
          <a:p>
            <a:r>
              <a:rPr lang="en-US" dirty="0"/>
              <a:t>2. Calculate residuals (i.e., where model is failing) F</a:t>
            </a:r>
            <a:r>
              <a:rPr lang="en-US" baseline="-25000" dirty="0"/>
              <a:t>1</a:t>
            </a:r>
            <a:r>
              <a:rPr lang="en-US" dirty="0"/>
              <a:t>(x) </a:t>
            </a:r>
            <a:r>
              <a:rPr lang="mr-IN" dirty="0"/>
              <a:t>–</a:t>
            </a:r>
            <a:r>
              <a:rPr lang="en-US" dirty="0"/>
              <a:t> y and make model h(x) that fits the residuals</a:t>
            </a:r>
          </a:p>
          <a:p>
            <a:r>
              <a:rPr lang="en-US" dirty="0"/>
              <a:t>3. Update model: F</a:t>
            </a:r>
            <a:r>
              <a:rPr lang="en-US" baseline="-25000" dirty="0"/>
              <a:t>2</a:t>
            </a:r>
            <a:r>
              <a:rPr lang="en-US" dirty="0"/>
              <a:t>(x) = F</a:t>
            </a:r>
            <a:r>
              <a:rPr lang="en-US" baseline="-25000" dirty="0"/>
              <a:t>1</a:t>
            </a:r>
            <a:r>
              <a:rPr lang="en-US" dirty="0"/>
              <a:t>(x) + h(x)</a:t>
            </a:r>
          </a:p>
          <a:p>
            <a:r>
              <a:rPr lang="en-US" dirty="0"/>
              <a:t>4. Repeat from 1, until convergence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6961" y="3527239"/>
            <a:ext cx="6670576" cy="2767054"/>
          </a:xfrm>
          <a:prstGeom prst="rect">
            <a:avLst/>
          </a:prstGeom>
        </p:spPr>
      </p:pic>
      <p:sp>
        <p:nvSpPr>
          <p:cNvPr id="5" name="TextBox 4">
            <a:extLst>
              <a:ext uri="{FF2B5EF4-FFF2-40B4-BE49-F238E27FC236}">
                <a16:creationId xmlns:a16="http://schemas.microsoft.com/office/drawing/2014/main" id="{4E8920BE-C890-CC4F-B2BF-8D5BD5F72573}"/>
              </a:ext>
            </a:extLst>
          </p:cNvPr>
          <p:cNvSpPr txBox="1"/>
          <p:nvPr/>
        </p:nvSpPr>
        <p:spPr>
          <a:xfrm>
            <a:off x="7152641" y="6553200"/>
            <a:ext cx="4399217" cy="492443"/>
          </a:xfrm>
          <a:prstGeom prst="rect">
            <a:avLst/>
          </a:prstGeom>
          <a:noFill/>
        </p:spPr>
        <p:txBody>
          <a:bodyPr wrap="none" rtlCol="0">
            <a:spAutoFit/>
          </a:bodyPr>
          <a:lstStyle/>
          <a:p>
            <a:r>
              <a:rPr lang="en-US" sz="2600" dirty="0">
                <a:latin typeface="+mj-lt"/>
              </a:rPr>
              <a:t>Example credit: Alexander </a:t>
            </a:r>
            <a:r>
              <a:rPr lang="en-US" sz="2600" dirty="0" err="1">
                <a:latin typeface="+mj-lt"/>
              </a:rPr>
              <a:t>Ilher</a:t>
            </a:r>
            <a:endParaRPr lang="en-US" sz="2600" dirty="0">
              <a:latin typeface="+mj-lt"/>
            </a:endParaRPr>
          </a:p>
        </p:txBody>
      </p:sp>
    </p:spTree>
    <p:extLst>
      <p:ext uri="{BB962C8B-B14F-4D97-AF65-F5344CB8AC3E}">
        <p14:creationId xmlns:p14="http://schemas.microsoft.com/office/powerpoint/2010/main" val="182871705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1400" y="3527239"/>
            <a:ext cx="6528858" cy="2766465"/>
          </a:xfrm>
          <a:prstGeom prst="rect">
            <a:avLst/>
          </a:prstGeom>
        </p:spPr>
      </p:pic>
      <p:sp>
        <p:nvSpPr>
          <p:cNvPr id="6" name="Content Placeholder 2"/>
          <p:cNvSpPr txBox="1">
            <a:spLocks/>
          </p:cNvSpPr>
          <p:nvPr/>
        </p:nvSpPr>
        <p:spPr>
          <a:xfrm>
            <a:off x="887720" y="3527239"/>
            <a:ext cx="4964441" cy="4291584"/>
          </a:xfrm>
          <a:prstGeom prst="rect">
            <a:avLst/>
          </a:prstGeom>
        </p:spPr>
        <p:txBody>
          <a:bodyPr vert="horz" lIns="0" tIns="48768" rIns="0" bIns="48768"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133"/>
              <a:t>Simple idea:</a:t>
            </a:r>
          </a:p>
          <a:p>
            <a:r>
              <a:rPr lang="en-US" sz="2133" dirty="0"/>
              <a:t>1. Start with a weak learner (e.g. 1-split tree) and fit a model F to data y: F</a:t>
            </a:r>
            <a:r>
              <a:rPr lang="en-US" sz="2133" baseline="-25000" dirty="0"/>
              <a:t>1</a:t>
            </a:r>
            <a:r>
              <a:rPr lang="en-US" sz="2133" dirty="0"/>
              <a:t>(x) = y</a:t>
            </a:r>
          </a:p>
          <a:p>
            <a:r>
              <a:rPr lang="en-US" sz="2133" dirty="0"/>
              <a:t>2. Calculate residuals (i.e., where model is failing) F</a:t>
            </a:r>
            <a:r>
              <a:rPr lang="en-US" sz="2133" baseline="-25000" dirty="0"/>
              <a:t>1</a:t>
            </a:r>
            <a:r>
              <a:rPr lang="en-US" sz="2133" dirty="0"/>
              <a:t>(x) </a:t>
            </a:r>
            <a:r>
              <a:rPr lang="mr-IN" sz="2133" dirty="0"/>
              <a:t>–</a:t>
            </a:r>
            <a:r>
              <a:rPr lang="en-US" sz="2133" dirty="0"/>
              <a:t> y and make model h(x) that fits the residuals</a:t>
            </a:r>
          </a:p>
          <a:p>
            <a:r>
              <a:rPr lang="en-US" sz="2133" dirty="0"/>
              <a:t>3. Update model: F</a:t>
            </a:r>
            <a:r>
              <a:rPr lang="en-US" sz="2133" baseline="-25000" dirty="0"/>
              <a:t>2</a:t>
            </a:r>
            <a:r>
              <a:rPr lang="en-US" sz="2133" dirty="0"/>
              <a:t>(x) = F</a:t>
            </a:r>
            <a:r>
              <a:rPr lang="en-US" sz="2133" baseline="-25000" dirty="0"/>
              <a:t>1</a:t>
            </a:r>
            <a:r>
              <a:rPr lang="en-US" sz="2133" dirty="0"/>
              <a:t>(x) + h(x)</a:t>
            </a:r>
          </a:p>
          <a:p>
            <a:r>
              <a:rPr lang="en-US" sz="2133" dirty="0"/>
              <a:t>4. Repeat from 1, until convergence</a:t>
            </a:r>
          </a:p>
        </p:txBody>
      </p:sp>
      <p:sp>
        <p:nvSpPr>
          <p:cNvPr id="7" name="Title 1">
            <a:extLst>
              <a:ext uri="{FF2B5EF4-FFF2-40B4-BE49-F238E27FC236}">
                <a16:creationId xmlns:a16="http://schemas.microsoft.com/office/drawing/2014/main" id="{FE5A8D2F-9430-3F43-A3D8-811BC6865C9B}"/>
              </a:ext>
            </a:extLst>
          </p:cNvPr>
          <p:cNvSpPr>
            <a:spLocks noGrp="1"/>
          </p:cNvSpPr>
          <p:nvPr>
            <p:ph type="title"/>
          </p:nvPr>
        </p:nvSpPr>
        <p:spPr>
          <a:xfrm>
            <a:off x="1320800" y="838200"/>
            <a:ext cx="10728960" cy="938227"/>
          </a:xfrm>
        </p:spPr>
        <p:txBody>
          <a:bodyPr/>
          <a:lstStyle/>
          <a:p>
            <a:pPr algn="ctr"/>
            <a:r>
              <a:rPr lang="en-US" dirty="0"/>
              <a:t>Gradient Boosted Trees</a:t>
            </a:r>
          </a:p>
        </p:txBody>
      </p:sp>
      <p:sp>
        <p:nvSpPr>
          <p:cNvPr id="5" name="TextBox 4">
            <a:extLst>
              <a:ext uri="{FF2B5EF4-FFF2-40B4-BE49-F238E27FC236}">
                <a16:creationId xmlns:a16="http://schemas.microsoft.com/office/drawing/2014/main" id="{254BC570-F1D4-F040-8505-9FEFF3CB7C11}"/>
              </a:ext>
            </a:extLst>
          </p:cNvPr>
          <p:cNvSpPr txBox="1"/>
          <p:nvPr/>
        </p:nvSpPr>
        <p:spPr>
          <a:xfrm>
            <a:off x="7152641" y="6553200"/>
            <a:ext cx="4399217" cy="492443"/>
          </a:xfrm>
          <a:prstGeom prst="rect">
            <a:avLst/>
          </a:prstGeom>
          <a:noFill/>
        </p:spPr>
        <p:txBody>
          <a:bodyPr wrap="none" rtlCol="0">
            <a:spAutoFit/>
          </a:bodyPr>
          <a:lstStyle/>
          <a:p>
            <a:r>
              <a:rPr lang="en-US" sz="2600" dirty="0">
                <a:latin typeface="+mj-lt"/>
              </a:rPr>
              <a:t>Example credit: Alexander </a:t>
            </a:r>
            <a:r>
              <a:rPr lang="en-US" sz="2600" dirty="0" err="1">
                <a:latin typeface="+mj-lt"/>
              </a:rPr>
              <a:t>Ilher</a:t>
            </a:r>
            <a:endParaRPr lang="en-US" sz="2600" dirty="0">
              <a:latin typeface="+mj-lt"/>
            </a:endParaRPr>
          </a:p>
        </p:txBody>
      </p:sp>
    </p:spTree>
    <p:extLst>
      <p:ext uri="{BB962C8B-B14F-4D97-AF65-F5344CB8AC3E}">
        <p14:creationId xmlns:p14="http://schemas.microsoft.com/office/powerpoint/2010/main" val="116160285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2800" y="3412939"/>
            <a:ext cx="7106970" cy="2668105"/>
          </a:xfrm>
          <a:prstGeom prst="rect">
            <a:avLst/>
          </a:prstGeom>
        </p:spPr>
      </p:pic>
      <p:sp>
        <p:nvSpPr>
          <p:cNvPr id="5" name="Content Placeholder 2"/>
          <p:cNvSpPr txBox="1">
            <a:spLocks/>
          </p:cNvSpPr>
          <p:nvPr/>
        </p:nvSpPr>
        <p:spPr>
          <a:xfrm>
            <a:off x="887720" y="3527239"/>
            <a:ext cx="4964441" cy="4291584"/>
          </a:xfrm>
          <a:prstGeom prst="rect">
            <a:avLst/>
          </a:prstGeom>
        </p:spPr>
        <p:txBody>
          <a:bodyPr vert="horz" lIns="0" tIns="48768" rIns="0" bIns="48768"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133" dirty="0"/>
              <a:t>Simple idea:</a:t>
            </a:r>
          </a:p>
          <a:p>
            <a:r>
              <a:rPr lang="en-US" sz="2133" dirty="0"/>
              <a:t>1. Start with a weak learner (e.g. 1-split tree) and fit a model F to data y: F</a:t>
            </a:r>
            <a:r>
              <a:rPr lang="en-US" sz="2133" baseline="-25000" dirty="0"/>
              <a:t>1</a:t>
            </a:r>
            <a:r>
              <a:rPr lang="en-US" sz="2133" dirty="0"/>
              <a:t>(x) = y</a:t>
            </a:r>
          </a:p>
          <a:p>
            <a:r>
              <a:rPr lang="en-US" sz="2133" dirty="0"/>
              <a:t>2. Calculate residuals (i.e., where model is failing) F</a:t>
            </a:r>
            <a:r>
              <a:rPr lang="en-US" sz="2133" baseline="-25000" dirty="0"/>
              <a:t>1</a:t>
            </a:r>
            <a:r>
              <a:rPr lang="en-US" sz="2133" dirty="0"/>
              <a:t>(x) </a:t>
            </a:r>
            <a:r>
              <a:rPr lang="mr-IN" sz="2133" dirty="0"/>
              <a:t>–</a:t>
            </a:r>
            <a:r>
              <a:rPr lang="en-US" sz="2133" dirty="0"/>
              <a:t> y and make model h(x) that fits the residuals</a:t>
            </a:r>
          </a:p>
          <a:p>
            <a:r>
              <a:rPr lang="en-US" sz="2133" dirty="0"/>
              <a:t>3. Update model: F</a:t>
            </a:r>
            <a:r>
              <a:rPr lang="en-US" sz="2133" baseline="-25000" dirty="0"/>
              <a:t>2</a:t>
            </a:r>
            <a:r>
              <a:rPr lang="en-US" sz="2133" dirty="0"/>
              <a:t>(x) = F</a:t>
            </a:r>
            <a:r>
              <a:rPr lang="en-US" sz="2133" baseline="-25000" dirty="0"/>
              <a:t>1</a:t>
            </a:r>
            <a:r>
              <a:rPr lang="en-US" sz="2133" dirty="0"/>
              <a:t>(x) + h(x)</a:t>
            </a:r>
          </a:p>
          <a:p>
            <a:r>
              <a:rPr lang="en-US" sz="2133" dirty="0"/>
              <a:t>4. Repeat from 1, until convergence</a:t>
            </a:r>
          </a:p>
        </p:txBody>
      </p:sp>
      <p:sp>
        <p:nvSpPr>
          <p:cNvPr id="6" name="Title 1">
            <a:extLst>
              <a:ext uri="{FF2B5EF4-FFF2-40B4-BE49-F238E27FC236}">
                <a16:creationId xmlns:a16="http://schemas.microsoft.com/office/drawing/2014/main" id="{23B16F5D-C5B3-6D4F-8602-FEC766F120C3}"/>
              </a:ext>
            </a:extLst>
          </p:cNvPr>
          <p:cNvSpPr txBox="1">
            <a:spLocks/>
          </p:cNvSpPr>
          <p:nvPr/>
        </p:nvSpPr>
        <p:spPr>
          <a:xfrm>
            <a:off x="1320800" y="838200"/>
            <a:ext cx="10728960" cy="938227"/>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lvl1pPr algn="ctr" defTabSz="1300460" rtl="0" eaLnBrk="1" latinLnBrk="0" hangingPunct="1">
              <a:lnSpc>
                <a:spcPct val="90000"/>
              </a:lnSpc>
              <a:spcBef>
                <a:spcPct val="0"/>
              </a:spcBef>
              <a:buNone/>
              <a:defRPr sz="3698" kern="1200" cap="all" spc="284" baseline="0">
                <a:solidFill>
                  <a:schemeClr val="tx1">
                    <a:lumMod val="85000"/>
                    <a:lumOff val="15000"/>
                  </a:schemeClr>
                </a:solidFill>
                <a:latin typeface="+mj-lt"/>
                <a:ea typeface="+mj-ea"/>
                <a:cs typeface="+mj-cs"/>
              </a:defRPr>
            </a:lvl1pPr>
          </a:lstStyle>
          <a:p>
            <a:pPr fontAlgn="auto">
              <a:spcAft>
                <a:spcPts val="0"/>
              </a:spcAft>
            </a:pPr>
            <a:r>
              <a:rPr lang="en-US" dirty="0"/>
              <a:t>Gradient Boosted Trees</a:t>
            </a:r>
          </a:p>
        </p:txBody>
      </p:sp>
      <p:sp>
        <p:nvSpPr>
          <p:cNvPr id="7" name="TextBox 6">
            <a:extLst>
              <a:ext uri="{FF2B5EF4-FFF2-40B4-BE49-F238E27FC236}">
                <a16:creationId xmlns:a16="http://schemas.microsoft.com/office/drawing/2014/main" id="{15BCC037-5A1F-344B-B861-1A4402489E20}"/>
              </a:ext>
            </a:extLst>
          </p:cNvPr>
          <p:cNvSpPr txBox="1"/>
          <p:nvPr/>
        </p:nvSpPr>
        <p:spPr>
          <a:xfrm>
            <a:off x="7152641" y="6553200"/>
            <a:ext cx="4399217" cy="492443"/>
          </a:xfrm>
          <a:prstGeom prst="rect">
            <a:avLst/>
          </a:prstGeom>
          <a:noFill/>
        </p:spPr>
        <p:txBody>
          <a:bodyPr wrap="none" rtlCol="0">
            <a:spAutoFit/>
          </a:bodyPr>
          <a:lstStyle/>
          <a:p>
            <a:r>
              <a:rPr lang="en-US" sz="2600" dirty="0">
                <a:latin typeface="+mj-lt"/>
              </a:rPr>
              <a:t>Example credit: Alexander </a:t>
            </a:r>
            <a:r>
              <a:rPr lang="en-US" sz="2600" dirty="0" err="1">
                <a:latin typeface="+mj-lt"/>
              </a:rPr>
              <a:t>Ilher</a:t>
            </a:r>
            <a:endParaRPr lang="en-US" sz="2600" dirty="0">
              <a:latin typeface="+mj-lt"/>
            </a:endParaRPr>
          </a:p>
        </p:txBody>
      </p:sp>
    </p:spTree>
    <p:extLst>
      <p:ext uri="{BB962C8B-B14F-4D97-AF65-F5344CB8AC3E}">
        <p14:creationId xmlns:p14="http://schemas.microsoft.com/office/powerpoint/2010/main" val="28526507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7920" y="762000"/>
            <a:ext cx="10728960" cy="938227"/>
          </a:xfrm>
        </p:spPr>
        <p:txBody>
          <a:bodyPr/>
          <a:lstStyle/>
          <a:p>
            <a:pPr algn="ctr"/>
            <a:r>
              <a:rPr lang="en-US" dirty="0"/>
              <a:t>Gradient Boosted Trees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2161" y="3527239"/>
            <a:ext cx="6830731" cy="2489069"/>
          </a:xfrm>
          <a:prstGeom prst="rect">
            <a:avLst/>
          </a:prstGeom>
        </p:spPr>
      </p:pic>
      <p:sp>
        <p:nvSpPr>
          <p:cNvPr id="6" name="Content Placeholder 2"/>
          <p:cNvSpPr txBox="1">
            <a:spLocks/>
          </p:cNvSpPr>
          <p:nvPr/>
        </p:nvSpPr>
        <p:spPr>
          <a:xfrm>
            <a:off x="887720" y="3527239"/>
            <a:ext cx="4964441" cy="4291584"/>
          </a:xfrm>
          <a:prstGeom prst="rect">
            <a:avLst/>
          </a:prstGeom>
        </p:spPr>
        <p:txBody>
          <a:bodyPr vert="horz" lIns="0" tIns="48768" rIns="0" bIns="48768"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133" dirty="0"/>
              <a:t>Simple idea:</a:t>
            </a:r>
          </a:p>
          <a:p>
            <a:r>
              <a:rPr lang="en-US" sz="2133" dirty="0"/>
              <a:t>1. Start with a weak learner (e.g. 1-split tree) and fit a model F to data y: F</a:t>
            </a:r>
            <a:r>
              <a:rPr lang="en-US" sz="2133" baseline="-25000" dirty="0"/>
              <a:t>1</a:t>
            </a:r>
            <a:r>
              <a:rPr lang="en-US" sz="2133" dirty="0"/>
              <a:t>(x) = y</a:t>
            </a:r>
          </a:p>
          <a:p>
            <a:r>
              <a:rPr lang="en-US" sz="2133" dirty="0"/>
              <a:t>2. Calculate residuals (i.e., where model is failing) F</a:t>
            </a:r>
            <a:r>
              <a:rPr lang="en-US" sz="2133" baseline="-25000" dirty="0"/>
              <a:t>1</a:t>
            </a:r>
            <a:r>
              <a:rPr lang="en-US" sz="2133" dirty="0"/>
              <a:t>(x) </a:t>
            </a:r>
            <a:r>
              <a:rPr lang="mr-IN" sz="2133" dirty="0"/>
              <a:t>–</a:t>
            </a:r>
            <a:r>
              <a:rPr lang="en-US" sz="2133" dirty="0"/>
              <a:t> y and make model h(x) that fits the residuals</a:t>
            </a:r>
          </a:p>
          <a:p>
            <a:r>
              <a:rPr lang="en-US" sz="2133" dirty="0"/>
              <a:t>3. Update model: F</a:t>
            </a:r>
            <a:r>
              <a:rPr lang="en-US" sz="2133" baseline="-25000" dirty="0"/>
              <a:t>2</a:t>
            </a:r>
            <a:r>
              <a:rPr lang="en-US" sz="2133" dirty="0"/>
              <a:t>(x) = F</a:t>
            </a:r>
            <a:r>
              <a:rPr lang="en-US" sz="2133" baseline="-25000" dirty="0"/>
              <a:t>1</a:t>
            </a:r>
            <a:r>
              <a:rPr lang="en-US" sz="2133" dirty="0"/>
              <a:t>(x) + h(x)</a:t>
            </a:r>
          </a:p>
          <a:p>
            <a:r>
              <a:rPr lang="en-US" sz="2133" dirty="0"/>
              <a:t>4. Repeat from 1, until convergence</a:t>
            </a:r>
          </a:p>
        </p:txBody>
      </p:sp>
      <p:sp>
        <p:nvSpPr>
          <p:cNvPr id="7" name="TextBox 6">
            <a:extLst>
              <a:ext uri="{FF2B5EF4-FFF2-40B4-BE49-F238E27FC236}">
                <a16:creationId xmlns:a16="http://schemas.microsoft.com/office/drawing/2014/main" id="{A9D8DF50-BE46-4D47-9B45-DEA8EB6A7D34}"/>
              </a:ext>
            </a:extLst>
          </p:cNvPr>
          <p:cNvSpPr txBox="1"/>
          <p:nvPr/>
        </p:nvSpPr>
        <p:spPr>
          <a:xfrm>
            <a:off x="7152641" y="6553200"/>
            <a:ext cx="4399217" cy="492443"/>
          </a:xfrm>
          <a:prstGeom prst="rect">
            <a:avLst/>
          </a:prstGeom>
          <a:noFill/>
        </p:spPr>
        <p:txBody>
          <a:bodyPr wrap="none" rtlCol="0">
            <a:spAutoFit/>
          </a:bodyPr>
          <a:lstStyle/>
          <a:p>
            <a:r>
              <a:rPr lang="en-US" sz="2600" dirty="0">
                <a:latin typeface="+mj-lt"/>
              </a:rPr>
              <a:t>Example credit: Alexander </a:t>
            </a:r>
            <a:r>
              <a:rPr lang="en-US" sz="2600" dirty="0" err="1">
                <a:latin typeface="+mj-lt"/>
              </a:rPr>
              <a:t>Ilher</a:t>
            </a:r>
            <a:endParaRPr lang="en-US" sz="2600" dirty="0">
              <a:latin typeface="+mj-lt"/>
            </a:endParaRPr>
          </a:p>
        </p:txBody>
      </p:sp>
    </p:spTree>
    <p:extLst>
      <p:ext uri="{BB962C8B-B14F-4D97-AF65-F5344CB8AC3E}">
        <p14:creationId xmlns:p14="http://schemas.microsoft.com/office/powerpoint/2010/main" val="43791383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9F011-27DA-9942-81D9-6228D2025645}"/>
              </a:ext>
            </a:extLst>
          </p:cNvPr>
          <p:cNvSpPr>
            <a:spLocks noGrp="1"/>
          </p:cNvSpPr>
          <p:nvPr>
            <p:ph type="title"/>
          </p:nvPr>
        </p:nvSpPr>
        <p:spPr>
          <a:xfrm>
            <a:off x="1785410" y="475488"/>
            <a:ext cx="9796613" cy="1690624"/>
          </a:xfrm>
        </p:spPr>
        <p:txBody>
          <a:bodyPr>
            <a:normAutofit/>
          </a:bodyPr>
          <a:lstStyle/>
          <a:p>
            <a:r>
              <a:rPr lang="en-US" sz="4000" dirty="0"/>
              <a:t>Let’s put the “Gradient” in GBM</a:t>
            </a:r>
            <a:endParaRPr lang="en-US" dirty="0"/>
          </a:p>
        </p:txBody>
      </p:sp>
      <p:sp>
        <p:nvSpPr>
          <p:cNvPr id="3" name="Content Placeholder 2"/>
          <p:cNvSpPr>
            <a:spLocks noGrp="1"/>
          </p:cNvSpPr>
          <p:nvPr>
            <p:ph idx="4294967295"/>
          </p:nvPr>
        </p:nvSpPr>
        <p:spPr>
          <a:xfrm>
            <a:off x="1099432" y="2826965"/>
            <a:ext cx="11022488" cy="4291012"/>
          </a:xfrm>
        </p:spPr>
        <p:txBody>
          <a:bodyPr>
            <a:normAutofit/>
          </a:bodyPr>
          <a:lstStyle/>
          <a:p>
            <a:r>
              <a:rPr lang="en-US" sz="3200" dirty="0"/>
              <a:t>The general idea of “Gradient Descent” is that the most efficient way to minimize a function is to move in the direction of the loss function’s negative gradient.</a:t>
            </a:r>
          </a:p>
          <a:p>
            <a:r>
              <a:rPr lang="en-US" sz="3200" dirty="0"/>
              <a:t>If we want to minimize the loss function, we can fit a model iteratively to its </a:t>
            </a:r>
            <a:r>
              <a:rPr lang="en-US" sz="3200" dirty="0">
                <a:solidFill>
                  <a:srgbClr val="FF0000"/>
                </a:solidFill>
              </a:rPr>
              <a:t>negative gradient components.</a:t>
            </a:r>
          </a:p>
          <a:p>
            <a:r>
              <a:rPr lang="en-US" sz="3200" dirty="0">
                <a:solidFill>
                  <a:schemeClr val="tx1"/>
                </a:solidFill>
              </a:rPr>
              <a:t>In fact, fitting the residuals works because </a:t>
            </a:r>
            <a:r>
              <a:rPr lang="en-US" sz="3200" dirty="0">
                <a:solidFill>
                  <a:srgbClr val="FF0000"/>
                </a:solidFill>
              </a:rPr>
              <a:t>the residuals are the derivative of the mean square error function</a:t>
            </a:r>
            <a:r>
              <a:rPr lang="en-US" sz="3200" dirty="0">
                <a:solidFill>
                  <a:schemeClr val="tx1"/>
                </a:solidFill>
              </a:rPr>
              <a:t>.</a:t>
            </a:r>
          </a:p>
        </p:txBody>
      </p:sp>
      <p:sp>
        <p:nvSpPr>
          <p:cNvPr id="4" name="Title 1"/>
          <p:cNvSpPr txBox="1">
            <a:spLocks/>
          </p:cNvSpPr>
          <p:nvPr/>
        </p:nvSpPr>
        <p:spPr>
          <a:xfrm>
            <a:off x="1170432" y="1779353"/>
            <a:ext cx="10728960" cy="938227"/>
          </a:xfrm>
          <a:prstGeom prst="rect">
            <a:avLst/>
          </a:prstGeom>
        </p:spPr>
        <p:txBody>
          <a:bodyPr vert="horz" lIns="97536" tIns="48768" rIns="97536" bIns="48768"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US" sz="5120" dirty="0"/>
          </a:p>
        </p:txBody>
      </p:sp>
      <p:pic>
        <p:nvPicPr>
          <p:cNvPr id="4108" name="Picture 12" descr="gamma_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219200"/>
            <a:ext cx="193040" cy="101600"/>
          </a:xfrm>
          <a:prstGeom prst="rect">
            <a:avLst/>
          </a:prstGeom>
          <a:noFill/>
          <a:extLst>
            <a:ext uri="{909E8E84-426E-40DD-AFC4-6F175D3DCCD1}">
              <a14:hiddenFill xmlns:a14="http://schemas.microsoft.com/office/drawing/2010/main">
                <a:solidFill>
                  <a:srgbClr val="FFFFFF"/>
                </a:solidFill>
              </a14:hiddenFill>
            </a:ext>
          </a:extLst>
        </p:spPr>
      </p:pic>
      <p:pic>
        <p:nvPicPr>
          <p:cNvPr id="4109" name="Picture 13" descr="gamma_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219200"/>
            <a:ext cx="193040" cy="10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8964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0659" y="3124200"/>
            <a:ext cx="8444807" cy="4411709"/>
          </a:xfrm>
        </p:spPr>
        <p:txBody>
          <a:bodyPr>
            <a:normAutofit lnSpcReduction="10000"/>
          </a:bodyPr>
          <a:lstStyle/>
          <a:p>
            <a:r>
              <a:rPr lang="en-US" dirty="0"/>
              <a:t>Modified idea to work with any differentiable loss function L:</a:t>
            </a:r>
          </a:p>
          <a:p>
            <a:endParaRPr lang="en-US" dirty="0"/>
          </a:p>
          <a:p>
            <a:pPr marL="365771" indent="-365771">
              <a:buAutoNum type="arabicPeriod"/>
            </a:pPr>
            <a:r>
              <a:rPr lang="en-US" dirty="0"/>
              <a:t>Initialize F to median of y</a:t>
            </a:r>
          </a:p>
          <a:p>
            <a:pPr marL="365771" indent="-365771">
              <a:buAutoNum type="arabicPeriod"/>
            </a:pPr>
            <a:r>
              <a:rPr lang="en-US" dirty="0"/>
              <a:t>Calculate pseudo-residuals =  - </a:t>
            </a:r>
            <a:r>
              <a:rPr lang="en-US" dirty="0" err="1"/>
              <a:t>dL</a:t>
            </a:r>
            <a:r>
              <a:rPr lang="en-US" dirty="0"/>
              <a:t>/</a:t>
            </a:r>
            <a:r>
              <a:rPr lang="en-US" dirty="0" err="1"/>
              <a:t>dF</a:t>
            </a:r>
            <a:endParaRPr lang="en-US" dirty="0"/>
          </a:p>
          <a:p>
            <a:pPr marL="365771" indent="-365771">
              <a:buAutoNum type="arabicPeriod"/>
            </a:pPr>
            <a:r>
              <a:rPr lang="en-US" dirty="0"/>
              <a:t>Fit model to pseudo - residuals, h(x)</a:t>
            </a:r>
          </a:p>
          <a:p>
            <a:pPr marL="365771" indent="-365771">
              <a:buAutoNum type="arabicPeriod"/>
            </a:pPr>
            <a:r>
              <a:rPr lang="en-US" dirty="0"/>
              <a:t>Make new model: F</a:t>
            </a:r>
            <a:r>
              <a:rPr lang="en-US" baseline="-25000" dirty="0"/>
              <a:t>2</a:t>
            </a:r>
            <a:r>
              <a:rPr lang="en-US" dirty="0"/>
              <a:t>(x) = F</a:t>
            </a:r>
            <a:r>
              <a:rPr lang="en-US" baseline="-25000" dirty="0"/>
              <a:t>1</a:t>
            </a:r>
            <a:r>
              <a:rPr lang="en-US" dirty="0"/>
              <a:t>(x) + α* h(x)  (α = learning rate)</a:t>
            </a:r>
          </a:p>
          <a:p>
            <a:pPr marL="365771" indent="-365771">
              <a:buAutoNum type="arabicPeriod"/>
            </a:pPr>
            <a:r>
              <a:rPr lang="en-US" dirty="0"/>
              <a:t>Repeat from 2, until convergence</a:t>
            </a:r>
          </a:p>
          <a:p>
            <a:endParaRPr lang="en-US" dirty="0">
              <a:solidFill>
                <a:schemeClr val="tx1"/>
              </a:solidFill>
            </a:endParaRPr>
          </a:p>
        </p:txBody>
      </p:sp>
      <p:pic>
        <p:nvPicPr>
          <p:cNvPr id="4108" name="Picture 12" descr="gamma_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219200"/>
            <a:ext cx="193040" cy="101600"/>
          </a:xfrm>
          <a:prstGeom prst="rect">
            <a:avLst/>
          </a:prstGeom>
          <a:noFill/>
          <a:extLst>
            <a:ext uri="{909E8E84-426E-40DD-AFC4-6F175D3DCCD1}">
              <a14:hiddenFill xmlns:a14="http://schemas.microsoft.com/office/drawing/2010/main">
                <a:solidFill>
                  <a:srgbClr val="FFFFFF"/>
                </a:solidFill>
              </a14:hiddenFill>
            </a:ext>
          </a:extLst>
        </p:spPr>
      </p:pic>
      <p:pic>
        <p:nvPicPr>
          <p:cNvPr id="4109" name="Picture 13" descr="gamma_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219200"/>
            <a:ext cx="193040" cy="1016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9023716" y="3124200"/>
            <a:ext cx="3601765" cy="6001643"/>
          </a:xfrm>
          <a:prstGeom prst="rect">
            <a:avLst/>
          </a:prstGeom>
          <a:noFill/>
        </p:spPr>
        <p:txBody>
          <a:bodyPr wrap="square" rtlCol="0">
            <a:spAutoFit/>
          </a:bodyPr>
          <a:lstStyle/>
          <a:p>
            <a:pPr algn="just"/>
            <a:r>
              <a:rPr lang="en-US" sz="2400" dirty="0">
                <a:latin typeface="+mn-lt"/>
              </a:rPr>
              <a:t>The learning rate is a parameter of boosted models (</a:t>
            </a:r>
            <a:r>
              <a:rPr lang="en-US" sz="2400" dirty="0">
                <a:solidFill>
                  <a:srgbClr val="FF0000"/>
                </a:solidFill>
                <a:latin typeface="+mn-lt"/>
              </a:rPr>
              <a:t>shrinkage</a:t>
            </a:r>
            <a:r>
              <a:rPr lang="en-US" sz="2400" dirty="0">
                <a:latin typeface="+mn-lt"/>
              </a:rPr>
              <a:t>).</a:t>
            </a:r>
          </a:p>
          <a:p>
            <a:pPr algn="just"/>
            <a:endParaRPr lang="en-US" sz="2400" dirty="0">
              <a:latin typeface="+mn-lt"/>
            </a:endParaRPr>
          </a:p>
          <a:p>
            <a:pPr algn="just"/>
            <a:r>
              <a:rPr lang="en-US" sz="2400" dirty="0">
                <a:latin typeface="+mn-lt"/>
              </a:rPr>
              <a:t>Small α values require larger # of iterations but often gives better predictions</a:t>
            </a:r>
          </a:p>
          <a:p>
            <a:pPr algn="just"/>
            <a:endParaRPr lang="en-US" sz="2400" dirty="0">
              <a:latin typeface="+mn-lt"/>
            </a:endParaRPr>
          </a:p>
          <a:p>
            <a:pPr algn="just"/>
            <a:r>
              <a:rPr lang="en-US" sz="2400" dirty="0">
                <a:latin typeface="+mn-lt"/>
              </a:rPr>
              <a:t>α can be chosen on a step-by-step basis and becomes the weight of each predictor in the final ensemble.</a:t>
            </a:r>
          </a:p>
          <a:p>
            <a:pPr algn="just"/>
            <a:endParaRPr lang="en-US" sz="2400" dirty="0">
              <a:latin typeface="+mn-lt"/>
            </a:endParaRPr>
          </a:p>
          <a:p>
            <a:pPr algn="just"/>
            <a:endParaRPr lang="en-US" sz="2400" dirty="0">
              <a:latin typeface="+mn-lt"/>
            </a:endParaRPr>
          </a:p>
        </p:txBody>
      </p:sp>
      <p:sp>
        <p:nvSpPr>
          <p:cNvPr id="7" name="Title 1">
            <a:extLst>
              <a:ext uri="{FF2B5EF4-FFF2-40B4-BE49-F238E27FC236}">
                <a16:creationId xmlns:a16="http://schemas.microsoft.com/office/drawing/2014/main" id="{682AB471-0D7F-CD44-82EE-1FB4771B9E8B}"/>
              </a:ext>
            </a:extLst>
          </p:cNvPr>
          <p:cNvSpPr>
            <a:spLocks noGrp="1"/>
          </p:cNvSpPr>
          <p:nvPr>
            <p:ph type="title"/>
          </p:nvPr>
        </p:nvSpPr>
        <p:spPr>
          <a:xfrm>
            <a:off x="1785410" y="475488"/>
            <a:ext cx="9796613" cy="1690624"/>
          </a:xfrm>
        </p:spPr>
        <p:txBody>
          <a:bodyPr>
            <a:normAutofit/>
          </a:bodyPr>
          <a:lstStyle/>
          <a:p>
            <a:r>
              <a:rPr lang="en-US" sz="4000" dirty="0"/>
              <a:t>Let’s put the “Gradient” in GBM</a:t>
            </a:r>
            <a:endParaRPr lang="en-US" dirty="0"/>
          </a:p>
        </p:txBody>
      </p:sp>
    </p:spTree>
    <p:extLst>
      <p:ext uri="{BB962C8B-B14F-4D97-AF65-F5344CB8AC3E}">
        <p14:creationId xmlns:p14="http://schemas.microsoft.com/office/powerpoint/2010/main" val="18396700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3800" y="533400"/>
            <a:ext cx="8444807" cy="1690624"/>
          </a:xfrm>
        </p:spPr>
        <p:txBody>
          <a:bodyPr anchor="ctr"/>
          <a:lstStyle/>
          <a:p>
            <a:pPr algn="ctr"/>
            <a:r>
              <a:rPr lang="en-US" dirty="0"/>
              <a:t>GBT pseudo code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2077" y="3048000"/>
                <a:ext cx="10720646" cy="4411709"/>
              </a:xfrm>
            </p:spPr>
            <p:txBody>
              <a:bodyPr>
                <a:noAutofit/>
              </a:bodyPr>
              <a:lstStyle/>
              <a:p>
                <a:r>
                  <a:rPr lang="en-US" sz="2500" dirty="0"/>
                  <a:t>1. Initialize the predictions, </a:t>
                </a:r>
                <a14:m>
                  <m:oMath xmlns:m="http://schemas.openxmlformats.org/officeDocument/2006/math">
                    <m:acc>
                      <m:accPr>
                        <m:chr m:val="̂"/>
                        <m:ctrlPr>
                          <a:rPr lang="en-US" sz="2500" i="1" smtClean="0">
                            <a:latin typeface="Cambria Math" panose="02040503050406030204" pitchFamily="18" charset="0"/>
                          </a:rPr>
                        </m:ctrlPr>
                      </m:accPr>
                      <m:e>
                        <m:r>
                          <a:rPr lang="en-US" sz="2500" b="0" i="1" smtClean="0">
                            <a:latin typeface="Cambria Math" charset="0"/>
                          </a:rPr>
                          <m:t>𝑦</m:t>
                        </m:r>
                        <m:r>
                          <a:rPr lang="en-US" sz="2500" b="0" i="1" baseline="-25000" smtClean="0">
                            <a:latin typeface="Cambria Math" charset="0"/>
                          </a:rPr>
                          <m:t>0</m:t>
                        </m:r>
                      </m:e>
                    </m:acc>
                  </m:oMath>
                </a14:m>
                <a:r>
                  <a:rPr lang="en-US" sz="2500" dirty="0"/>
                  <a:t>, with a constant (typically the mean of the target values, if the loss is the mean square loss); </a:t>
                </a:r>
              </a:p>
              <a:p>
                <a:r>
                  <a:rPr lang="en-US" sz="2500" dirty="0"/>
                  <a:t>2. For </a:t>
                </a:r>
                <a:r>
                  <a:rPr lang="en-US" sz="2500" dirty="0" err="1"/>
                  <a:t>i</a:t>
                </a:r>
                <a:r>
                  <a:rPr lang="en-US" sz="2500" dirty="0"/>
                  <a:t> = 1, ... M (number of iterations), do: </a:t>
                </a:r>
              </a:p>
              <a:p>
                <a:pPr lvl="1"/>
                <a:r>
                  <a:rPr lang="en-US" sz="2500" dirty="0"/>
                  <a:t>3. Compute the negative gradient of the loss function along the training set examples; </a:t>
                </a:r>
              </a:p>
              <a:p>
                <a:pPr lvl="1"/>
                <a:r>
                  <a:rPr lang="en-US" sz="2500" dirty="0"/>
                  <a:t>4. Fit a new base-learner function h(</a:t>
                </a:r>
                <a:r>
                  <a:rPr lang="en-US" sz="2500" dirty="0" err="1"/>
                  <a:t>x,θ</a:t>
                </a:r>
                <a:r>
                  <a:rPr lang="en-US" sz="2500" baseline="-25000" dirty="0" err="1"/>
                  <a:t>t</a:t>
                </a:r>
                <a:r>
                  <a:rPr lang="en-US" sz="2500" dirty="0"/>
                  <a:t>) to the negative gradient, by optimizing the parameters </a:t>
                </a:r>
                <a:r>
                  <a:rPr lang="en-US" sz="2500" dirty="0" err="1"/>
                  <a:t>θt</a:t>
                </a:r>
                <a:r>
                  <a:rPr lang="en-US" sz="2500" dirty="0"/>
                  <a:t>; </a:t>
                </a:r>
              </a:p>
              <a:p>
                <a:pPr lvl="1"/>
                <a:r>
                  <a:rPr lang="en-US" sz="2500" dirty="0"/>
                  <a:t>5. Update the estimate of the predictor: F</a:t>
                </a:r>
                <a:r>
                  <a:rPr lang="en-US" sz="2500" baseline="-25000" dirty="0"/>
                  <a:t>t</a:t>
                </a:r>
                <a:r>
                  <a:rPr lang="en-US" sz="2500" dirty="0"/>
                  <a:t> =F</a:t>
                </a:r>
                <a:r>
                  <a:rPr lang="en-US" sz="2500" baseline="-25000" dirty="0"/>
                  <a:t>t−1</a:t>
                </a:r>
                <a:r>
                  <a:rPr lang="en-US" sz="2500" dirty="0"/>
                  <a:t>+η h(</a:t>
                </a:r>
                <a:r>
                  <a:rPr lang="en-US" sz="2500" dirty="0" err="1"/>
                  <a:t>x,θ</a:t>
                </a:r>
                <a:r>
                  <a:rPr lang="en-US" sz="2500" baseline="-25000" dirty="0" err="1"/>
                  <a:t>t</a:t>
                </a:r>
                <a:r>
                  <a:rPr lang="en-US" sz="2500" dirty="0"/>
                  <a:t>) (</a:t>
                </a:r>
                <a:r>
                  <a:rPr lang="en-US" sz="2500" dirty="0" err="1"/>
                  <a:t>η</a:t>
                </a:r>
                <a:r>
                  <a:rPr lang="en-US" sz="2500" dirty="0"/>
                  <a:t> is the shrinkage parameter, and can be fixed, like in </a:t>
                </a:r>
                <a:r>
                  <a:rPr lang="en-US" sz="2500" dirty="0" err="1"/>
                  <a:t>sklearn</a:t>
                </a:r>
                <a:r>
                  <a:rPr lang="en-US" sz="2500" dirty="0"/>
                  <a:t>, or dynamic). </a:t>
                </a:r>
              </a:p>
              <a:p>
                <a:r>
                  <a:rPr lang="en-US" sz="2500" dirty="0"/>
                  <a:t>6. Repeat the procedure of 3-5 is repeated until some convergence criterion is reached (early stopping), or until the maximum number of iterations is reached. </a:t>
                </a:r>
              </a:p>
              <a:p>
                <a:endParaRPr lang="en-US" sz="25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2077" y="3048000"/>
                <a:ext cx="10720646" cy="4411709"/>
              </a:xfrm>
              <a:blipFill>
                <a:blip r:embed="rId2"/>
                <a:stretch>
                  <a:fillRect l="-709" t="-1437" r="-1655" b="-20690"/>
                </a:stretch>
              </a:blipFill>
            </p:spPr>
            <p:txBody>
              <a:bodyPr/>
              <a:lstStyle/>
              <a:p>
                <a:r>
                  <a:rPr lang="en-US">
                    <a:noFill/>
                  </a:rPr>
                  <a:t> </a:t>
                </a:r>
              </a:p>
            </p:txBody>
          </p:sp>
        </mc:Fallback>
      </mc:AlternateContent>
    </p:spTree>
    <p:extLst>
      <p:ext uri="{BB962C8B-B14F-4D97-AF65-F5344CB8AC3E}">
        <p14:creationId xmlns:p14="http://schemas.microsoft.com/office/powerpoint/2010/main" val="193348712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EA876-F23E-2644-8DA5-6B9300B4328F}"/>
              </a:ext>
            </a:extLst>
          </p:cNvPr>
          <p:cNvSpPr>
            <a:spLocks noGrp="1"/>
          </p:cNvSpPr>
          <p:nvPr>
            <p:ph type="title"/>
          </p:nvPr>
        </p:nvSpPr>
        <p:spPr>
          <a:xfrm>
            <a:off x="2259677" y="1828800"/>
            <a:ext cx="8485446" cy="5409794"/>
          </a:xfrm>
        </p:spPr>
        <p:txBody>
          <a:bodyPr>
            <a:normAutofit/>
          </a:bodyPr>
          <a:lstStyle/>
          <a:p>
            <a:r>
              <a:rPr lang="en-US" dirty="0"/>
              <a:t>Questions:</a:t>
            </a:r>
            <a:br>
              <a:rPr lang="en-US" dirty="0"/>
            </a:br>
            <a:br>
              <a:rPr lang="en-US" dirty="0"/>
            </a:br>
            <a:r>
              <a:rPr lang="en-US" dirty="0"/>
              <a:t>- do you think that GBT will work even with weak base learners?</a:t>
            </a:r>
            <a:br>
              <a:rPr lang="en-US" dirty="0"/>
            </a:br>
            <a:br>
              <a:rPr lang="en-US" dirty="0"/>
            </a:br>
            <a:r>
              <a:rPr lang="en-US" dirty="0"/>
              <a:t>- do you think that they are more likely to overfit or underfit?</a:t>
            </a:r>
          </a:p>
        </p:txBody>
      </p:sp>
    </p:spTree>
    <p:extLst>
      <p:ext uri="{BB962C8B-B14F-4D97-AF65-F5344CB8AC3E}">
        <p14:creationId xmlns:p14="http://schemas.microsoft.com/office/powerpoint/2010/main" val="154622870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9996" y="685800"/>
            <a:ext cx="8444807" cy="1690624"/>
          </a:xfrm>
        </p:spPr>
        <p:txBody>
          <a:bodyPr anchor="ctr"/>
          <a:lstStyle/>
          <a:p>
            <a:pPr algn="ctr"/>
            <a:r>
              <a:rPr lang="en-US" dirty="0"/>
              <a:t>GBT on toy model</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5134" y="2895600"/>
            <a:ext cx="9169266" cy="6112844"/>
          </a:xfrm>
        </p:spPr>
      </p:pic>
    </p:spTree>
    <p:extLst>
      <p:ext uri="{BB962C8B-B14F-4D97-AF65-F5344CB8AC3E}">
        <p14:creationId xmlns:p14="http://schemas.microsoft.com/office/powerpoint/2010/main" val="77370664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2508" y="685800"/>
            <a:ext cx="8444807" cy="1690624"/>
          </a:xfrm>
        </p:spPr>
        <p:txBody>
          <a:bodyPr>
            <a:normAutofit fontScale="90000"/>
          </a:bodyPr>
          <a:lstStyle/>
          <a:p>
            <a:pPr algn="ctr"/>
            <a:r>
              <a:rPr lang="en-US" dirty="0"/>
              <a:t>Issues with GBT: </a:t>
            </a:r>
            <a:br>
              <a:rPr lang="en-US" dirty="0"/>
            </a:br>
            <a:r>
              <a:rPr lang="en-US" dirty="0"/>
              <a:t>very easy to overfit → regularization is needed!</a:t>
            </a:r>
          </a:p>
        </p:txBody>
      </p:sp>
      <p:sp>
        <p:nvSpPr>
          <p:cNvPr id="3" name="Content Placeholder 2"/>
          <p:cNvSpPr>
            <a:spLocks noGrp="1"/>
          </p:cNvSpPr>
          <p:nvPr>
            <p:ph idx="1"/>
          </p:nvPr>
        </p:nvSpPr>
        <p:spPr>
          <a:xfrm>
            <a:off x="820926" y="3124200"/>
            <a:ext cx="11701273" cy="5943600"/>
          </a:xfrm>
        </p:spPr>
        <p:txBody>
          <a:bodyPr>
            <a:normAutofit/>
          </a:bodyPr>
          <a:lstStyle/>
          <a:p>
            <a:r>
              <a:rPr lang="en-US" dirty="0">
                <a:solidFill>
                  <a:srgbClr val="FF0000"/>
                </a:solidFill>
              </a:rPr>
              <a:t>Regularization</a:t>
            </a:r>
            <a:r>
              <a:rPr lang="en-US" dirty="0"/>
              <a:t> can be applied in various ways:</a:t>
            </a:r>
          </a:p>
          <a:p>
            <a:r>
              <a:rPr lang="en-US" dirty="0">
                <a:solidFill>
                  <a:srgbClr val="FF0000"/>
                </a:solidFill>
              </a:rPr>
              <a:t>Shrinkage:  </a:t>
            </a:r>
            <a:r>
              <a:rPr lang="en-US" dirty="0"/>
              <a:t>We can choose a small value (&lt; 1) for the coefficient </a:t>
            </a:r>
            <a:r>
              <a:rPr lang="en-US" dirty="0" err="1"/>
              <a:t>η</a:t>
            </a:r>
            <a:r>
              <a:rPr lang="en-US" dirty="0"/>
              <a:t>, also known in </a:t>
            </a:r>
            <a:r>
              <a:rPr lang="en-US" dirty="0" err="1"/>
              <a:t>sklearn</a:t>
            </a:r>
            <a:r>
              <a:rPr lang="en-US" dirty="0"/>
              <a:t> as learning rate, which regulates the contribution of each new correction to the current model.  A GBT model with smaller values of </a:t>
            </a:r>
            <a:r>
              <a:rPr lang="en-US" dirty="0" err="1"/>
              <a:t>η</a:t>
            </a:r>
            <a:r>
              <a:rPr lang="en-US" dirty="0"/>
              <a:t> will take longer to achieve the same accuracy; there is a trade-off between the number of iterations and the learning rate. </a:t>
            </a:r>
          </a:p>
          <a:p>
            <a:r>
              <a:rPr lang="en-US" dirty="0">
                <a:solidFill>
                  <a:srgbClr val="FF0000"/>
                </a:solidFill>
              </a:rPr>
              <a:t>Subsampling:  </a:t>
            </a:r>
            <a:r>
              <a:rPr lang="en-US" dirty="0"/>
              <a:t>We might select a random fraction of the data (with or without replacement) in order to fit each step.  The smaller the fraction, the stronger the regularization. </a:t>
            </a:r>
          </a:p>
          <a:p>
            <a:r>
              <a:rPr lang="en-US" dirty="0">
                <a:solidFill>
                  <a:srgbClr val="FF0000"/>
                </a:solidFill>
              </a:rPr>
              <a:t>Random feature selection</a:t>
            </a:r>
            <a:r>
              <a:rPr lang="en-US" dirty="0"/>
              <a:t>:  We might use only a random subset of features at each step.  This randomization technique is “borrowed” from bagging algorithms such as Random Forests, where it is similarly used to reduce the variance of the single estimator. </a:t>
            </a:r>
          </a:p>
          <a:p>
            <a:endParaRPr lang="en-US" dirty="0"/>
          </a:p>
        </p:txBody>
      </p:sp>
    </p:spTree>
    <p:extLst>
      <p:ext uri="{BB962C8B-B14F-4D97-AF65-F5344CB8AC3E}">
        <p14:creationId xmlns:p14="http://schemas.microsoft.com/office/powerpoint/2010/main" val="67416715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5236" y="805959"/>
            <a:ext cx="8444807" cy="1690624"/>
          </a:xfrm>
        </p:spPr>
        <p:txBody>
          <a:bodyPr anchor="ctr"/>
          <a:lstStyle/>
          <a:p>
            <a:pPr algn="ctr"/>
            <a:r>
              <a:rPr lang="en-US" dirty="0"/>
              <a:t>Pros and Cons Summary</a:t>
            </a:r>
          </a:p>
        </p:txBody>
      </p:sp>
      <p:pic>
        <p:nvPicPr>
          <p:cNvPr id="5122" name="Picture 2" descr="https://cdn-images-1.medium.com/max/716/1*8T4HEjzHto_V8PrEFLkd9A.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3193" y="3204460"/>
            <a:ext cx="7416151" cy="483707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200114" y="8749408"/>
            <a:ext cx="11195050" cy="830997"/>
          </a:xfrm>
          <a:prstGeom prst="rect">
            <a:avLst/>
          </a:prstGeom>
        </p:spPr>
        <p:txBody>
          <a:bodyPr wrap="square">
            <a:spAutoFit/>
          </a:bodyPr>
          <a:lstStyle/>
          <a:p>
            <a:r>
              <a:rPr lang="en-US" sz="2400" dirty="0">
                <a:latin typeface="+mn-lt"/>
                <a:hlinkClick r:id="rId3"/>
              </a:rPr>
              <a:t>Source: https://nbviewer.jupyter.org/github/groverpr/Machine-Learning/blob/master/notebooks/01_Gradient_Boosting_Scratch.ipynb</a:t>
            </a:r>
            <a:endParaRPr lang="en-US" sz="2400" dirty="0">
              <a:latin typeface="+mn-lt"/>
            </a:endParaRPr>
          </a:p>
        </p:txBody>
      </p:sp>
      <p:sp>
        <p:nvSpPr>
          <p:cNvPr id="3" name="TextBox 2"/>
          <p:cNvSpPr txBox="1"/>
          <p:nvPr/>
        </p:nvSpPr>
        <p:spPr>
          <a:xfrm>
            <a:off x="7658410" y="6545259"/>
            <a:ext cx="354584" cy="617541"/>
          </a:xfrm>
          <a:prstGeom prst="rect">
            <a:avLst/>
          </a:prstGeom>
          <a:noFill/>
        </p:spPr>
        <p:txBody>
          <a:bodyPr wrap="none" rtlCol="0">
            <a:spAutoFit/>
          </a:bodyPr>
          <a:lstStyle/>
          <a:p>
            <a:r>
              <a:rPr lang="en-US" sz="3413" dirty="0"/>
              <a:t>*</a:t>
            </a:r>
          </a:p>
        </p:txBody>
      </p:sp>
      <p:sp>
        <p:nvSpPr>
          <p:cNvPr id="4" name="TextBox 3"/>
          <p:cNvSpPr txBox="1"/>
          <p:nvPr/>
        </p:nvSpPr>
        <p:spPr>
          <a:xfrm>
            <a:off x="7658410" y="6639477"/>
            <a:ext cx="3612720" cy="617541"/>
          </a:xfrm>
          <a:prstGeom prst="rect">
            <a:avLst/>
          </a:prstGeom>
          <a:noFill/>
        </p:spPr>
        <p:txBody>
          <a:bodyPr wrap="none" rtlCol="0">
            <a:spAutoFit/>
          </a:bodyPr>
          <a:lstStyle/>
          <a:p>
            <a:r>
              <a:rPr lang="en-US" sz="3413" dirty="0">
                <a:latin typeface="+mj-lt"/>
              </a:rPr>
              <a:t> with regularization</a:t>
            </a:r>
          </a:p>
        </p:txBody>
      </p:sp>
    </p:spTree>
    <p:extLst>
      <p:ext uri="{BB962C8B-B14F-4D97-AF65-F5344CB8AC3E}">
        <p14:creationId xmlns:p14="http://schemas.microsoft.com/office/powerpoint/2010/main" val="973260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000" y="457200"/>
            <a:ext cx="10502392" cy="2225042"/>
          </a:xfrm>
        </p:spPr>
        <p:txBody>
          <a:bodyPr>
            <a:noAutofit/>
          </a:bodyPr>
          <a:lstStyle/>
          <a:p>
            <a:pPr algn="ctr"/>
            <a:r>
              <a:rPr lang="en-US" sz="4053" dirty="0"/>
              <a:t>What can you use Bagging/Boosting methods for?</a:t>
            </a:r>
          </a:p>
        </p:txBody>
      </p:sp>
      <p:sp>
        <p:nvSpPr>
          <p:cNvPr id="3" name="Content Placeholder 2"/>
          <p:cNvSpPr>
            <a:spLocks noGrp="1"/>
          </p:cNvSpPr>
          <p:nvPr>
            <p:ph idx="1"/>
          </p:nvPr>
        </p:nvSpPr>
        <p:spPr>
          <a:xfrm>
            <a:off x="1168400" y="3124200"/>
            <a:ext cx="11046968" cy="5891670"/>
          </a:xfrm>
        </p:spPr>
        <p:txBody>
          <a:bodyPr>
            <a:normAutofit/>
          </a:bodyPr>
          <a:lstStyle/>
          <a:p>
            <a:pPr>
              <a:lnSpc>
                <a:spcPct val="150000"/>
              </a:lnSpc>
            </a:pPr>
            <a:r>
              <a:rPr lang="en-US" sz="2800" dirty="0"/>
              <a:t>Both classification and regression problems!</a:t>
            </a:r>
          </a:p>
          <a:p>
            <a:pPr>
              <a:lnSpc>
                <a:spcPct val="150000"/>
              </a:lnSpc>
            </a:pPr>
            <a:r>
              <a:rPr lang="en-US" sz="2800" dirty="0"/>
              <a:t>You can also always turn a classification problem into a regression problem by predicting a probability that on object belongs to a certain class</a:t>
            </a:r>
          </a:p>
          <a:p>
            <a:pPr>
              <a:lnSpc>
                <a:spcPct val="150000"/>
              </a:lnSpc>
            </a:pPr>
            <a:r>
              <a:rPr lang="en-US" sz="2800" dirty="0"/>
              <a:t>They are an all-purpose, generally fast and accurate sets of algorithms</a:t>
            </a:r>
          </a:p>
          <a:p>
            <a:pPr>
              <a:lnSpc>
                <a:spcPct val="150000"/>
              </a:lnSpc>
            </a:pPr>
            <a:r>
              <a:rPr lang="en-US" sz="2800" dirty="0"/>
              <a:t>For tabular data (where you don’t need to learn a representation, i.e., you are satisfied with your original feature space), often the best method out there (see </a:t>
            </a:r>
            <a:r>
              <a:rPr lang="en-US" sz="2800" dirty="0">
                <a:hlinkClick r:id="rId2"/>
              </a:rPr>
              <a:t>this thread</a:t>
            </a:r>
            <a:r>
              <a:rPr lang="en-US" sz="2800" dirty="0"/>
              <a:t>)</a:t>
            </a:r>
          </a:p>
        </p:txBody>
      </p:sp>
    </p:spTree>
    <p:extLst>
      <p:ext uri="{BB962C8B-B14F-4D97-AF65-F5344CB8AC3E}">
        <p14:creationId xmlns:p14="http://schemas.microsoft.com/office/powerpoint/2010/main" val="264775465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000" y="762000"/>
            <a:ext cx="10728960" cy="1094403"/>
          </a:xfrm>
        </p:spPr>
        <p:txBody>
          <a:bodyPr/>
          <a:lstStyle/>
          <a:p>
            <a:pPr algn="ctr"/>
            <a:r>
              <a:rPr lang="en-US" dirty="0"/>
              <a:t>Variable importance</a:t>
            </a:r>
          </a:p>
        </p:txBody>
      </p:sp>
      <p:sp>
        <p:nvSpPr>
          <p:cNvPr id="3" name="Content Placeholder 2"/>
          <p:cNvSpPr>
            <a:spLocks noGrp="1"/>
          </p:cNvSpPr>
          <p:nvPr>
            <p:ph idx="1"/>
          </p:nvPr>
        </p:nvSpPr>
        <p:spPr>
          <a:xfrm>
            <a:off x="1199896" y="2731008"/>
            <a:ext cx="11123168" cy="4291584"/>
          </a:xfrm>
        </p:spPr>
        <p:txBody>
          <a:bodyPr>
            <a:noAutofit/>
          </a:bodyPr>
          <a:lstStyle/>
          <a:p>
            <a:pPr marL="0" indent="0" algn="ctr">
              <a:buNone/>
            </a:pPr>
            <a:r>
              <a:rPr lang="en-US" sz="2400" dirty="0"/>
              <a:t>A cool feature of ensemble methods is that it is easy to build an understanding of </a:t>
            </a:r>
          </a:p>
          <a:p>
            <a:pPr marL="0" indent="0" algn="ctr">
              <a:buNone/>
            </a:pPr>
            <a:r>
              <a:rPr lang="en-US" sz="2400" b="1" dirty="0"/>
              <a:t>which features carry the majority of the relevant information. </a:t>
            </a:r>
          </a:p>
          <a:p>
            <a:pPr marL="0" indent="0" algn="ctr">
              <a:buNone/>
            </a:pPr>
            <a:endParaRPr lang="en-US" sz="2400" b="1" dirty="0"/>
          </a:p>
          <a:p>
            <a:pPr marL="0" indent="0" algn="ctr">
              <a:buNone/>
            </a:pPr>
            <a:r>
              <a:rPr lang="en-US" sz="2400" dirty="0"/>
              <a:t>Typically, variables are ranked according to two criteria:</a:t>
            </a:r>
          </a:p>
          <a:p>
            <a:pPr marL="0" indent="0" algn="ctr">
              <a:buNone/>
            </a:pPr>
            <a:endParaRPr lang="en-US" sz="2400" dirty="0"/>
          </a:p>
          <a:p>
            <a:pPr marL="125326" marR="174757" indent="0">
              <a:lnSpc>
                <a:spcPct val="150000"/>
              </a:lnSpc>
              <a:spcBef>
                <a:spcPts val="59"/>
              </a:spcBef>
              <a:buNone/>
            </a:pPr>
            <a:r>
              <a:rPr lang="en-US" sz="2400" b="1" spc="5" dirty="0">
                <a:cs typeface="Arial"/>
              </a:rPr>
              <a:t>The </a:t>
            </a:r>
            <a:r>
              <a:rPr lang="en-US" sz="2400" b="1" spc="-43" dirty="0">
                <a:cs typeface="Arial"/>
              </a:rPr>
              <a:t>mean </a:t>
            </a:r>
            <a:r>
              <a:rPr lang="en-US" sz="2400" b="1" spc="-64" dirty="0">
                <a:cs typeface="Arial"/>
              </a:rPr>
              <a:t>decrease </a:t>
            </a:r>
            <a:r>
              <a:rPr lang="en-US" sz="2400" b="1" spc="-37" dirty="0">
                <a:cs typeface="Arial"/>
              </a:rPr>
              <a:t>of </a:t>
            </a:r>
            <a:r>
              <a:rPr lang="en-US" sz="2400" b="1" spc="-32" dirty="0">
                <a:cs typeface="Arial"/>
              </a:rPr>
              <a:t>impurity </a:t>
            </a:r>
            <a:r>
              <a:rPr lang="en-US" sz="2400" b="1" spc="91" dirty="0">
                <a:cs typeface="Arial"/>
              </a:rPr>
              <a:t>(MDI) </a:t>
            </a:r>
            <a:r>
              <a:rPr lang="en-US" sz="2400" spc="-5" dirty="0">
                <a:cs typeface="Arial"/>
              </a:rPr>
              <a:t>: </a:t>
            </a:r>
            <a:r>
              <a:rPr lang="en-US" sz="2400" spc="-53" dirty="0">
                <a:cs typeface="Arial"/>
              </a:rPr>
              <a:t>summing </a:t>
            </a:r>
            <a:r>
              <a:rPr lang="en-US" sz="2400" spc="5" dirty="0">
                <a:cs typeface="Arial"/>
              </a:rPr>
              <a:t>total  </a:t>
            </a:r>
            <a:r>
              <a:rPr lang="en-US" sz="2400" spc="-11" dirty="0">
                <a:cs typeface="Arial"/>
              </a:rPr>
              <a:t>impurity </a:t>
            </a:r>
            <a:r>
              <a:rPr lang="en-US" sz="2400" spc="-43" dirty="0">
                <a:cs typeface="Arial"/>
              </a:rPr>
              <a:t>reductions </a:t>
            </a:r>
            <a:r>
              <a:rPr lang="en-US" sz="2400" dirty="0">
                <a:cs typeface="Arial"/>
              </a:rPr>
              <a:t>at </a:t>
            </a:r>
            <a:r>
              <a:rPr lang="en-US" sz="2400" spc="-21" dirty="0">
                <a:cs typeface="Arial"/>
              </a:rPr>
              <a:t>all </a:t>
            </a:r>
            <a:r>
              <a:rPr lang="en-US" sz="2400" spc="-37" dirty="0">
                <a:cs typeface="Arial"/>
              </a:rPr>
              <a:t>tree </a:t>
            </a:r>
            <a:r>
              <a:rPr lang="en-US" sz="2400" spc="-75" dirty="0">
                <a:cs typeface="Arial"/>
              </a:rPr>
              <a:t>nodes </a:t>
            </a:r>
            <a:r>
              <a:rPr lang="en-US" sz="2400" spc="-69" dirty="0">
                <a:cs typeface="Arial"/>
              </a:rPr>
              <a:t>where </a:t>
            </a:r>
            <a:r>
              <a:rPr lang="en-US" sz="2400" spc="-27" dirty="0">
                <a:cs typeface="Arial"/>
              </a:rPr>
              <a:t>the </a:t>
            </a:r>
            <a:r>
              <a:rPr lang="en-US" sz="2400" spc="-48" dirty="0">
                <a:cs typeface="Arial"/>
              </a:rPr>
              <a:t>variable </a:t>
            </a:r>
            <a:r>
              <a:rPr lang="en-US" sz="2400" spc="-75" dirty="0">
                <a:cs typeface="Arial"/>
              </a:rPr>
              <a:t>appears </a:t>
            </a:r>
            <a:r>
              <a:rPr lang="en-US" sz="2400" dirty="0">
                <a:cs typeface="Arial"/>
              </a:rPr>
              <a:t>(</a:t>
            </a:r>
            <a:r>
              <a:rPr lang="en-US" sz="2400" dirty="0" err="1">
                <a:cs typeface="Arial"/>
              </a:rPr>
              <a:t>Breiman</a:t>
            </a:r>
            <a:r>
              <a:rPr lang="en-US" sz="2400" dirty="0">
                <a:cs typeface="Arial"/>
              </a:rPr>
              <a:t> </a:t>
            </a:r>
            <a:r>
              <a:rPr lang="en-US" sz="2400" spc="5" dirty="0">
                <a:cs typeface="Arial"/>
              </a:rPr>
              <a:t>et </a:t>
            </a:r>
            <a:r>
              <a:rPr lang="en-US" sz="2400" dirty="0">
                <a:cs typeface="Arial"/>
              </a:rPr>
              <a:t>al., </a:t>
            </a:r>
            <a:r>
              <a:rPr lang="en-US" sz="2400" spc="-11" dirty="0">
                <a:cs typeface="Arial"/>
              </a:rPr>
              <a:t>1984)</a:t>
            </a:r>
            <a:r>
              <a:rPr lang="en-US" sz="2400" spc="-5" dirty="0">
                <a:cs typeface="Arial"/>
              </a:rPr>
              <a:t>;</a:t>
            </a:r>
            <a:endParaRPr lang="en-US" sz="2400" dirty="0">
              <a:cs typeface="Arial"/>
            </a:endParaRPr>
          </a:p>
          <a:p>
            <a:pPr marL="125326" marR="37932" indent="0">
              <a:lnSpc>
                <a:spcPct val="150000"/>
              </a:lnSpc>
              <a:spcBef>
                <a:spcPts val="32"/>
              </a:spcBef>
              <a:buNone/>
            </a:pPr>
            <a:r>
              <a:rPr lang="en-US" sz="2400" b="1" spc="5" dirty="0">
                <a:cs typeface="Arial"/>
              </a:rPr>
              <a:t>The </a:t>
            </a:r>
            <a:r>
              <a:rPr lang="en-US" sz="2400" b="1" spc="-43" dirty="0">
                <a:cs typeface="Arial"/>
              </a:rPr>
              <a:t>mean </a:t>
            </a:r>
            <a:r>
              <a:rPr lang="en-US" sz="2400" b="1" spc="-64" dirty="0">
                <a:cs typeface="Arial"/>
              </a:rPr>
              <a:t>decrease </a:t>
            </a:r>
            <a:r>
              <a:rPr lang="en-US" sz="2400" b="1" spc="-37" dirty="0">
                <a:cs typeface="Arial"/>
              </a:rPr>
              <a:t>of </a:t>
            </a:r>
            <a:r>
              <a:rPr lang="en-US" sz="2400" b="1" spc="-59" dirty="0">
                <a:cs typeface="Arial"/>
              </a:rPr>
              <a:t>accuracy </a:t>
            </a:r>
            <a:r>
              <a:rPr lang="en-US" sz="2400" b="1" spc="75" dirty="0">
                <a:cs typeface="Arial"/>
              </a:rPr>
              <a:t>(MDA) </a:t>
            </a:r>
            <a:r>
              <a:rPr lang="en-US" sz="2400" spc="-5" dirty="0">
                <a:cs typeface="Arial"/>
              </a:rPr>
              <a:t>: </a:t>
            </a:r>
            <a:r>
              <a:rPr lang="en-US" sz="2400" spc="-59" dirty="0">
                <a:cs typeface="Arial"/>
              </a:rPr>
              <a:t>measuring  accuracy </a:t>
            </a:r>
            <a:r>
              <a:rPr lang="en-US" sz="2400" spc="-32" dirty="0">
                <a:cs typeface="Arial"/>
              </a:rPr>
              <a:t>reduction </a:t>
            </a:r>
            <a:r>
              <a:rPr lang="en-US" sz="2400" spc="-59" dirty="0">
                <a:cs typeface="Arial"/>
              </a:rPr>
              <a:t>on </a:t>
            </a:r>
            <a:r>
              <a:rPr lang="en-US" sz="2400" spc="-27" dirty="0">
                <a:cs typeface="Arial"/>
              </a:rPr>
              <a:t>out-of-bag </a:t>
            </a:r>
            <a:r>
              <a:rPr lang="en-US" sz="2400" spc="-80" dirty="0">
                <a:cs typeface="Arial"/>
              </a:rPr>
              <a:t>samples </a:t>
            </a:r>
            <a:r>
              <a:rPr lang="en-US" sz="2400" spc="-64" dirty="0">
                <a:cs typeface="Arial"/>
              </a:rPr>
              <a:t>when </a:t>
            </a:r>
            <a:r>
              <a:rPr lang="en-US" sz="2400" spc="-27" dirty="0">
                <a:cs typeface="Arial"/>
              </a:rPr>
              <a:t>the </a:t>
            </a:r>
            <a:r>
              <a:rPr lang="en-US" sz="2400" spc="-69" dirty="0">
                <a:cs typeface="Arial"/>
              </a:rPr>
              <a:t>values </a:t>
            </a:r>
            <a:r>
              <a:rPr lang="en-US" sz="2400" spc="-21" dirty="0">
                <a:cs typeface="Arial"/>
              </a:rPr>
              <a:t>of </a:t>
            </a:r>
            <a:r>
              <a:rPr lang="en-US" sz="2400" spc="-27" dirty="0">
                <a:cs typeface="Arial"/>
              </a:rPr>
              <a:t>the </a:t>
            </a:r>
            <a:r>
              <a:rPr lang="en-US" sz="2400" spc="-48" dirty="0">
                <a:cs typeface="Arial"/>
              </a:rPr>
              <a:t>variable </a:t>
            </a:r>
            <a:r>
              <a:rPr lang="en-US" sz="2400" spc="-80" dirty="0">
                <a:cs typeface="Arial"/>
              </a:rPr>
              <a:t>are </a:t>
            </a:r>
            <a:r>
              <a:rPr lang="en-US" sz="2400" spc="-43" dirty="0">
                <a:cs typeface="Arial"/>
              </a:rPr>
              <a:t>randomly permuted</a:t>
            </a:r>
            <a:r>
              <a:rPr lang="en-US" sz="2400" spc="-165" dirty="0">
                <a:cs typeface="Arial"/>
              </a:rPr>
              <a:t> </a:t>
            </a:r>
            <a:r>
              <a:rPr lang="en-US" sz="2400" dirty="0">
                <a:cs typeface="Arial"/>
              </a:rPr>
              <a:t>(</a:t>
            </a:r>
            <a:r>
              <a:rPr lang="en-US" sz="2400" dirty="0" err="1">
                <a:cs typeface="Arial"/>
              </a:rPr>
              <a:t>Breiman</a:t>
            </a:r>
            <a:r>
              <a:rPr lang="en-US" sz="2400" dirty="0">
                <a:cs typeface="Arial"/>
              </a:rPr>
              <a:t>, </a:t>
            </a:r>
            <a:r>
              <a:rPr lang="en-US" sz="2400" spc="-5" dirty="0">
                <a:cs typeface="Arial"/>
              </a:rPr>
              <a:t>2001</a:t>
            </a:r>
            <a:r>
              <a:rPr lang="en-US" sz="2400" spc="-5" dirty="0">
                <a:latin typeface="Arial"/>
                <a:cs typeface="Arial"/>
              </a:rPr>
              <a:t>).</a:t>
            </a:r>
            <a:endParaRPr lang="en-US" sz="2400" dirty="0">
              <a:latin typeface="Arial"/>
              <a:cs typeface="Arial"/>
            </a:endParaRPr>
          </a:p>
        </p:txBody>
      </p:sp>
    </p:spTree>
    <p:extLst>
      <p:ext uri="{BB962C8B-B14F-4D97-AF65-F5344CB8AC3E}">
        <p14:creationId xmlns:p14="http://schemas.microsoft.com/office/powerpoint/2010/main" val="126763289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138" y="864183"/>
            <a:ext cx="10728960" cy="1094403"/>
          </a:xfrm>
        </p:spPr>
        <p:txBody>
          <a:bodyPr/>
          <a:lstStyle/>
          <a:p>
            <a:pPr algn="ctr"/>
            <a:r>
              <a:rPr lang="en-US" dirty="0"/>
              <a:t>Variable importance</a:t>
            </a:r>
          </a:p>
        </p:txBody>
      </p:sp>
      <p:sp>
        <p:nvSpPr>
          <p:cNvPr id="4" name="Content Placeholder 3"/>
          <p:cNvSpPr>
            <a:spLocks noGrp="1"/>
          </p:cNvSpPr>
          <p:nvPr>
            <p:ph idx="1"/>
          </p:nvPr>
        </p:nvSpPr>
        <p:spPr>
          <a:xfrm>
            <a:off x="1170431" y="2819400"/>
            <a:ext cx="10974373" cy="4607031"/>
          </a:xfrm>
        </p:spPr>
        <p:txBody>
          <a:bodyPr>
            <a:noAutofit/>
          </a:bodyPr>
          <a:lstStyle/>
          <a:p>
            <a:pPr>
              <a:lnSpc>
                <a:spcPct val="120000"/>
              </a:lnSpc>
            </a:pPr>
            <a:r>
              <a:rPr lang="en-US" sz="2800" dirty="0"/>
              <a:t>A variable is most important if it leads to a large Mean Decrease of Impurity or Mean Decrease of Accuracy </a:t>
            </a:r>
            <a:r>
              <a:rPr lang="en-US" sz="2800" dirty="0">
                <a:solidFill>
                  <a:srgbClr val="FF0000"/>
                </a:solidFill>
              </a:rPr>
              <a:t>(in other words, it has a large impact on the performance).</a:t>
            </a:r>
          </a:p>
          <a:p>
            <a:endParaRPr lang="en-US" sz="2800" dirty="0"/>
          </a:p>
          <a:p>
            <a:pPr>
              <a:lnSpc>
                <a:spcPct val="120000"/>
              </a:lnSpc>
            </a:pPr>
            <a:r>
              <a:rPr lang="en-US" sz="2800" dirty="0">
                <a:solidFill>
                  <a:srgbClr val="FF0000"/>
                </a:solidFill>
              </a:rPr>
              <a:t>Feature ranking </a:t>
            </a:r>
            <a:r>
              <a:rPr lang="en-US" sz="2800" dirty="0"/>
              <a:t>can be used to gain understanding of the data and to reduce the size of a data set (for example, one can feature-rank the original data set and picked the first x out of y features, using information loss as a guidance).</a:t>
            </a:r>
          </a:p>
          <a:p>
            <a:endParaRPr lang="en-US" sz="2800" dirty="0"/>
          </a:p>
          <a:p>
            <a:pPr algn="ctr"/>
            <a:r>
              <a:rPr lang="en-US" sz="2800" dirty="0"/>
              <a:t>Cool example:</a:t>
            </a:r>
          </a:p>
          <a:p>
            <a:pPr marL="0" indent="0" algn="ctr">
              <a:buNone/>
            </a:pPr>
            <a:r>
              <a:rPr lang="en-US" sz="2800" dirty="0">
                <a:hlinkClick r:id="rId2"/>
              </a:rPr>
              <a:t>Here!</a:t>
            </a:r>
            <a:endParaRPr lang="en-US" sz="2800" dirty="0"/>
          </a:p>
        </p:txBody>
      </p:sp>
    </p:spTree>
    <p:extLst>
      <p:ext uri="{BB962C8B-B14F-4D97-AF65-F5344CB8AC3E}">
        <p14:creationId xmlns:p14="http://schemas.microsoft.com/office/powerpoint/2010/main" val="97222168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3800" y="457200"/>
            <a:ext cx="8444807" cy="1295400"/>
          </a:xfrm>
        </p:spPr>
        <p:txBody>
          <a:bodyPr anchor="ctr"/>
          <a:lstStyle/>
          <a:p>
            <a:pPr algn="ctr"/>
            <a:r>
              <a:rPr lang="en-US" dirty="0"/>
              <a:t>Too good to be true? </a:t>
            </a:r>
          </a:p>
        </p:txBody>
      </p:sp>
      <p:sp>
        <p:nvSpPr>
          <p:cNvPr id="3" name="Content Placeholder 2"/>
          <p:cNvSpPr>
            <a:spLocks noGrp="1"/>
          </p:cNvSpPr>
          <p:nvPr>
            <p:ph idx="1"/>
          </p:nvPr>
        </p:nvSpPr>
        <p:spPr>
          <a:xfrm>
            <a:off x="558800" y="2057400"/>
            <a:ext cx="11887200" cy="4604295"/>
          </a:xfrm>
        </p:spPr>
        <p:txBody>
          <a:bodyPr>
            <a:noAutofit/>
          </a:bodyPr>
          <a:lstStyle/>
          <a:p>
            <a:pPr marL="0" indent="0" algn="ctr">
              <a:buNone/>
            </a:pPr>
            <a:r>
              <a:rPr lang="en-US" sz="3200" dirty="0">
                <a:solidFill>
                  <a:srgbClr val="FF0000"/>
                </a:solidFill>
              </a:rPr>
              <a:t>Yes.</a:t>
            </a:r>
          </a:p>
          <a:p>
            <a:pPr marL="457200" indent="-457200">
              <a:lnSpc>
                <a:spcPct val="160000"/>
              </a:lnSpc>
              <a:buFont typeface="+mj-lt"/>
              <a:buAutoNum type="arabicPeriod"/>
            </a:pPr>
            <a:r>
              <a:rPr lang="en-US" sz="2400" dirty="0"/>
              <a:t>High cardinality features tend to be picked more often, because they have more “capacity”. It took me a while to understand this issue; reading </a:t>
            </a:r>
            <a:r>
              <a:rPr lang="en-US" sz="2400" dirty="0">
                <a:hlinkClick r:id="rId2"/>
              </a:rPr>
              <a:t>this</a:t>
            </a:r>
            <a:r>
              <a:rPr lang="en-US" sz="2400" dirty="0"/>
              <a:t> helped. </a:t>
            </a:r>
          </a:p>
          <a:p>
            <a:pPr marL="457200" indent="-457200">
              <a:lnSpc>
                <a:spcPct val="160000"/>
              </a:lnSpc>
              <a:buFont typeface="+mj-lt"/>
              <a:buAutoNum type="arabicPeriod"/>
            </a:pPr>
            <a:r>
              <a:rPr lang="en-US" sz="2400" dirty="0"/>
              <a:t>The feature importance is calculated using the training data. If the model overfits, we can’t trust the ranking (the model could be just picking up a lot of noise). </a:t>
            </a:r>
            <a:endParaRPr lang="en-US" sz="2400" dirty="0">
              <a:solidFill>
                <a:srgbClr val="FF0000"/>
              </a:solidFill>
            </a:endParaRPr>
          </a:p>
          <a:p>
            <a:pPr marL="457200" indent="-457200">
              <a:lnSpc>
                <a:spcPct val="120000"/>
              </a:lnSpc>
              <a:buFont typeface="+mj-lt"/>
              <a:buAutoNum type="arabicPeriod"/>
            </a:pPr>
            <a:r>
              <a:rPr lang="en-US" sz="2400" dirty="0">
                <a:solidFill>
                  <a:srgbClr val="FF0000"/>
                </a:solidFill>
              </a:rPr>
              <a:t>Highly correlated features will “split” the importance</a:t>
            </a:r>
            <a:r>
              <a:rPr lang="en-US" sz="2400" dirty="0"/>
              <a:t> (this is the bane of my existence as an Astrophysicist!)</a:t>
            </a:r>
          </a:p>
          <a:p>
            <a:pPr>
              <a:lnSpc>
                <a:spcPct val="120000"/>
              </a:lnSpc>
            </a:pPr>
            <a:r>
              <a:rPr lang="en-US" sz="2400" dirty="0"/>
              <a:t>Solution for 1: permutation-based feature importance (the decrease in a model score when a single feature value is randomly shuffled). </a:t>
            </a:r>
          </a:p>
          <a:p>
            <a:pPr>
              <a:lnSpc>
                <a:spcPct val="120000"/>
              </a:lnSpc>
            </a:pPr>
            <a:r>
              <a:rPr lang="en-US" sz="2400" dirty="0"/>
              <a:t>Solution for 2: use not the most performant model, but a robust (low-bias) model for the FI.</a:t>
            </a:r>
          </a:p>
          <a:p>
            <a:pPr>
              <a:lnSpc>
                <a:spcPct val="120000"/>
              </a:lnSpc>
            </a:pPr>
            <a:r>
              <a:rPr lang="en-US" sz="2400" dirty="0"/>
              <a:t>Solution for 3: Do clustering on highly correlated features to pick the centroid feature and then do feature importance. I am applying it right now to SED fitting problem, will report!</a:t>
            </a:r>
          </a:p>
          <a:p>
            <a:endParaRPr lang="en-US" sz="2400" dirty="0"/>
          </a:p>
        </p:txBody>
      </p:sp>
    </p:spTree>
    <p:extLst>
      <p:ext uri="{BB962C8B-B14F-4D97-AF65-F5344CB8AC3E}">
        <p14:creationId xmlns:p14="http://schemas.microsoft.com/office/powerpoint/2010/main" val="811839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E026C-113A-5D46-ABF3-972B79580799}"/>
              </a:ext>
            </a:extLst>
          </p:cNvPr>
          <p:cNvSpPr>
            <a:spLocks noGrp="1"/>
          </p:cNvSpPr>
          <p:nvPr>
            <p:ph type="title"/>
          </p:nvPr>
        </p:nvSpPr>
        <p:spPr>
          <a:xfrm>
            <a:off x="2309554" y="533400"/>
            <a:ext cx="8444807" cy="1690624"/>
          </a:xfrm>
        </p:spPr>
        <p:txBody>
          <a:bodyPr>
            <a:normAutofit fontScale="90000"/>
          </a:bodyPr>
          <a:lstStyle/>
          <a:p>
            <a:pPr>
              <a:lnSpc>
                <a:spcPct val="150000"/>
              </a:lnSpc>
            </a:pPr>
            <a:br>
              <a:rPr lang="en-US" dirty="0"/>
            </a:br>
            <a:r>
              <a:rPr lang="en-US" dirty="0"/>
              <a:t>FEATURE IMPORTANCE </a:t>
            </a:r>
            <a:br>
              <a:rPr lang="en-US" dirty="0"/>
            </a:br>
            <a:r>
              <a:rPr lang="en-US" dirty="0"/>
              <a:t>WITH OTHER ALGORITHMS? </a:t>
            </a:r>
            <a:br>
              <a:rPr lang="en-US" dirty="0"/>
            </a:br>
            <a:endParaRPr lang="en-US" dirty="0"/>
          </a:p>
        </p:txBody>
      </p:sp>
      <p:sp>
        <p:nvSpPr>
          <p:cNvPr id="3" name="Content Placeholder 2">
            <a:extLst>
              <a:ext uri="{FF2B5EF4-FFF2-40B4-BE49-F238E27FC236}">
                <a16:creationId xmlns:a16="http://schemas.microsoft.com/office/drawing/2014/main" id="{2393A389-06E7-1446-AA22-3D6E6BC7214B}"/>
              </a:ext>
            </a:extLst>
          </p:cNvPr>
          <p:cNvSpPr>
            <a:spLocks noGrp="1"/>
          </p:cNvSpPr>
          <p:nvPr>
            <p:ph idx="1"/>
          </p:nvPr>
        </p:nvSpPr>
        <p:spPr>
          <a:xfrm>
            <a:off x="1701800" y="2819400"/>
            <a:ext cx="9327804" cy="6248400"/>
          </a:xfrm>
        </p:spPr>
        <p:txBody>
          <a:bodyPr>
            <a:normAutofit/>
          </a:bodyPr>
          <a:lstStyle/>
          <a:p>
            <a:r>
              <a:rPr lang="en-US" dirty="0"/>
              <a:t>It is possible! </a:t>
            </a:r>
          </a:p>
          <a:p>
            <a:r>
              <a:rPr lang="en-US" dirty="0"/>
              <a:t>If computational power is not an issue, my favorite method is </a:t>
            </a:r>
          </a:p>
          <a:p>
            <a:r>
              <a:rPr lang="en-US" dirty="0"/>
              <a:t>Start from all features and compute cross-validated score </a:t>
            </a:r>
          </a:p>
          <a:p>
            <a:r>
              <a:rPr lang="en-US" dirty="0"/>
              <a:t>Do the same for all combinations of  N-1 features; discard feature that makes the smallest difference </a:t>
            </a:r>
          </a:p>
          <a:p>
            <a:r>
              <a:rPr lang="en-US" dirty="0"/>
              <a:t>Continue iteratively</a:t>
            </a:r>
          </a:p>
          <a:p>
            <a:pPr marL="0" indent="0">
              <a:buNone/>
            </a:pPr>
            <a:br>
              <a:rPr lang="en-US" dirty="0"/>
            </a:br>
            <a:r>
              <a:rPr lang="en-US" dirty="0"/>
              <a:t>Another option (if computational power is an issue) is to start from one feature and build up the model (considering N+1 features at each step) </a:t>
            </a:r>
          </a:p>
          <a:p>
            <a:pPr marL="0" indent="0">
              <a:buNone/>
            </a:pPr>
            <a:endParaRPr lang="en-US" dirty="0"/>
          </a:p>
          <a:p>
            <a:pPr marL="0" indent="0">
              <a:buNone/>
            </a:pPr>
            <a:r>
              <a:rPr lang="en-US" dirty="0">
                <a:hlinkClick r:id="rId2"/>
              </a:rPr>
              <a:t>SHAP values </a:t>
            </a:r>
            <a:r>
              <a:rPr lang="en-US" dirty="0"/>
              <a:t>work in a similar manner </a:t>
            </a:r>
          </a:p>
          <a:p>
            <a:endParaRPr lang="en-US" dirty="0"/>
          </a:p>
        </p:txBody>
      </p:sp>
    </p:spTree>
    <p:extLst>
      <p:ext uri="{BB962C8B-B14F-4D97-AF65-F5344CB8AC3E}">
        <p14:creationId xmlns:p14="http://schemas.microsoft.com/office/powerpoint/2010/main" val="263928147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F241D-6568-7A42-92C7-E1B24B4FD303}"/>
              </a:ext>
            </a:extLst>
          </p:cNvPr>
          <p:cNvSpPr>
            <a:spLocks noGrp="1"/>
          </p:cNvSpPr>
          <p:nvPr>
            <p:ph type="title"/>
          </p:nvPr>
        </p:nvSpPr>
        <p:spPr>
          <a:xfrm>
            <a:off x="2279996" y="685800"/>
            <a:ext cx="8444807" cy="1690624"/>
          </a:xfrm>
        </p:spPr>
        <p:txBody>
          <a:bodyPr/>
          <a:lstStyle/>
          <a:p>
            <a:r>
              <a:rPr lang="en-US" dirty="0"/>
              <a:t>ARE feature importances</a:t>
            </a:r>
            <a:br>
              <a:rPr lang="en-US" dirty="0"/>
            </a:br>
            <a:r>
              <a:rPr lang="en-US" dirty="0"/>
              <a:t>algorithm-dependent?</a:t>
            </a:r>
          </a:p>
        </p:txBody>
      </p:sp>
      <p:sp>
        <p:nvSpPr>
          <p:cNvPr id="6" name="TextBox 5">
            <a:extLst>
              <a:ext uri="{FF2B5EF4-FFF2-40B4-BE49-F238E27FC236}">
                <a16:creationId xmlns:a16="http://schemas.microsoft.com/office/drawing/2014/main" id="{AAE5E09D-6DE3-E14C-8F5B-9F78BFCFC694}"/>
              </a:ext>
            </a:extLst>
          </p:cNvPr>
          <p:cNvSpPr txBox="1"/>
          <p:nvPr/>
        </p:nvSpPr>
        <p:spPr>
          <a:xfrm>
            <a:off x="4811070" y="2667000"/>
            <a:ext cx="3382657" cy="584775"/>
          </a:xfrm>
          <a:prstGeom prst="rect">
            <a:avLst/>
          </a:prstGeom>
          <a:noFill/>
        </p:spPr>
        <p:txBody>
          <a:bodyPr wrap="none" rtlCol="0">
            <a:spAutoFit/>
          </a:bodyPr>
          <a:lstStyle/>
          <a:p>
            <a:r>
              <a:rPr lang="en-US" dirty="0">
                <a:latin typeface="+mj-lt"/>
              </a:rPr>
              <a:t>BUT OF COURSE!</a:t>
            </a:r>
          </a:p>
        </p:txBody>
      </p:sp>
      <p:pic>
        <p:nvPicPr>
          <p:cNvPr id="8" name="Picture 7" descr="A picture containing diagram, plot, line, text&#10;&#10;Description automatically generated">
            <a:extLst>
              <a:ext uri="{FF2B5EF4-FFF2-40B4-BE49-F238E27FC236}">
                <a16:creationId xmlns:a16="http://schemas.microsoft.com/office/drawing/2014/main" id="{A1BA8493-DECA-9349-891A-B350AC9D460E}"/>
              </a:ext>
            </a:extLst>
          </p:cNvPr>
          <p:cNvPicPr>
            <a:picLocks noChangeAspect="1"/>
          </p:cNvPicPr>
          <p:nvPr/>
        </p:nvPicPr>
        <p:blipFill>
          <a:blip r:embed="rId2"/>
          <a:stretch>
            <a:fillRect/>
          </a:stretch>
        </p:blipFill>
        <p:spPr>
          <a:xfrm>
            <a:off x="1625600" y="3352800"/>
            <a:ext cx="10093797" cy="3785174"/>
          </a:xfrm>
          <a:prstGeom prst="rect">
            <a:avLst/>
          </a:prstGeom>
        </p:spPr>
      </p:pic>
      <p:sp>
        <p:nvSpPr>
          <p:cNvPr id="9" name="TextBox 8">
            <a:extLst>
              <a:ext uri="{FF2B5EF4-FFF2-40B4-BE49-F238E27FC236}">
                <a16:creationId xmlns:a16="http://schemas.microsoft.com/office/drawing/2014/main" id="{CD1BBA71-43DA-4D46-ABE0-EA684F567239}"/>
              </a:ext>
            </a:extLst>
          </p:cNvPr>
          <p:cNvSpPr txBox="1"/>
          <p:nvPr/>
        </p:nvSpPr>
        <p:spPr>
          <a:xfrm>
            <a:off x="330200" y="7462897"/>
            <a:ext cx="12344400" cy="2062103"/>
          </a:xfrm>
          <a:prstGeom prst="rect">
            <a:avLst/>
          </a:prstGeom>
          <a:noFill/>
        </p:spPr>
        <p:txBody>
          <a:bodyPr wrap="square" rtlCol="0">
            <a:spAutoFit/>
          </a:bodyPr>
          <a:lstStyle/>
          <a:p>
            <a:r>
              <a:rPr lang="en-US" dirty="0">
                <a:solidFill>
                  <a:schemeClr val="tx1"/>
                </a:solidFill>
                <a:latin typeface="+mj-lt"/>
              </a:rPr>
              <a:t>This example shows the feature importance derived for the photometric redshift problem for three ensemble methods.</a:t>
            </a:r>
          </a:p>
          <a:p>
            <a:r>
              <a:rPr lang="en-US" dirty="0">
                <a:solidFill>
                  <a:srgbClr val="FF0000"/>
                </a:solidFill>
                <a:latin typeface="+mj-lt"/>
              </a:rPr>
              <a:t>Take-home point</a:t>
            </a:r>
            <a:r>
              <a:rPr lang="en-US" dirty="0">
                <a:solidFill>
                  <a:schemeClr val="tx1"/>
                </a:solidFill>
                <a:latin typeface="+mj-lt"/>
              </a:rPr>
              <a:t>: you can use these methods to </a:t>
            </a:r>
            <a:r>
              <a:rPr lang="en-US" dirty="0">
                <a:solidFill>
                  <a:srgbClr val="FF0000"/>
                </a:solidFill>
                <a:latin typeface="+mj-lt"/>
              </a:rPr>
              <a:t>discard unimportant </a:t>
            </a:r>
            <a:r>
              <a:rPr lang="en-US" dirty="0">
                <a:solidFill>
                  <a:schemeClr val="tx1"/>
                </a:solidFill>
                <a:latin typeface="+mj-lt"/>
              </a:rPr>
              <a:t>features quite safely, but take the </a:t>
            </a:r>
            <a:r>
              <a:rPr lang="en-US" dirty="0">
                <a:solidFill>
                  <a:srgbClr val="FF0000"/>
                </a:solidFill>
                <a:latin typeface="+mj-lt"/>
              </a:rPr>
              <a:t>ranking </a:t>
            </a:r>
            <a:r>
              <a:rPr lang="en-US" dirty="0">
                <a:solidFill>
                  <a:schemeClr val="tx1"/>
                </a:solidFill>
                <a:latin typeface="+mj-lt"/>
              </a:rPr>
              <a:t>with a </a:t>
            </a:r>
            <a:r>
              <a:rPr lang="en-US" dirty="0">
                <a:solidFill>
                  <a:srgbClr val="FF0000"/>
                </a:solidFill>
                <a:latin typeface="+mj-lt"/>
              </a:rPr>
              <a:t>huge grain of salt</a:t>
            </a:r>
            <a:r>
              <a:rPr lang="en-US" dirty="0">
                <a:solidFill>
                  <a:schemeClr val="tx1"/>
                </a:solidFill>
                <a:latin typeface="+mj-lt"/>
              </a:rPr>
              <a:t>.</a:t>
            </a:r>
          </a:p>
        </p:txBody>
      </p:sp>
    </p:spTree>
    <p:extLst>
      <p:ext uri="{BB962C8B-B14F-4D97-AF65-F5344CB8AC3E}">
        <p14:creationId xmlns:p14="http://schemas.microsoft.com/office/powerpoint/2010/main" val="14072617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0481" y="914400"/>
            <a:ext cx="10728960" cy="1229579"/>
          </a:xfrm>
        </p:spPr>
        <p:txBody>
          <a:bodyPr/>
          <a:lstStyle/>
          <a:p>
            <a:pPr algn="ctr"/>
            <a:r>
              <a:rPr lang="en-US" dirty="0"/>
              <a:t>References / Further Reading</a:t>
            </a:r>
          </a:p>
        </p:txBody>
      </p:sp>
      <p:sp>
        <p:nvSpPr>
          <p:cNvPr id="3" name="Content Placeholder 2"/>
          <p:cNvSpPr>
            <a:spLocks noGrp="1"/>
          </p:cNvSpPr>
          <p:nvPr>
            <p:ph idx="1"/>
          </p:nvPr>
        </p:nvSpPr>
        <p:spPr>
          <a:xfrm>
            <a:off x="1046588" y="2590800"/>
            <a:ext cx="11236745" cy="6781800"/>
          </a:xfrm>
        </p:spPr>
        <p:txBody>
          <a:bodyPr>
            <a:normAutofit fontScale="77500" lnSpcReduction="20000"/>
          </a:bodyPr>
          <a:lstStyle/>
          <a:p>
            <a:r>
              <a:rPr lang="en-US" sz="3200" dirty="0"/>
              <a:t>On Random Forests:</a:t>
            </a:r>
          </a:p>
          <a:p>
            <a:r>
              <a:rPr lang="en-US" sz="3200" dirty="0"/>
              <a:t>Gilles </a:t>
            </a:r>
            <a:r>
              <a:rPr lang="en-US" sz="3200" dirty="0" err="1"/>
              <a:t>Louppes</a:t>
            </a:r>
            <a:r>
              <a:rPr lang="en-US" sz="3200" dirty="0"/>
              <a:t> Ph. D. thesis (Random Forests: from Theory to Practice)</a:t>
            </a:r>
          </a:p>
          <a:p>
            <a:pPr marL="0" indent="0">
              <a:buNone/>
            </a:pPr>
            <a:r>
              <a:rPr lang="en-US" sz="3200" dirty="0"/>
              <a:t>	</a:t>
            </a:r>
            <a:r>
              <a:rPr lang="en-US" sz="3200" dirty="0" err="1"/>
              <a:t>arXiv</a:t>
            </a:r>
            <a:r>
              <a:rPr lang="en-US" sz="3200" dirty="0"/>
              <a:t> preprint arXiv:1407.7502</a:t>
            </a:r>
          </a:p>
          <a:p>
            <a:r>
              <a:rPr lang="en-US" sz="3200" dirty="0"/>
              <a:t>Jake </a:t>
            </a:r>
            <a:r>
              <a:rPr lang="en-US" sz="3200" dirty="0" err="1"/>
              <a:t>VanDerPlas</a:t>
            </a:r>
            <a:r>
              <a:rPr lang="en-US" sz="3200" dirty="0"/>
              <a:t>, the Python Data Science Handbook, “In depth: Random Forests” </a:t>
            </a:r>
          </a:p>
          <a:p>
            <a:endParaRPr lang="en-US" sz="3413" dirty="0"/>
          </a:p>
          <a:p>
            <a:r>
              <a:rPr lang="en-US" sz="3413" dirty="0"/>
              <a:t>On Boosted Trees:</a:t>
            </a:r>
          </a:p>
          <a:p>
            <a:r>
              <a:rPr lang="en-US" sz="3413" dirty="0">
                <a:hlinkClick r:id="rId3"/>
              </a:rPr>
              <a:t>https://www.youtube.com/watch?v=sRktKszFmSk</a:t>
            </a:r>
            <a:endParaRPr lang="en-US" sz="3413" dirty="0"/>
          </a:p>
          <a:p>
            <a:r>
              <a:rPr lang="en-US" sz="3413" dirty="0"/>
              <a:t>https://</a:t>
            </a:r>
            <a:r>
              <a:rPr lang="en-US" sz="3413" dirty="0" err="1"/>
              <a:t>www.gormanalysis.com</a:t>
            </a:r>
            <a:r>
              <a:rPr lang="en-US" sz="3413" dirty="0"/>
              <a:t>/blog/gradient-boosting-explained/</a:t>
            </a:r>
          </a:p>
          <a:p>
            <a:r>
              <a:rPr lang="en-US" sz="3413" dirty="0">
                <a:hlinkClick r:id="rId4"/>
              </a:rPr>
              <a:t>https://medium.com/mlreview/gradient-boosting-from-scratch-1e317ae4587d</a:t>
            </a:r>
            <a:endParaRPr lang="en-US" sz="3413" dirty="0"/>
          </a:p>
          <a:p>
            <a:r>
              <a:rPr lang="en-US" sz="3413" dirty="0"/>
              <a:t>or (</a:t>
            </a:r>
            <a:r>
              <a:rPr lang="en-US" sz="3413" dirty="0">
                <a:hlinkClick r:id="rId5"/>
              </a:rPr>
              <a:t>https://nbviewer.jupyter.org/github/groverpr/Machine-Learning/blob/master/notebooks/01_Gradient_Boosting_Scratch.ipynb)</a:t>
            </a:r>
            <a:r>
              <a:rPr lang="en-US" sz="3413" dirty="0"/>
              <a:t> not sure of original source</a:t>
            </a:r>
            <a:r>
              <a:rPr lang="mr-IN" sz="3413" dirty="0"/>
              <a:t>…</a:t>
            </a:r>
            <a:endParaRPr lang="en-US" sz="3413" dirty="0"/>
          </a:p>
          <a:p>
            <a:endParaRPr lang="en-US" sz="3413" dirty="0"/>
          </a:p>
          <a:p>
            <a:r>
              <a:rPr lang="en-US" sz="3413" dirty="0"/>
              <a:t>On Interpretability tools: I made a </a:t>
            </a:r>
            <a:r>
              <a:rPr lang="en-US" sz="3413" dirty="0">
                <a:hlinkClick r:id="rId6"/>
              </a:rPr>
              <a:t>short document </a:t>
            </a:r>
            <a:r>
              <a:rPr lang="en-US" sz="3413" dirty="0"/>
              <a:t> that may be a useful starting point.</a:t>
            </a:r>
          </a:p>
          <a:p>
            <a:endParaRPr lang="en-US" sz="3413" dirty="0"/>
          </a:p>
          <a:p>
            <a:endParaRPr lang="en-US" sz="3413" dirty="0"/>
          </a:p>
          <a:p>
            <a:endParaRPr lang="en-US" sz="3200" dirty="0"/>
          </a:p>
        </p:txBody>
      </p:sp>
    </p:spTree>
    <p:extLst>
      <p:ext uri="{BB962C8B-B14F-4D97-AF65-F5344CB8AC3E}">
        <p14:creationId xmlns:p14="http://schemas.microsoft.com/office/powerpoint/2010/main" val="1800651048"/>
      </p:ext>
    </p:extLst>
  </p:cSld>
  <p:clrMapOvr>
    <a:masterClrMapping/>
  </p:clrMapOvr>
  <p:transition/>
</p:sld>
</file>

<file path=ppt/theme/theme1.xml><?xml version="1.0" encoding="utf-8"?>
<a:theme xmlns:a="http://schemas.openxmlformats.org/drawingml/2006/main" name="Parcel">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71C241A9-A460-4AD1-916F-25308628A5BC}"/>
    </a:ext>
  </a:extLst>
</a:theme>
</file>

<file path=ppt/theme/theme2.xml><?xml version="1.0" encoding="utf-8"?>
<a:theme xmlns:a="http://schemas.openxmlformats.org/drawingml/2006/main" name="1_Parcel">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71C241A9-A460-4AD1-916F-25308628A5B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90154</TotalTime>
  <Pages>0</Pages>
  <Words>3336</Words>
  <Characters>0</Characters>
  <Application>Microsoft Macintosh PowerPoint</Application>
  <PresentationFormat>Custom</PresentationFormat>
  <Lines>0</Lines>
  <Paragraphs>276</Paragraphs>
  <Slides>38</Slides>
  <Notes>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38</vt:i4>
      </vt:variant>
    </vt:vector>
  </HeadingPairs>
  <TitlesOfParts>
    <vt:vector size="49" baseType="lpstr">
      <vt:lpstr>Arial</vt:lpstr>
      <vt:lpstr>Calibri</vt:lpstr>
      <vt:lpstr>Cambria Math</vt:lpstr>
      <vt:lpstr>Corbel</vt:lpstr>
      <vt:lpstr>Gill Sans MT</vt:lpstr>
      <vt:lpstr>Gill Sans MT Bold</vt:lpstr>
      <vt:lpstr>Helvetica Neue Bold Condensed</vt:lpstr>
      <vt:lpstr>Times New Roman</vt:lpstr>
      <vt:lpstr>Verdana</vt:lpstr>
      <vt:lpstr>Parcel</vt:lpstr>
      <vt:lpstr>1_Parcel</vt:lpstr>
      <vt:lpstr>Machine learning  for physics and astronomy chapter 6</vt:lpstr>
      <vt:lpstr>PowerPoint Presentation</vt:lpstr>
      <vt:lpstr>ENSEMBLING</vt:lpstr>
      <vt:lpstr>BAgging vs boosting </vt:lpstr>
      <vt:lpstr>BAgging vs boosting </vt:lpstr>
      <vt:lpstr>DECISION TREES RECAP</vt:lpstr>
      <vt:lpstr>example</vt:lpstr>
      <vt:lpstr>PowerPoint Presentation</vt:lpstr>
      <vt:lpstr> THEOREM: WE CAN further decompose the VARIANCE AS follows. </vt:lpstr>
      <vt:lpstr>notes on bias and variance for a set of randomized trees (FOREST)</vt:lpstr>
      <vt:lpstr>how do we build randomized trees?</vt:lpstr>
      <vt:lpstr>HOW TO COMBINE TREES?</vt:lpstr>
      <vt:lpstr>PowerPoint Presentation</vt:lpstr>
      <vt:lpstr>IT IS MUCH MORE CHALLENGING  TO DO THE SAME THING THROUGH A DILUTED MAP (PHOTOMETRY)</vt:lpstr>
      <vt:lpstr>Ensembling FTW:  BOOSTING METHODS </vt:lpstr>
      <vt:lpstr>Boosted ensemble methods (Gradient Boosted Trees, AdaBoost, XGB, LIGHTGBM…)</vt:lpstr>
      <vt:lpstr>My personal observations re: Boosting</vt:lpstr>
      <vt:lpstr>AdaBoost (Adaptive Boosting) pseudo-code</vt:lpstr>
      <vt:lpstr>Toy model with AdaBoost</vt:lpstr>
      <vt:lpstr>Toy model with AdaBoost</vt:lpstr>
      <vt:lpstr>Gradient Boosted Trees</vt:lpstr>
      <vt:lpstr>Gradient Boosted Trees</vt:lpstr>
      <vt:lpstr>PowerPoint Presentation</vt:lpstr>
      <vt:lpstr>Gradient Boosted Trees</vt:lpstr>
      <vt:lpstr>Let’s put the “Gradient” in GBM</vt:lpstr>
      <vt:lpstr>Let’s put the “Gradient” in GBM</vt:lpstr>
      <vt:lpstr>GBT pseudo code</vt:lpstr>
      <vt:lpstr>Questions:  - do you think that GBT will work even with weak base learners?  - do you think that they are more likely to overfit or underfit?</vt:lpstr>
      <vt:lpstr>GBT on toy model</vt:lpstr>
      <vt:lpstr>Issues with GBT:  very easy to overfit → regularization is needed!</vt:lpstr>
      <vt:lpstr>Pros and Cons Summary</vt:lpstr>
      <vt:lpstr>What can you use Bagging/Boosting methods for?</vt:lpstr>
      <vt:lpstr>Variable importance</vt:lpstr>
      <vt:lpstr>Variable importance</vt:lpstr>
      <vt:lpstr>Too good to be true? </vt:lpstr>
      <vt:lpstr> FEATURE IMPORTANCE  WITH OTHER ALGORITHMS?  </vt:lpstr>
      <vt:lpstr>ARE feature importances algorithm-dependent?</vt:lpstr>
      <vt:lpstr>References / 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in Computational Astrophysics: Faraway Galaxies and Dark Energy </dc:title>
  <dc:subject/>
  <dc:creator/>
  <cp:keywords/>
  <dc:description/>
  <cp:lastModifiedBy>Viviana Acquaviva</cp:lastModifiedBy>
  <cp:revision>406</cp:revision>
  <cp:lastPrinted>2023-05-24T12:36:02Z</cp:lastPrinted>
  <dcterms:modified xsi:type="dcterms:W3CDTF">2023-05-30T16:33:43Z</dcterms:modified>
</cp:coreProperties>
</file>